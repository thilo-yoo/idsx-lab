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CHEMICAL ENGINEERING LENS  ·  CHAPERONE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반응공학 · 촉매공학이
샤페론 설계에 적용되는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4F0EB"/>
                </a:solidFill>
                <a:latin typeface="Apple SD Gothic Neo"/>
                <a:ea typeface="Apple SD Gothic Neo"/>
                <a:cs typeface="Apple SD Gothic Neo"/>
              </a:rPr>
              <a:t>IDS / Hunter · 약리 샤페론·안정화 바인더를
반응기·촉매 시스템으로 재정식화
기존 IDSX (S1–S8 · STEP3/7 · PFI · HAZOP)와 융합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학부 화학공학 · 치료 claim 없음 · 설계 언어 문서  · 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 · 한 줄 테제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화학공학도가 샤페론을 설계한다는 것의 의미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11338560" cy="219456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샤페론은 ‘예쁜 결합 분자’가 아니라,
세포 내 직렬 반응기 네트워크에서
수율(X)·선택도(S)·촉매 수명(a)·운전창을 동시에 맞추는 공정 첨가제다.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반응공학: 경로 네트워크, Damköhler, 선택도, 체류시간, 직렬/병렬 반응, 억제 동역학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촉매공학: 활성점·저해제·turnover·피독/비활성화·지지체(표면 패치)·이중기능 촉매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IDSX 연결: amenability = 어느 반응·촉매 고장을 고칠 가치가 있는가의 triage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 · 이중 정체성: 효소는 생성물이자 촉매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샤페론 설계가 일반적인 소분자와 다른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반응공학 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목표 생성물 = 기능 IDS 분자 수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(리소좀 inventory)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원료 = 번역 폴리펩티드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부반응 = ERAD, 응집, 미스폴드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수율 X = η_fold · η_QC · η_traf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샤페론 = 선택적 촉진제/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평형 이동 첨가제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(전환율·선택도 개선)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촉매공학 관점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목표 촉매 = 같은 IDS의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활성점 (FGly/Ca 기하)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기질 = GAG (HS/DS)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활성 a = 접힌 분율 × 비억제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TOF ~ k_cat · [E]_free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inhibitory PC = 가역 저해제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알로스테릭 바인더 = 지지체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안정화 / 피독 완화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 · 반응 네트워크로 다시 그리기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직렬 + 병렬 = 선택도 문제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직렬:   번역 → U ──► N ──► 수출 ──► 리소좀 E ──► 생성물(분해 GAG)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병렬:   U ──► ERAD / 응집 / 트랩     (비생산 경로)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      N + C ──► NC                 (안정 저장 형태, ER)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      E + C ──► EC                 (억제 형태 — 리소좀에서 풀려야 함)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반응공학 목표 함수: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max  Y_E,active  =  (N으로 가는 선택도) × (수출 수율) × (리소좀 비억제 분율)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실패 모드 번역: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• 선택도 실패 = 비선호 결합, 잘못된 에피토프 (Arg88 포켓 막음)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• 전환율 실패 = ΔΔG 과대, 접힘 k 너무 작음 (Da ≪ 1)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• 과전환/과억제 = PC 과량 → EC 지배 → TOF 붕괴 (S7)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 · 선택도 (Selectivity) — 반응공학 핵심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STEP3 시뮬과 동일 구조: 선호 vs 비선호 결합</a:t>
            </a:r>
          </a:p>
        </p:txBody>
      </p:sp>
      <p:pic>
        <p:nvPicPr>
          <p:cNvPr id="6" name="Picture 5" descr="fig1_selectivity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132320" cy="44577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143000"/>
            <a:ext cx="4206240" cy="502920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설계 함의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74519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 = r_desired / r_total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샤페론 설계 =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Kd_N / Kd_U 비 극대화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(또는 표면 패치 선택성)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비선택 결합 =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병렬 부반응 가속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→ 수율 정체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IDSX: hotspot ≠ epitope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은 선택도 규칙이다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 · Damköhler 수 — ER을 반응기로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체류시간 τ × 접힘 속도 k</a:t>
            </a:r>
          </a:p>
        </p:txBody>
      </p:sp>
      <p:pic>
        <p:nvPicPr>
          <p:cNvPr id="6" name="Picture 5" descr="fig3_Damkohler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132320" cy="44577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143000"/>
            <a:ext cx="420624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Da = k_fold · τ_ER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74519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Da ≪ 1: 반응 제한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불안정 변이,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  접힘 안 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Da ≫ 1: 수송/시간 여유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WT-like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PC 역할: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k_fold 유효값 상승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또는 비생산 k 감소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Da 증가 → X 상승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설계 변수: τ는 세포가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정함. 우리는 k를 건드림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 · 촉매공학: 활성점 · 가역 억제 · 치료 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inhibitory PC = 조건부 피독</a:t>
            </a:r>
          </a:p>
        </p:txBody>
      </p:sp>
      <p:pic>
        <p:nvPicPr>
          <p:cNvPr id="6" name="Picture 5" descr="fig2_MM_inhibition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132320" cy="44577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143000"/>
            <a:ext cx="4206240" cy="502920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MM + 경쟁억제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74519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v = Vmax S /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(Km(1+I/Ki)+S)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ER: Ki 작음 → 점유↑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(접힘 보호)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Lys: Ki 큼 → 해리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(TOF 회복)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Ki(pH) = 촉매 공학의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온도/분압 창과 동형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 STEP7 시뮬과 동일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언어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 · 활성점 vs 지지체 — 촉매 설계 유추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inhibitory PC vs 알로스테릭/표면 바인더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활성점 지향 (Active-site PC)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촉매공학: 활성점 흡착질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장점: 결합 모드 명확,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접힘 핵 안정화 사례 많음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위험: 과억제 = 피독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(TOF 0)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IDSX: CAUTION_POCKET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(Arg88 등) 바인더 금지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설계 스펙: Ki(ER)/Ki(Lys)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비, washout, 기질 경쟁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지지체·알로스테릭 (Surface)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촉매공학: 담지체 안정화,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금속–지지체 상호작용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장점: 활성점 비점유 가능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→ 선택도·TOF 보존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위험: 원격 전달 약함,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에피토프 품질 의존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IDSX: Ser152 패치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(변이자리 ≠ 결합자리)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설계 스펙: 인터페이스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비간섭 6.5Å, ΔTm 방향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 · 촉매 수명 · 비활성화 동역학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수송 중 피독 = ERAD·프로테아제</a:t>
            </a:r>
          </a:p>
        </p:txBody>
      </p:sp>
      <p:pic>
        <p:nvPicPr>
          <p:cNvPr id="6" name="Picture 5" descr="fig4_de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132320" cy="44577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143000"/>
            <a:ext cx="4206240" cy="5029200"/>
          </a:xfrm>
          <a:prstGeom prst="roundRect">
            <a:avLst>
              <a:gd name="adj" fmla="val 6000"/>
            </a:avLst>
          </a:prstGeom>
          <a:solidFill>
            <a:srgbClr val="ED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4C9A"/>
                </a:solidFill>
                <a:latin typeface="Apple SD Gothic Neo"/>
                <a:ea typeface="Apple SD Gothic Neo"/>
                <a:cs typeface="Apple SD Gothic Neo"/>
              </a:rPr>
              <a:t>a = e^{−k_d t}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74519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산업 촉매: 코크·소결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세포 촉매(효소):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ERAD, 응집, 절단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PC/바인더: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k_d 감소 (수명 연장)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= S6 배달 수율↑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측정: 성숙 밴드,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반감기, 프로테아제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저항 (대리)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 · 운전창: 전환율 × 선택도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과소·최적·과량 세 점</a:t>
            </a:r>
          </a:p>
        </p:txBody>
      </p:sp>
      <p:pic>
        <p:nvPicPr>
          <p:cNvPr id="6" name="Picture 5" descr="fig5_operating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1323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143000"/>
            <a:ext cx="4206240" cy="502920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8E5A"/>
                </a:solidFill>
                <a:latin typeface="Apple SD Gothic Neo"/>
                <a:ea typeface="Apple SD Gothic Neo"/>
                <a:cs typeface="Apple SD Gothic Neo"/>
              </a:rPr>
              <a:t>제어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74519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X↑ only → 부족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S↑ only → 접힘 실패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동시 만족 영역 =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therapeutic window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조작 변수: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[PC], Kd비, pH-Ki,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에피토프 선택성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 사전등록: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성공= competence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= X·S 곱의 실험 대응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 · 설계 방정식 치트시트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샤페론 스펙을 화공 기호로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164592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124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기호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051560"/>
            <a:ext cx="292608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9112" y="11247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051560"/>
            <a:ext cx="320040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1247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샤페론 대응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051560"/>
            <a:ext cx="347472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1247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측정/프록시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435608"/>
            <a:ext cx="164592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5453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수율 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1435608"/>
            <a:ext cx="292608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39112" y="154533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 또는 E_lys / 번역 총량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1435608"/>
            <a:ext cx="320040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15453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η_fold·η_QC·η_traf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435608"/>
            <a:ext cx="347472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15453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AF/ΔΔG·잔존·트래픽 문헌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21408"/>
            <a:ext cx="1645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2311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선택도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2121408"/>
            <a:ext cx="2926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39112" y="223113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원하는 경로 속도 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2121408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22311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Kd_N/Kd_U, 패치 특이성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2121408"/>
            <a:ext cx="3474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22311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도킹+실험 교차, Arg88 배제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07208"/>
            <a:ext cx="164592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9169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2807208"/>
            <a:ext cx="292608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39112" y="291693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k·τ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2807208"/>
            <a:ext cx="320040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65192" y="29169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접힘 k vs ER 체류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2807208"/>
            <a:ext cx="347472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29169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변이별 k 프록시 ΔΔG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493008"/>
            <a:ext cx="1645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36027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Ki 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65960" y="3493008"/>
            <a:ext cx="2926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39112" y="360273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억제 상수 환경 의존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92040" y="3493008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65192" y="36027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Ki(ER)≪Ki(Lys)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2440" y="3493008"/>
            <a:ext cx="3474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5592" y="36027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pH-DSF, washout 활성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178808"/>
            <a:ext cx="164592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" y="42885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TOF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65960" y="4178808"/>
            <a:ext cx="292608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39112" y="428853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k_cat·θ_free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92040" y="4178808"/>
            <a:ext cx="320040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65192" y="42885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유리 효소 분율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92440" y="4178808"/>
            <a:ext cx="347472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65592" y="42885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4MU assay ± PC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864608"/>
            <a:ext cx="1645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" y="49743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수명 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65960" y="4864608"/>
            <a:ext cx="2926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39112" y="497433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e^{−k_d t}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92040" y="4864608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65192" y="49743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수송 안정성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92440" y="4864608"/>
            <a:ext cx="34747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65592" y="49743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반감기·성숙 밴드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5550408"/>
            <a:ext cx="164592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3192" y="56601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목적함수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65960" y="5550408"/>
            <a:ext cx="292608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39112" y="566013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max Y·S·a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92040" y="5550408"/>
            <a:ext cx="320040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65192" y="56601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competence KPI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2440" y="5550408"/>
            <a:ext cx="3474720" cy="64008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65592" y="56601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사전등록 성공 기준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 · 기존 IDSX 자료와 융합 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새로 만들지 말고 언어를 정렬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S1–S8 시뮬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직렬 반응 네트워크
각 단 X_i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STEP3 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574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선택도·평형 이동
Y_N([PC])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STEP7 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Ki(pH) 창
TOF 회복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Amenability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0574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고장 모드 triage
어느 k·η를 고칠지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77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에피토프 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3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지지체 설계
활성점 비간섭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977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HAZOP/PFI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66343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일탈·우선순위
공정 리스크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77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사전등록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3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목적함수·중단
스펙 고정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3977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비-PC 모달리티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66343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다른 반응기 해법
GT=원료공정 교체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 · 화학공학도 샤페론 설계 워크플로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촉매/반응 프로젝트와 동일한 게이트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640080" cy="2377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문제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목적함수
Y·S·a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43000"/>
            <a:ext cx="640080" cy="2377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네트워크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2402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직렬/병렬
경로 지도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43000"/>
            <a:ext cx="640080" cy="2377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고장 진단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2402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어느 k,η?
amenability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143000"/>
            <a:ext cx="640080" cy="2377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모달리티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2402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활성점 vs
지지체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49039"/>
            <a:ext cx="640080" cy="237744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63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1147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스펙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846319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Kd비, Ki창
6.5Å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749039"/>
            <a:ext cx="640080" cy="237744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663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1147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파일럿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846319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ΔTm, assay
washout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749039"/>
            <a:ext cx="640080" cy="237744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3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1147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창 검증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846319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용량–반응
과억제 확인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3749039"/>
            <a:ext cx="640080" cy="237744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600" y="4663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41147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스케일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4846319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세포→조직
전달 게이트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 · 결론 · 면접·자문용 세 문장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화학공학 전공 시그니처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11338560" cy="292608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1. 샤페론 설계는 결합 미학이 아니라 수율·선택도·촉매수명·운전창의 다목적 최적화다.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2. 억제형 PC는 가역 피독 촉매 첨가제이고, 표면 바인더는 활성점을 비운 채 담지를 안정화하는 지지체 공학이다.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3. IDSX triage는 ‘어느 반응·촉매 고장을 고칠 가치가 있는가’를 구조로 가르는 공정 진단층이다.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891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Non-claim: 본 프레임은 설계 언어이며 치료 효능 증명이 아니다.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융합: 기존 04 화공 프레임 · STEP3/7 · S1–S8 · 사전등록 11 · 에피토프 08 과 동일 기호로 정렬 완료.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ChemE × Chaperone Design  ·  Reaction Eng + Catalysis Eng  ·  IDSX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