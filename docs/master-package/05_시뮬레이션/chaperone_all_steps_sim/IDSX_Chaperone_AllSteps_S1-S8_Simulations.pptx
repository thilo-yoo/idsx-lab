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 ·  FULL CASCADE SIMULATION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샤페론 전 단계 S1–S8
각 단계 구체 시뮬레이션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383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4F0EB"/>
                </a:solidFill>
                <a:latin typeface="Apple SD Gothic Neo"/>
                <a:ea typeface="Apple SD Gothic Neo"/>
                <a:cs typeface="Apple SD Gothic Neo"/>
              </a:rPr>
              <a:t>합성 → 핵형성 → Native 안정화 → ERAD/수출 → M6P → 배달 → pH 창 촉매 → GAG 제거
단계마다 모델·PC 역할·수치 지표·실패 모드를 분리 제시
치료 claim 없음 · 의사결정·교육·우선순위용 공정 시뮬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623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Companion decks: STEP3 · STEP7  ·  This deck: ALL steps + coupling
2026-07 · IDSX Master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 · 왜 전 단계를 각각 시뮬하는가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한 스텝 성공 ≠ 치료 성공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1. 샤페론 경로는 직렬 공정이다. 한 단의 효율 η_i 가 0이면 전체 처리량 Θ ≈ 0.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2. 스텝마다 PC의 역할이 다르다 (S1: 무관 · S3: 평형 · S7: pH 창 · S5: 간접만).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3. 같은 ‘결합’이라도 S3 성공 + S7 실패(과억제)면 종점 GAG는 오히려 악화될 수 있다.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4. IDSX Hard EXCLUDE / CAUTION 규칙은 이 다단 맵의 어느 밸브가 막혔는지와 대응한다.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5. 본 스위트는 각 단에 재현 가능한 최소 물리·동역학 모델을 붙여 ‘적용됨’을 수치로 시사한다.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Non-claim: 세포 실험·임상 효능·특정 IDS 약물 구조 확정이 아니다.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 · 캐스케이드 한눈 지도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S1–S8 각각 전용 모델</a:t>
            </a:r>
          </a:p>
        </p:txBody>
      </p:sp>
      <p:pic>
        <p:nvPicPr>
          <p:cNvPr id="6" name="Picture 5" descr="fig00_cascad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521440" cy="381598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 · 전 단계 proof metric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각 패널 = 해당 스텝 시뮬의 핵심 숫자</a:t>
            </a:r>
          </a:p>
        </p:txBody>
      </p:sp>
      <p:pic>
        <p:nvPicPr>
          <p:cNvPr id="6" name="Picture 5" descr="fig01_metr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05840"/>
            <a:ext cx="11612880" cy="53916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 · S1 합성 공급  &amp;  S2 접힘 핵형성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좌·우 각 스텝 시뮬 결과</a:t>
            </a:r>
          </a:p>
        </p:txBody>
      </p:sp>
      <p:pic>
        <p:nvPicPr>
          <p:cNvPr id="6" name="Picture 5" descr="figS1_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760720" cy="3456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모델: dP/dt = r − kP
PC 역할: 없음
→ null NMD 천장 ~15% → EXCLUDE</a:t>
            </a:r>
          </a:p>
        </p:txBody>
      </p:sp>
      <p:pic>
        <p:nvPicPr>
          <p:cNvPr id="8" name="Picture 7" descr="figS2_nucle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760720" cy="3456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모델: 생산적 vs 트랩 TST 속도
PC: 장벽 ΔG‡ 감소
→ f_prod 0.08→0.92 (−3 kcal)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 · S3 Native 안정화  &amp;  S4 ERAD/수출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좌·우 각 스텝 시뮬 결과</a:t>
            </a:r>
          </a:p>
        </p:txBody>
      </p:sp>
      <p:pic>
        <p:nvPicPr>
          <p:cNvPr id="6" name="Picture 5" descr="figS3_fol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760720" cy="3456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모델: U⇌N + 선호 결합
PC: Kd_N≪Kd_U
→ folded 0.58→0.92 (1.59×)</a:t>
            </a:r>
          </a:p>
        </p:txBody>
      </p:sp>
      <p:pic>
        <p:nvPicPr>
          <p:cNvPr id="8" name="Picture 7" descr="figS4_ex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760720" cy="3456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모델: η = k_exp/(k_exp+k_ERAD)
PC: f_fold↑ ± ERAD 차폐
→ η 0.33→0.78 (shield)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 · S5 M6P 표지  &amp;  S6 리소좀 배달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좌·우 각 스텝 시뮬 결과</a:t>
            </a:r>
          </a:p>
        </p:txBody>
      </p:sp>
      <p:pic>
        <p:nvPicPr>
          <p:cNvPr id="6" name="Picture 5" descr="figS5_M6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760720" cy="3456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모델: η = ηmax f/(K+f)
PC: 간접(화물 품질)
→ glyco-dead 고정 0.05</a:t>
            </a:r>
          </a:p>
        </p:txBody>
      </p:sp>
      <p:pic>
        <p:nvPicPr>
          <p:cNvPr id="8" name="Picture 7" descr="figS6_delive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760720" cy="3456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모델: G→E→L ODE + leak
PC: k_leak 감소
→ 도착 0.44→0.73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6 · S7 pH 창 촉매  &amp;  S8 GAG 제거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좌·우 각 스텝 시뮬 결과</a:t>
            </a:r>
          </a:p>
        </p:txBody>
      </p:sp>
      <p:pic>
        <p:nvPicPr>
          <p:cNvPr id="6" name="Picture 5" descr="figS7_pH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1560"/>
            <a:ext cx="5760720" cy="34564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모델: Kd(pH)+MM
PC: 중성 점유/산성 해리
→ occ 0.89 &amp; v 0.94 vs tight 0.01</a:t>
            </a:r>
          </a:p>
        </p:txBody>
      </p:sp>
      <p:pic>
        <p:nvPicPr>
          <p:cNvPr id="8" name="Picture 7" descr="figS8_G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51560"/>
            <a:ext cx="5760720" cy="33932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모델: 기질 반응기 수지
PC: 상류 결과의 종점
→ GAG 38→33 (S3+S7)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7 · 스텝 카드 요약표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모델 · PC 역할 · 핵심 수치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09728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097280"/>
            <a:ext cx="320040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6192" y="1170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모델 한 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320040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1704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PC 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347472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11704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핵심 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81328"/>
            <a:ext cx="109728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591056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1481328"/>
            <a:ext cx="320040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6192" y="159105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합성 수지 r/k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481328"/>
            <a:ext cx="320040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159105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없음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481328"/>
            <a:ext cx="347472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591056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null 천장 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075688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185416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2075688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36192" y="218541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핵형성 분배 TST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2075688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218541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장벽 감소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0" y="2075688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36992" y="2185416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f 0.08→0.92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670048"/>
            <a:ext cx="109728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779776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2670048"/>
            <a:ext cx="320040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36192" y="277977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U⇌N 선호 결합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63440" y="2670048"/>
            <a:ext cx="320040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277977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 선택 안정화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0" y="2670048"/>
            <a:ext cx="347472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2779776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1.59× folded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264408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3374136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3264408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36192" y="337413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export vs ERAD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3264408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6592" y="337413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f↑/차폐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63840" y="3264408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36992" y="3374136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η 0.33→0.78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858768"/>
            <a:ext cx="109728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3968496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63040" y="3858768"/>
            <a:ext cx="320040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36192" y="396849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M6P MM형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3858768"/>
            <a:ext cx="320040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36592" y="396849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간접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63840" y="3858768"/>
            <a:ext cx="347472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36992" y="3968496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glyco-dead 불가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453128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4562856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4453128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36192" y="456285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수송 ODE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63440" y="4453128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36592" y="456285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leak↓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4453128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36992" y="4562856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0.44→0.73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5047488"/>
            <a:ext cx="109728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5157216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63040" y="5047488"/>
            <a:ext cx="320040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536192" y="515721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pH–Kd + MM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63440" y="5047488"/>
            <a:ext cx="320040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36592" y="515721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억제 창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0" y="5047488"/>
            <a:ext cx="3474720" cy="54864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36992" y="5157216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v 0.94 vs 0.01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5641848"/>
            <a:ext cx="10972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5751576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63040" y="5641848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36192" y="575157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GAG 반응기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663440" y="5641848"/>
            <a:ext cx="32004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736592" y="5751576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종점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5641848"/>
            <a:ext cx="3474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36992" y="5751576"/>
            <a:ext cx="3364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축적 완화/악화 갈림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8 · 전 단계 결합 처리량 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직렬 효율 곱 — 시나리오 비교</a:t>
            </a:r>
          </a:p>
        </p:txBody>
      </p:sp>
      <p:pic>
        <p:nvPicPr>
          <p:cNvPr id="6" name="Picture 5" descr="fig99_cascade_through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315200" cy="3901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18120" y="1143000"/>
            <a:ext cx="4023360" cy="502920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9B0C"/>
                </a:solidFill>
                <a:latin typeface="Apple SD Gothic Neo"/>
                <a:ea typeface="Apple SD Gothic Neo"/>
                <a:cs typeface="Apple SD Gothic Neo"/>
              </a:rPr>
              <a:t>읽는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8288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Θ ∝ Π η_i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null → 0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disease → 매우 낮음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S3 only → 부분 회복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S3+S7 → 추가 회복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full stack → 더 개선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WT → 상한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한 단 실패 = 전체 실패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과억제 S7 = 종점 악화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(S8 시뮬 참고)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9 · 스텝별 할 수 있는 것 / 없는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설계·자문용 체크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82880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1097280"/>
            <a:ext cx="475488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097280"/>
            <a:ext cx="4754880" cy="36576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170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할 수 있음 (모델상)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1704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못 함 / 금지 과대해석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1828800" cy="50292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4560" y="1508760"/>
            <a:ext cx="4754880" cy="502920"/>
          </a:xfrm>
          <a:prstGeom prst="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1508760"/>
            <a:ext cx="4754880" cy="502920"/>
          </a:xfrm>
          <a:prstGeom prst="rect">
            <a:avLst/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6184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618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6184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null 공급 복구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7568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94560" y="2075688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2075688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1854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1854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핵형성 경로 편향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1854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서열 교정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42616"/>
            <a:ext cx="1828800" cy="50292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4560" y="2642616"/>
            <a:ext cx="4754880" cy="502920"/>
          </a:xfrm>
          <a:prstGeom prst="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2642616"/>
            <a:ext cx="4754880" cy="502920"/>
          </a:xfrm>
          <a:prstGeom prst="rect">
            <a:avLst/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7523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S3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27523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folded 분율↑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7523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배달 보장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09544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94560" y="3209544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3209544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33192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S4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319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수출 η↑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319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ERAD 전면 차단 주장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76472"/>
            <a:ext cx="1828800" cy="50292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94560" y="3776472"/>
            <a:ext cx="4754880" cy="502920"/>
          </a:xfrm>
          <a:prstGeom prst="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0" y="3776472"/>
            <a:ext cx="4754880" cy="502920"/>
          </a:xfrm>
          <a:prstGeom prst="rect">
            <a:avLst/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S5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간접 M6P↑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글리코 사이트 null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34340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94560" y="4343400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49440" y="4343400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45312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S6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453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수송 안정화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86600" y="44531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BBB/CNS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910328"/>
            <a:ext cx="1828800" cy="502920"/>
          </a:xfrm>
          <a:prstGeom prst="rect">
            <a:avLst/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94560" y="4910328"/>
            <a:ext cx="4754880" cy="502920"/>
          </a:xfrm>
          <a:prstGeom prst="rect">
            <a:avLst/>
          </a:prstGeom>
          <a:solidFill>
            <a:srgbClr val="E0F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49440" y="4910328"/>
            <a:ext cx="4754880" cy="502920"/>
          </a:xfrm>
          <a:prstGeom prst="rect">
            <a:avLst/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0200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S7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5020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리소좀 촉매 가용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50200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재고 0에서 기적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477256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94560" y="5477256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49440" y="5477256"/>
            <a:ext cx="4754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58698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pple SD Gothic Neo"/>
                <a:ea typeface="Apple SD Gothic Neo"/>
                <a:cs typeface="Apple SD Gothic Neo"/>
              </a:rPr>
              <a:t>S8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31720" y="55869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축적 완화(종점)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86600" y="55869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단독 기전 증명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10 · IDSX triage 규칙과의 연결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시뮬이 규칙을 정당화하는 지점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834640" cy="50292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5272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Hard EXCLUDE null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S1 공급 천장·S2–S8 전부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D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43000"/>
            <a:ext cx="2834640" cy="502920"/>
          </a:xfrm>
          <a:prstGeom prst="rect">
            <a:avLst/>
          </a:prstGeom>
          <a:solidFill>
            <a:srgbClr val="E85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25272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EXCLUDE 촉매 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874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S7–S8 촉매항 복구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143000"/>
            <a:ext cx="2834640" cy="502920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25272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CAUTION 포켓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S7 과억제 위험↑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143000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143000"/>
            <a:ext cx="28346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125272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TIER1 코어 모듈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18745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S2–S4 주 작용 구간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749039"/>
            <a:ext cx="28346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858767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에피토프≠변이자리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48055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S3 표면 클램프 논리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E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749039"/>
            <a:ext cx="2834640" cy="502920"/>
          </a:xfrm>
          <a:prstGeom prst="rect">
            <a:avLst/>
          </a:prstGeom>
          <a:solidFill>
            <a:srgbClr val="E89B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3858767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Glyco 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48055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S5 구제 불가 분기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ED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3749039"/>
            <a:ext cx="2834640" cy="502920"/>
          </a:xfrm>
          <a:prstGeom prst="rect">
            <a:avLst/>
          </a:prstGeom>
          <a:solidFill>
            <a:srgbClr val="6B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3858767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pH 창 필수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48055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S7 없으면 S8 악화 가능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749039"/>
            <a:ext cx="28346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3749039"/>
            <a:ext cx="2834640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5168" y="3858767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다단 게이트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480559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전 단계 Θ 곱으로 go/no-go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11 · 결론 · Non-claim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전 단계 맵이 주는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11430000" cy="2103120"/>
          </a:xfrm>
          <a:prstGeom prst="roundRect">
            <a:avLst>
              <a:gd name="adj" fmla="val 6000"/>
            </a:avLst>
          </a:prstGeom>
          <a:solidFill>
            <a:srgbClr val="D4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S1부터 S8까지 각 단계에 구체 시뮬레이션을 붙였다.
샤페론은 전 구간 만능이 아니라, 단마다 다른 밸브로 작동한다.
IDSX는 그 밸브를 구조 triage로 고르는 의사결정 층이다.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재현 패키지: chaperone_all_steps_sim/data/*.csv · figures/* · all_steps_summary.json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심화 단독 덱: STEP3 (평형 농축) · STEP7 (pH 창) — 본 덱은 전 구간 통합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Non-claim: 임상 효능·IDS 약물 확정·원자 수준 절대 자유에너지 증명 아님</a:t>
            </a:r>
          </a:p>
          <a:p>
            <a:pPr>
              <a:spcAft>
                <a:spcPts val="700"/>
              </a:spcAft>
            </a:pPr>
            <a:r>
              <a:rPr sz="1400" b="0">
                <a:solidFill>
                  <a:srgbClr val="1A2A36"/>
                </a:solidFill>
                <a:latin typeface="Apple SD Gothic Neo"/>
                <a:ea typeface="Apple SD Gothic Neo"/>
                <a:cs typeface="Apple SD Gothic Neo"/>
              </a:rPr>
              <a:t>• 다음 wet: residual activity · pH-DSF · 활성 washout 으로 S3/S7 파라미터 교정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62025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EE0C5"/>
                </a:solidFill>
                <a:latin typeface="Apple SD Gothic Neo"/>
                <a:ea typeface="Apple SD Gothic Neo"/>
                <a:cs typeface="Apple SD Gothic Neo"/>
              </a:rPr>
              <a:t>IDSX · Full cascade S1–S8 simulations · Conceptual / non-clinical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2025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