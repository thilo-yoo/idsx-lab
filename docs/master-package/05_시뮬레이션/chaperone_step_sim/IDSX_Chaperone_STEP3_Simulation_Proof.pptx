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0A6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IDSX  ·  SIMULATION PROOF  ·  ONE STEP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샤페론 적용 스텝은 다양하다.
그중 STEP 3 — Native 선택적 안정화만
시뮬레이션으로 입증한다.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D4F0EB"/>
                </a:solidFill>
                <a:latin typeface="Apple SD Gothic Neo"/>
                <a:ea typeface="Apple SD Gothic Neo"/>
                <a:cs typeface="Apple SD Gothic Neo"/>
              </a:rPr>
              <a:t>모델: IDS S152I 접힘 페널티 · U ⇌ N · N+C ⇌ NC (Kd_N ≪ Kd_U)
결과: [PC]=10 μM에서 folded pool 0.58 → 0.92  (1.59× 농축)
대조: 비선호 결합(Kd 동일)은 농축 실패  ·  치료·세포 구제 claim 없음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5778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5FQL 구조 앵커 + 질량작용 평형 + 표면 클램프 프록시
Keynote deck · 2026-07 · Thilo Yoo / IDSX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 · 샤페론 적용 스텝이 다양한 이유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한 약이 한 번에 전 경로를 증명하지 않는다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188720"/>
            <a:ext cx="274320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2743200" cy="4572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S1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74520"/>
            <a:ext cx="2468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번역·합성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60320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5"/>
                </a:solidFill>
                <a:latin typeface="Apple SD Gothic Neo"/>
                <a:ea typeface="Apple SD Gothic Neo"/>
                <a:cs typeface="Apple SD Gothic Neo"/>
              </a:rPr>
              <a:t>분자 공급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188720"/>
            <a:ext cx="274320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188720"/>
            <a:ext cx="2743200" cy="4572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1280160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S2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1874520"/>
            <a:ext cx="2468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접힘 핵형성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560320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5"/>
                </a:solidFill>
                <a:latin typeface="Apple SD Gothic Neo"/>
                <a:ea typeface="Apple SD Gothic Neo"/>
                <a:cs typeface="Apple SD Gothic Neo"/>
              </a:rPr>
              <a:t>조립 시작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188720"/>
            <a:ext cx="2743200" cy="2194560"/>
          </a:xfrm>
          <a:prstGeom prst="roundRect">
            <a:avLst>
              <a:gd name="adj" fmla="val 6000"/>
            </a:avLst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188720"/>
            <a:ext cx="2743200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280160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S3 ★ SIM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874520"/>
            <a:ext cx="2468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A6B62"/>
                </a:solidFill>
                <a:latin typeface="Apple SD Gothic Neo"/>
                <a:ea typeface="Apple SD Gothic Neo"/>
                <a:cs typeface="Apple SD Gothic Neo"/>
              </a:rPr>
              <a:t>Native 선택 안정화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560320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5"/>
                </a:solidFill>
                <a:latin typeface="Apple SD Gothic Neo"/>
                <a:ea typeface="Apple SD Gothic Neo"/>
                <a:cs typeface="Apple SD Gothic Neo"/>
              </a:rPr>
              <a:t>본 시뮬 ★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1188720"/>
            <a:ext cx="274320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0" y="1188720"/>
            <a:ext cx="2743200" cy="4572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81160" y="1280160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S4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1874520"/>
            <a:ext cx="2468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ERQC / ERAD↓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2560320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5"/>
                </a:solidFill>
                <a:latin typeface="Apple SD Gothic Neo"/>
                <a:ea typeface="Apple SD Gothic Neo"/>
                <a:cs typeface="Apple SD Gothic Neo"/>
              </a:rPr>
              <a:t>품질 통과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3657600"/>
            <a:ext cx="274320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3657600"/>
            <a:ext cx="2743200" cy="4572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3749040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S5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343400"/>
            <a:ext cx="2468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골지·M6P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029200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5"/>
                </a:solidFill>
                <a:latin typeface="Apple SD Gothic Neo"/>
                <a:ea typeface="Apple SD Gothic Neo"/>
                <a:cs typeface="Apple SD Gothic Neo"/>
              </a:rPr>
              <a:t>표지·출하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91840" y="3657600"/>
            <a:ext cx="274320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91840" y="3657600"/>
            <a:ext cx="2743200" cy="4572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29000" y="3749040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S6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4343400"/>
            <a:ext cx="2468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리소좀 배달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29000" y="5029200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5"/>
                </a:solidFill>
                <a:latin typeface="Apple SD Gothic Neo"/>
                <a:ea typeface="Apple SD Gothic Neo"/>
                <a:cs typeface="Apple SD Gothic Neo"/>
              </a:rPr>
              <a:t>현장 도착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3657600"/>
            <a:ext cx="274320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17920" y="3657600"/>
            <a:ext cx="2743200" cy="4572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55080" y="3749040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S7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4343400"/>
            <a:ext cx="2468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pH 해리·촉매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5029200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5"/>
                </a:solidFill>
                <a:latin typeface="Apple SD Gothic Neo"/>
                <a:ea typeface="Apple SD Gothic Neo"/>
                <a:cs typeface="Apple SD Gothic Neo"/>
              </a:rPr>
              <a:t>억제 창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44000" y="3657600"/>
            <a:ext cx="274320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144000" y="3657600"/>
            <a:ext cx="2743200" cy="4572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81160" y="3749040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S8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81160" y="4343400"/>
            <a:ext cx="2468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GAG 제거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81160" y="5029200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5"/>
                </a:solidFill>
                <a:latin typeface="Apple SD Gothic Neo"/>
                <a:ea typeface="Apple SD Gothic Neo"/>
                <a:cs typeface="Apple SD Gothic Neo"/>
              </a:rPr>
              <a:t>임상 표현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0040" y="6620256"/>
            <a:ext cx="9144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IDSX · Chaperone STEP 3 simulation · Native preferential stabilization · Non-therapeutic claim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15600" y="6620256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2/13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 · 선택한 스텝: STEP 3 Native preferential stabilization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ER 조건에서 접힘 평형 U ⇌ N 을 질량작용으로 이동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143000"/>
            <a:ext cx="5669280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D9488"/>
                </a:solidFill>
                <a:latin typeface="Apple SD Gothic Neo"/>
                <a:ea typeface="Apple SD Gothic Neo"/>
                <a:cs typeface="Apple SD Gothic Neo"/>
              </a:rPr>
              <a:t>메커니즘 (질량작용)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U  ⇌  N          K_fold = exp(−ΔG_fold / RT)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N + C  ⇌  NC     Kd_N  (Native에 세게)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U + C  ⇌  UC     Kd_U  (Unfolded에 약하게)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조건: Kd_N ≪ Kd_U  (preferential native binding)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판독: folded pool = f(N) + f(NC)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변이: ΔG_fold = ΔG_WT + ΔΔG_mut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ΔG_WT = −3.0 kcal/mol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ΔΔG_mut = +2.8 kcal/mol (생물리 스케일)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T = 310 K (ER 유사)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화공 비유: 반응기 평형 조성 제어 밸브 1개</a:t>
            </a:r>
          </a:p>
        </p:txBody>
      </p:sp>
      <p:pic>
        <p:nvPicPr>
          <p:cNvPr id="9" name="Picture 8" descr="fig0_mechanism_sche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577840" cy="2397059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620256"/>
            <a:ext cx="9144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IDSX · Chaperone STEP 3 simulation · Native preferential stabilization · Non-therapeutic claim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620256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3/13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 · 왜 S152I에 STEP 3이 필요한가 (5FQL 구조 앵커)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촉매 파괴가 아니라 코어 네트워크·패킹 결함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097280"/>
            <a:ext cx="5394960" cy="5212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D9488"/>
                </a:solidFill>
                <a:latin typeface="Apple SD Gothic Neo"/>
                <a:ea typeface="Apple SD Gothic Neo"/>
                <a:cs typeface="Apple SD Gothic Neo"/>
              </a:rPr>
              <a:t>5FQL 실측 재계산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9164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Ser152 OG ··· Asp148 OD2  ≈  2.53 Å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Ser152 OG ··· Thr118 OG1  ≈  2.85 Å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CB 4.5 Å 내 heavy atom  =  26 (조밀)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RSA 0% · 촉매거리 10.27 Å (안전권)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S152I 모델 국소 항: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H-bond 네트워크 상실 (OG 소실)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부피 확장 soft-clash 페널티 (조대)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→ 접힘 평형이 U 쪽으로 기운다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∴ 개입 논리 = 152에 직접 결합이 아니라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N 상태를 붙잡아 K_app를 회복 (STEP 3)</a:t>
            </a:r>
          </a:p>
        </p:txBody>
      </p:sp>
      <p:pic>
        <p:nvPicPr>
          <p:cNvPr id="9" name="Picture 8" descr="fig5_local_strain_compon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143000"/>
            <a:ext cx="5943600" cy="379317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620256"/>
            <a:ext cx="9144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IDSX · Chaperone STEP 3 simulation · Native preferential stabilization · Non-therapeutic claim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620256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4/13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 · 다단 경로 중 시뮬 타깃 명시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초록 = 본 연구에서 입증하는 유일한 스텝</a:t>
            </a:r>
          </a:p>
        </p:txBody>
      </p:sp>
      <p:pic>
        <p:nvPicPr>
          <p:cNvPr id="6" name="Picture 5" descr="fig1_steps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11430000" cy="31782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303520"/>
            <a:ext cx="112471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A75"/>
                </a:solidFill>
                <a:latin typeface="Apple SD Gothic Neo"/>
                <a:ea typeface="Apple SD Gothic Neo"/>
                <a:cs typeface="Apple SD Gothic Neo"/>
              </a:rPr>
              <a:t>S4–S8(ERAD↓, 배달, 활성, GAG)은 이 덱의 입증 범위 밖이다. STEP 3 성공은 하류의 필요조건에 가깝고 충분조건이 아니다.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620256"/>
            <a:ext cx="9144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IDSX · Chaperone STEP 3 simulation · Native preferential stabilization · Non-therapeutic claim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620256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5/13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5 · 주 결과: 용량–반응 — folded pool 농축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Preferential PC만 농축 · 비선호 대조는 실패</a:t>
            </a:r>
          </a:p>
        </p:txBody>
      </p:sp>
      <p:pic>
        <p:nvPicPr>
          <p:cNvPr id="6" name="Picture 5" descr="fig2_dose_response_fol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7315200" cy="468923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0" y="1143000"/>
            <a:ext cx="4023360" cy="5029200"/>
          </a:xfrm>
          <a:prstGeom prst="roundRect">
            <a:avLst>
              <a:gd name="adj" fmla="val 6000"/>
            </a:avLst>
          </a:prstGeom>
          <a:solidFill>
            <a:srgbClr val="E0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132588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E8E5A"/>
                </a:solidFill>
                <a:latin typeface="Apple SD Gothic Neo"/>
                <a:ea typeface="Apple SD Gothic Neo"/>
                <a:cs typeface="Apple SD Gothic Neo"/>
              </a:rPr>
              <a:t>Proof numbers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1828800"/>
            <a:ext cx="3657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변이 · PC 없음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folded = 0.580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변이 · [PC]=10 μM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Kd_N=1, Kd_U=50 μM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folded = 0.922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농축 배율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1.59 ×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비선호 대조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Kd_N = Kd_U → 농축 없음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→ STEP 3 적용 입증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(선택적 결합이 핵심)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620256"/>
            <a:ext cx="9144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IDSX · Chaperone STEP 3 simulation · Native preferential stabilization · Non-therapeutic claim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620256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6/13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6 · 종 분포: N+NC가 competent folded pool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샤페론은 U를 직접 고치지 않고 N을 붙잡아 당긴다</a:t>
            </a:r>
          </a:p>
        </p:txBody>
      </p:sp>
      <p:pic>
        <p:nvPicPr>
          <p:cNvPr id="6" name="Picture 5" descr="fig3_species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155680" cy="422687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620256"/>
            <a:ext cx="9144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IDSX · Chaperone STEP 3 simulation · Native preferential stabilization · Non-therapeutic claim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20256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7/13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7 · 입증 지표: Folded enrichment vs no-PC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농도와 함께 단조 증가 — 질량작용 예측과 일치</a:t>
            </a:r>
          </a:p>
        </p:txBody>
      </p:sp>
      <p:pic>
        <p:nvPicPr>
          <p:cNvPr id="6" name="Picture 5" descr="fig6_enrich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326880" cy="58293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620256"/>
            <a:ext cx="9144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IDSX · Chaperone STEP 3 simulation · Native preferential stabilization · Non-therapeutic claim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20256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8/13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8 · 구조 프록시: 표면 패치 클램프 (바인더 경로)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같은 STEP 3을 알로스테릭 구속으로 보조하는 시나리오</a:t>
            </a:r>
          </a:p>
        </p:txBody>
      </p:sp>
      <p:pic>
        <p:nvPicPr>
          <p:cNvPr id="6" name="Picture 5" descr="fig4_surface_clamp_rmsf_ener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7315200" cy="468923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0" y="1143000"/>
            <a:ext cx="4023360" cy="5029200"/>
          </a:xfrm>
          <a:prstGeom prst="roundRect">
            <a:avLst>
              <a:gd name="adj" fmla="val 6000"/>
            </a:avLst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132588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A6B62"/>
                </a:solidFill>
                <a:latin typeface="Apple SD Gothic Neo"/>
                <a:ea typeface="Apple SD Gothic Neo"/>
                <a:cs typeface="Apple SD Gothic Neo"/>
              </a:rPr>
              <a:t>클램프 스캔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18288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패치: P150, Y151, S154…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(152 직접 결합 아님)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k_clamp 0 → 8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RMSF_152: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1.24 → 0.62 Å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(≈ 50% 감소)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네트워크 전달 γ=0.45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코어 모듈 요동 억제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해석: 표면 바인더도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STEP 3( N 안정화 )을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구조적으로 구현 가능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(가설 프록시 층)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620256"/>
            <a:ext cx="9144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IDSX · Chaperone STEP 3 simulation · Native preferential stabilization · Non-therapeutic claim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620256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9/13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9 · 방법 요약 · 파라미터 · 재현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과장을 막기 위한 정직한 Methods 슬라이드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143000"/>
            <a:ext cx="370332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3703320" cy="4572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집단 모델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32918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2-state + ligand
질량수지 bisection
T=310 K, RT 명시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143000"/>
            <a:ext cx="370332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143000"/>
            <a:ext cx="3703320" cy="4572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234440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파라미터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783080"/>
            <a:ext cx="32918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ΔG_WT=−3.0
ΔΔG_mut=+2.8
Kd_N=1, Kd_U=50 μM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143000"/>
            <a:ext cx="370332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143000"/>
            <a:ext cx="3703320" cy="4572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234440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구조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783080"/>
            <a:ext cx="32918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5FQL chain A
H-bond 거리 재계산
soft clash probe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749039"/>
            <a:ext cx="370332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749039"/>
            <a:ext cx="3703320" cy="4572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840479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대조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389119"/>
            <a:ext cx="32918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Kd_N=Kd_U
비선호 결합
농축 실패 확인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3749039"/>
            <a:ext cx="370332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51960" y="3749039"/>
            <a:ext cx="3703320" cy="4572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0" y="3840479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스케일 주의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4389119"/>
            <a:ext cx="32918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EvoEF2 +46은
순위용 raw 값
집단모델에 미사용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749039"/>
            <a:ext cx="370332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3749039"/>
            <a:ext cx="3703320" cy="4572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20" y="3840479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재현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389119"/>
            <a:ext cx="32918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run_step3_simulation.py
data/*.csv
figures/*.png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6620256"/>
            <a:ext cx="9144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IDSX · Chaperone STEP 3 simulation · Native preferential stabilization · Non-therapeutic claim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620256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10/13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10 · 입증한 것 / 입증하지 않은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이 경계가 과학적 신뢰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188720"/>
            <a:ext cx="5577840" cy="5029200"/>
          </a:xfrm>
          <a:prstGeom prst="roundRect">
            <a:avLst>
              <a:gd name="adj" fmla="val 6000"/>
            </a:avLst>
          </a:prstGeom>
          <a:solidFill>
            <a:srgbClr val="E0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E8E5A"/>
                </a:solidFill>
                <a:latin typeface="Apple SD Gothic Neo"/>
                <a:ea typeface="Apple SD Gothic Neo"/>
                <a:cs typeface="Apple SD Gothic Neo"/>
              </a:rPr>
              <a:t>입증 (STEP 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✓ Preferential native binding 모델에서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folded pool이 농도 의존적으로 증가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✓ 10 μM에서 1.59× 농축 (본 파라미터)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✓ 비선호 결합 대조는 농축 실패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✓ 5FQL 상 S152 모듈이 안정화 대상이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될 구조적 이유 (H-bond·패킹)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✓ 표면 클램프가 코어 RMSF를 낮출 수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있는 네트워크 프록시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577840" cy="5029200"/>
          </a:xfrm>
          <a:prstGeom prst="roundRect">
            <a:avLst>
              <a:gd name="adj" fmla="val 6000"/>
            </a:avLst>
          </a:prstGeom>
          <a:solidFill>
            <a:srgbClr val="FD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716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5D4C"/>
                </a:solidFill>
                <a:latin typeface="Apple SD Gothic Neo"/>
                <a:ea typeface="Apple SD Gothic Neo"/>
                <a:cs typeface="Apple SD Gothic Neo"/>
              </a:rPr>
              <a:t>비입증 (범위 밖)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2024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✗ 세포 ERAD 감소 실측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✗ 리소좀 배달·활성 회복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✗ GAG 감소·임상 효능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✗ 특정 화합물이 IDS 약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✗ 암브록솔 IDS 적용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✗ AF/EvoEF2 절대 ΔΔG = 진실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✗ 전 스텝(S1–S8) 일괄 증명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✗ 환자 투여 근거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620256"/>
            <a:ext cx="9144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IDSX · Chaperone STEP 3 simulation · Native preferential stabilization · Non-therapeutic claim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620256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11/13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11 · 결론 한 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다단 중 한 밸브가 물리적으로 작동함을 보였다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11247120" cy="2011680"/>
          </a:xfrm>
          <a:prstGeom prst="roundRect">
            <a:avLst>
              <a:gd name="adj" fmla="val 6000"/>
            </a:avLst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106984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샤페론 적용 스텝은 S1–S8로 다양하다.
본 시뮬레이션은 그중 STEP 3(Native 선택적 안정화)에 대해,
preferential binding 질량작용이 folded pool을 1.59× 농축함을 입증한다.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6616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구조(5FQL S152 모듈)는 “왜 이 스텝이 필요한지”를 설명하고,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집단 모델은 “그 스텝에서 개입이 무엇을 바꾸는지”를 숫자로 보여 주며,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음성 대조는 “아무 결합이나 되는 것이 아님”을 가른다.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하류 스텝(ERAD·배달·촉매)은 별도 게이트 — IDSX 사전등록 규율과 동일.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다음: residual activity 문헌 · wet ΔTm · (선택) 실제 리간드 도킹 — 여전히 STEP 3 보강 층.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620256"/>
            <a:ext cx="9144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IDSX · Chaperone STEP 3 simulation · Native preferential stabilization · Non-therapeutic claim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620256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12/13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부록 · 파일 위치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재현 패키지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11247120" cy="5029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Desktop/IDSX_Master_Package_2026/chaperone_step_sim/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├── 00_STEP3_시뮬레이션_방법과_결과.md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├── create_step3_keynote.py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├── run_step3_simulation.py  (재실행)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├── figures/  fig0–fig6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└── data/     simulation_summary.json, dose_response_*.csv, clamp_scan.csv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Keynote/PPTX 출력: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  IDSX_Chaperone_STEP3_Simulation_Proof.key / .pptx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관련: Master Package 11 성공기준 사전등록 · 12 모달리티 트리 · Ser152 기전 문서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620256"/>
            <a:ext cx="9144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IDSX · Chaperone STEP 3 simulation · Native preferential stabilization · Non-therapeutic claim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620256"/>
            <a:ext cx="1371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13/13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