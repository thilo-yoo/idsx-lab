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9B0C"/>
                </a:solidFill>
                <a:latin typeface="Apple SD Gothic Neo"/>
                <a:ea typeface="Apple SD Gothic Neo"/>
                <a:cs typeface="Apple SD Gothic Neo"/>
              </a:rPr>
              <a:t>CRITICAL REVIEW  ·  EVIDENCE-RANKED APPLICABILITY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고분자적 해법 결론의
철저 재검증과
IDSX 적용가능성 평가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4F0EB"/>
                </a:solidFill>
                <a:latin typeface="Apple SD Gothic Neo"/>
                <a:ea typeface="Apple SD Gothic Neo"/>
                <a:cs typeface="Apple SD Gothic Neo"/>
              </a:rPr>
              <a:t>이전 결론(P1–P4)을 문헌·생리·공정·학부 실행성 기준으로 재심사
판정: GO / CONDITIONAL / NO-GO  ·  L1·L2·L3 층 분리 유지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공개 문헌·리뷰 기반  ·  2026-07  ·  IDSX polymer audit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 · 재검증 대상이었던 이전 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감사 범위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1143000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이전 제시 (요약):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P1 PEG–IDS 열안정  ·  P2 RAFT 양쪽성 인공샤페론  ·  P3 nanoMIP–패치  ·  P4 LCST 사이클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층: L1 세포PC 비권장 / L2 리폴딩 공정 유망 / L3 제제 열안정 최유망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이번 감사 질문: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① 문헌 근거가 실제로 그 결론을 지지하는가?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② IDS·술파타제·LSD/ERT 맥락으로 외삽 가능한가?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③ 세포 내 변이 구제(IDSX 본선)와 혼동하면 안 되는 지점은?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④ 학부 화학공학 실험으로 실행 가능한가? (단백질 공급·장비·윤리)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⑤ 수정된 GO/CONDITIONAL/NO-GO 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Polymer applicability AUDIT  ·  evidence-ranked  ·  IDSX  ·  not treatment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 · 평가 루브릭 (5축)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감정·직관이 아닌 점수 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88720"/>
            <a:ext cx="2194560" cy="5029200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E1 문헌 강도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6032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모델 단백질만?
LSD/효소 ERT?
리뷰 vs 단편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188720"/>
            <a:ext cx="2194560" cy="502920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4173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E2 IDS 외삽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56032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술파타제·글리코
M6P·산성 pH
활성 보존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79" y="1188720"/>
            <a:ext cx="2194560" cy="5029200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19" y="14173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E3 생리 전달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19" y="256032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ER 도달?
정맥 제제?
공정 only?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199" y="1188720"/>
            <a:ext cx="2194560" cy="502920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39" y="14173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E4 학부 실행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39" y="256032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시약·장비
단백질 소스
안전·비용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19" y="1188720"/>
            <a:ext cx="2194560" cy="5029200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59" y="14173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E5 IDSX 정합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59" y="256032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triage claim
과 claim 분리
시그니처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Polymer applicability AUDIT  ·  evidence-ranked  ·  IDSX  ·  not treatment advice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 · 종합 판정표 (감사 결과)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★★★ 강 · ★★ 중 · ★ 약 · — 해당 없음/부적합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194560" cy="4114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70432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제안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097280"/>
            <a:ext cx="1188720" cy="4114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1170432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문헌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097280"/>
            <a:ext cx="1371600" cy="4114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170432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IDS외삽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097280"/>
            <a:ext cx="1188720" cy="4114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170432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생리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1188720" cy="4114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170432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학부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645920" cy="4114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1170432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IDSX정합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097280"/>
            <a:ext cx="1828800" cy="4114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170432"/>
            <a:ext cx="1755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판정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554480"/>
            <a:ext cx="219456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691640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P1 PEG 접합(L3)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1554480"/>
            <a:ext cx="118872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169164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★★★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1554480"/>
            <a:ext cx="137160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1691640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★★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1554480"/>
            <a:ext cx="118872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169164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제제✓ 세포✗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554480"/>
            <a:ext cx="118872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169164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★★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1554480"/>
            <a:ext cx="164592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169164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★★★ 분리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60" y="1554480"/>
            <a:ext cx="1828800" cy="713232"/>
          </a:xfrm>
          <a:prstGeom prst="rect">
            <a:avLst/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1691640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GO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331720"/>
            <a:ext cx="21945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2468880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P2 양쪽성 리폴딩(L2)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68880" y="2331720"/>
            <a:ext cx="11887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14600" y="246888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★★★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0" y="2331720"/>
            <a:ext cx="1371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03320" y="2468880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★★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2331720"/>
            <a:ext cx="11887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246888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공정✓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331720"/>
            <a:ext cx="11887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246888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★★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06640" y="2331720"/>
            <a:ext cx="1645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52360" y="246888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★★ STEP2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52560" y="2331720"/>
            <a:ext cx="1828800" cy="713232"/>
          </a:xfrm>
          <a:prstGeom prst="rect">
            <a:avLst/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98280" y="2468880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GO*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108960"/>
            <a:ext cx="219456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3246120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P3 nanoMIP(L2)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0" y="3108960"/>
            <a:ext cx="118872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14600" y="324612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★★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0" y="3108960"/>
            <a:ext cx="137160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03320" y="3246120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★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0" y="3108960"/>
            <a:ext cx="118872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74920" y="324612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공정△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3108960"/>
            <a:ext cx="118872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63640" y="324612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06640" y="3108960"/>
            <a:ext cx="164592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52360" y="324612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★★ 개념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52560" y="3108960"/>
            <a:ext cx="1828800" cy="713232"/>
          </a:xfrm>
          <a:prstGeom prst="rect">
            <a:avLst/>
          </a:prstGeom>
          <a:solidFill>
            <a:srgbClr val="FE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98280" y="3246120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COND.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3886200"/>
            <a:ext cx="21945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0040" y="4023360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P4 LCST 사이클(L2)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468880" y="3886200"/>
            <a:ext cx="11887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14600" y="402336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★★★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0" y="3886200"/>
            <a:ext cx="1371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703320" y="4023360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★★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0" y="3886200"/>
            <a:ext cx="11887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74920" y="402336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공정✓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17920" y="3886200"/>
            <a:ext cx="11887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63640" y="402336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★★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06640" y="3886200"/>
            <a:ext cx="1645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52360" y="402336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★★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52560" y="3886200"/>
            <a:ext cx="1828800" cy="713232"/>
          </a:xfrm>
          <a:prstGeom prst="rect">
            <a:avLst/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98280" y="4023360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GO*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4663440"/>
            <a:ext cx="219456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0040" y="4800600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고분자 세포내 PC(L1)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468880" y="4663440"/>
            <a:ext cx="118872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514600" y="480060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★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57600" y="4663440"/>
            <a:ext cx="137160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703320" y="4800600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29200" y="4663440"/>
            <a:ext cx="118872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074920" y="480060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✗ 병목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217920" y="4663440"/>
            <a:ext cx="118872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63640" y="480060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406640" y="4663440"/>
            <a:ext cx="164592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52360" y="480060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✗ 혼동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052560" y="4663440"/>
            <a:ext cx="1828800" cy="713232"/>
          </a:xfrm>
          <a:prstGeom prst="rect">
            <a:avLst/>
          </a:prstGeom>
          <a:solidFill>
            <a:srgbClr val="FD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098280" y="4800600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NO-GO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5440680"/>
            <a:ext cx="21945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0040" y="5577840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크로우딩 only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468880" y="5440680"/>
            <a:ext cx="11887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514600" y="557784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★★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657600" y="5440680"/>
            <a:ext cx="1371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703320" y="5577840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★★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0" y="5440680"/>
            <a:ext cx="11887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074920" y="557784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in vitro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217920" y="5440680"/>
            <a:ext cx="11887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263640" y="557784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★★★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406640" y="5440680"/>
            <a:ext cx="1645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452360" y="557784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★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052560" y="5440680"/>
            <a:ext cx="18288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098280" y="5577840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보조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Polymer applicability AUDIT  ·  evidence-ranked  ·  IDSX  ·  not treatment advice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 · P1 PEGylation — 근거와 적용가능성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열안정 직관과 가장 잘 맞는 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97280"/>
            <a:ext cx="5669280" cy="5120640"/>
          </a:xfrm>
          <a:prstGeom prst="roundRect">
            <a:avLst>
              <a:gd name="adj" fmla="val 6000"/>
            </a:avLst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8E5A"/>
                </a:solidFill>
                <a:latin typeface="Apple SD Gothic Neo"/>
                <a:ea typeface="Apple SD Gothic Neo"/>
                <a:cs typeface="Apple SD Gothic Neo"/>
              </a:rPr>
              <a:t>지지 근거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다수 치료 단백질에서 PEG 접합이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열·화학 안정·응집 억제·PK 개선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(리뷰: Zuma 2022 등)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MD: PEG가 소수 코어 물 침투 차단으로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고온 구조 유지 (lysozyme/insulin 등)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활성·Tm은 부위·밀도에 따라 증가 또는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감소 — 보편 법칙 아님 (부위선택 필수)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LSD/ERT 맥락: 안정·클리어런스 개선을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위한 접합/제제 전략 논의 존재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(PEG-ERT 계열 전임상·임상 역사)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97280"/>
            <a:ext cx="5669280" cy="5120640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9B0C"/>
                </a:solidFill>
                <a:latin typeface="Apple SD Gothic Neo"/>
                <a:ea typeface="Apple SD Gothic Neo"/>
                <a:cs typeface="Apple SD Gothic Neo"/>
              </a:rPr>
              <a:t>IDSX 적용 한계·조건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대상은 보통 ‘이미 접힌 재조합 효소’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→ 세포 내 변이 접힘 구제 ≠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M6P 표지·리소좀 표적 유지 필수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(과도 PEG는 수용체 인식 저해 위험)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학부: 상업 IDS 비현실 → 모델 효소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(lysozyme/β-gal 등) 또는 협력 발현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판정: L3 GO · L1 NO-GO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권고: P1을 ‘제제 열안정 트랙’으로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본선화, PC claim과 문서 분리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Polymer applicability AUDIT  ·  evidence-ranked  ·  IDSX  ·  not treatment advice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 · P2 양쪽성·나노샤페론 리폴딩 — 근거와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문헌 최강 축 중 하나 · 공정 한정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97280"/>
            <a:ext cx="5669280" cy="512064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6B62"/>
                </a:solidFill>
                <a:latin typeface="Apple SD Gothic Neo"/>
                <a:ea typeface="Apple SD Gothic Neo"/>
                <a:cs typeface="Apple SD Gothic Neo"/>
              </a:rPr>
              <a:t>지지 근거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Rozema–Gellman: 계면활성+CD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2단 인공 샤페론 (고전)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PNIPAM/MSPM: LCST 위 hold →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냉각 방출 리폴딩 (다수)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고분자 나노샤페론: 변성 효소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활성 회수 고효율 보고 (예: ~97%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모델계, ACS Nano 2018 등)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2024–26 리뷰: 스마트 폴리머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인공 샤페론 활발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97280"/>
            <a:ext cx="5669280" cy="5120640"/>
          </a:xfrm>
          <a:prstGeom prst="roundRect">
            <a:avLst>
              <a:gd name="adj" fmla="val 6000"/>
            </a:avLst>
          </a:prstGeom>
          <a:solidFill>
            <a:srgbClr val="FD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D4C"/>
                </a:solidFill>
                <a:latin typeface="Apple SD Gothic Neo"/>
                <a:ea typeface="Apple SD Gothic Neo"/>
                <a:cs typeface="Apple SD Gothic Neo"/>
              </a:rPr>
              <a:t>외삽 위험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대부분 lysozyme, CA, 소형 모델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→ IDS(대형, 이황화, 글리코) 미검증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in vitro 희석 리폴딩 ≠ ER 품질관리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생체 투여 시 독성·분포 미해결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‘회수율 97%’는 조건 의존 과대해석 금지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판정: L2 GO* (모델 단백질 먼저)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IDS 직접 적용 = CONDITIONAL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세포 PC 대체 = NO-GO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Polymer applicability AUDIT  ·  evidence-ranked  ·  IDSX  ·  not treatment advice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 · P3 nanoMIP — 개념은 매력, 적용은 조건부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PNAS 2024 계열: 최대 ~87% 회수 보고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1143000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근거: 분자 각인 유연 나노입자(nanoMIP)가 변성 단백질에 선택 결합 후 리폴딩 보조 (Li et al., PNAS 2024 등).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IDSX와의 개념 동형성: 템플릿 = 표면 패치 → hotspot≠binding site 철학과 잘 맞음.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적용가능성 감점 요인: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• 템플릿 단백질/펩티드 대량·순도 필요 · IDS 전체 각인은 비현실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• 패치 펩티드 각인 ≠ 전장 IDS 모듈 안정화 보장 (외삽 큼)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• 합성·특성화(SEM/DLS/결합등온) 장비·시간 부담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• 생체 내 약리 경로 데이터 부족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판정: CONDITIONAL — Discussion·개념 파일럿(모델 단백질)만.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학부 본선 1순위로 올리지 말 것. P1/P2 이후.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Polymer applicability AUDIT  ·  evidence-ranked  ·  IDSX  ·  not treatment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 · L1 고분자 세포내 샤페론 — 왜 NO-GO인가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이전 결론 유지 · 근거 강화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43000"/>
            <a:ext cx="3749039" cy="2377440"/>
          </a:xfrm>
          <a:prstGeom prst="roundRect">
            <a:avLst>
              <a:gd name="adj" fmla="val 6000"/>
            </a:avLst>
          </a:prstGeom>
          <a:solidFill>
            <a:srgbClr val="FD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D4C"/>
                </a:solidFill>
                <a:latin typeface="Apple SD Gothic Neo"/>
                <a:ea typeface="Apple SD Gothic Neo"/>
                <a:cs typeface="Apple SD Gothic Neo"/>
              </a:rPr>
              <a:t>투과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고분자·나노입자의 ER lumen 도달
경로가 약물로서 미확립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9" y="1143000"/>
            <a:ext cx="3749039" cy="2377440"/>
          </a:xfrm>
          <a:prstGeom prst="roundRect">
            <a:avLst>
              <a:gd name="adj" fmla="val 6000"/>
            </a:avLst>
          </a:prstGeom>
          <a:solidFill>
            <a:srgbClr val="FD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19" y="1371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D4C"/>
                </a:solidFill>
                <a:latin typeface="Apple SD Gothic Neo"/>
                <a:ea typeface="Apple SD Gothic Neo"/>
                <a:cs typeface="Apple SD Gothic Neo"/>
              </a:rPr>
              <a:t>표적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19" y="196596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리소좀/ER 선택 전달 ≠
정맥 투여 기본 분포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3749039"/>
            <a:ext cx="3749039" cy="2377440"/>
          </a:xfrm>
          <a:prstGeom prst="roundRect">
            <a:avLst>
              <a:gd name="adj" fmla="val 6000"/>
            </a:avLst>
          </a:prstGeom>
          <a:solidFill>
            <a:srgbClr val="FD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39" y="397763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D4C"/>
                </a:solidFill>
                <a:latin typeface="Apple SD Gothic Neo"/>
                <a:ea typeface="Apple SD Gothic Neo"/>
                <a:cs typeface="Apple SD Gothic Neo"/>
              </a:rPr>
              <a:t>면역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39" y="4571999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PEG 항체, 반복 투여 이슈
폴리머 축적 독성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749039"/>
            <a:ext cx="3749039" cy="2377440"/>
          </a:xfrm>
          <a:prstGeom prst="roundRect">
            <a:avLst>
              <a:gd name="adj" fmla="val 6000"/>
            </a:avLst>
          </a:prstGeom>
          <a:solidFill>
            <a:srgbClr val="FD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7763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D4C"/>
                </a:solidFill>
                <a:latin typeface="Apple SD Gothic Neo"/>
                <a:ea typeface="Apple SD Gothic Neo"/>
                <a:cs typeface="Apple SD Gothic Neo"/>
              </a:rPr>
              <a:t>농도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71999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인공 샤페론은 종종 고농도
(mM급 화학 샤페론 한계와 유사)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59" y="6355080"/>
            <a:ext cx="3749039" cy="2377440"/>
          </a:xfrm>
          <a:prstGeom prst="roundRect">
            <a:avLst>
              <a:gd name="adj" fmla="val 6000"/>
            </a:avLst>
          </a:prstGeom>
          <a:solidFill>
            <a:srgbClr val="FD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19" y="6583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D4C"/>
                </a:solidFill>
                <a:latin typeface="Apple SD Gothic Neo"/>
                <a:ea typeface="Apple SD Gothic Neo"/>
                <a:cs typeface="Apple SD Gothic Neo"/>
              </a:rPr>
              <a:t>규제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9" y="717804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소분자 PC·ERT·GT 대비
경로 불명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6355080"/>
            <a:ext cx="3749039" cy="2377440"/>
          </a:xfrm>
          <a:prstGeom prst="roundRect">
            <a:avLst>
              <a:gd name="adj" fmla="val 6000"/>
            </a:avLst>
          </a:prstGeom>
          <a:solidFill>
            <a:srgbClr val="FD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39" y="6583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D4C"/>
                </a:solidFill>
                <a:latin typeface="Apple SD Gothic Neo"/>
                <a:ea typeface="Apple SD Gothic Neo"/>
                <a:cs typeface="Apple SD Gothic Neo"/>
              </a:rPr>
              <a:t>IDSX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9" y="717804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본선 claim(구조 triage)과
충돌·산만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Polymer applicability AUDIT  ·  evidence-ranked  ·  IDSX  ·  not treatment advice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 · IDS 특이 제약 — 일반 모델 단백질과 다른 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외삽 시 반드시 체크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11430000" cy="5029200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1. 크기·도메인: 인간 IDS ~550 aa, 다수 이황화 — lysozyme급 리폴딩 성공을 그대로 옮기면 안 됨.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2. N-글리코실화·M6P: ERT 표적의 핵심. 고분자 접목/코팅이 M6P 수용체 인식을 가리면 치료 의미 상실.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3. 산성 리소좀 활성: 접합체가 pH 4.5–5에서 활성·안정인지 별도 검증.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4. FGly 활성 형태: 술파타제 활성형 생성 경로 — 발현 숙주·공정 의존.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5. 변이 대립유전자: PEG는 주로 WT 재조합 효소. 환자 변이 접힘 구제와 논리 분리.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6. 공급: 학부에서 활성 rhIDS 확보 난이도 높음 → 모델 효소 또는 협력 필수.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Polymer applicability AUDIT  ·  evidence-ranked  ·  IDSX  ·  not treatment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8 · 수정된 권고 (감사 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이전 결론에서 바뀐 것 / 유지된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97280"/>
            <a:ext cx="5669280" cy="5120640"/>
          </a:xfrm>
          <a:prstGeom prst="roundRect">
            <a:avLst>
              <a:gd name="adj" fmla="val 6000"/>
            </a:avLst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8E5A"/>
                </a:solidFill>
                <a:latin typeface="Apple SD Gothic Neo"/>
                <a:ea typeface="Apple SD Gothic Neo"/>
                <a:cs typeface="Apple SD Gothic Neo"/>
              </a:rPr>
              <a:t>유지 · 강화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✓ L3 열·제제 안정 = 고분자 본령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✓ L1 세포 PC 고분자 대체 NO-GO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✓ 층 분리 필수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✓ P1 PEG 트랙 GO (모델 효소부터)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✓ 인공 샤페론 = 공정(L2) 언어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✓ IDSX 본선 = 소분자 triage 유지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97280"/>
            <a:ext cx="5669280" cy="5120640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9B0C"/>
                </a:solidFill>
                <a:latin typeface="Apple SD Gothic Neo"/>
                <a:ea typeface="Apple SD Gothic Neo"/>
                <a:cs typeface="Apple SD Gothic Neo"/>
              </a:rPr>
              <a:t>수정 · 하향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△ P3 nanoMIP: 본선→개념/후순위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(장비·외삽·템플릿 부담)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△ ‘IDS에 바로 PEG’ 표현 금지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→ 모델 효소 또는 협력 rhIDS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△ 회수율 고수치 과시 금지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(모델계·조건 의존)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△ 열안정=치료 성공 등식 금지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(competence와 분리 유지)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Polymer applicability AUDIT  ·  evidence-ranked  ·  IDSX  ·  not treatment advice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9 · 적용 의사결정 트리 (실무)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고분자 트랙 go/no-go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114300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Q1. 목표가 세포 내 변이 접힘 구제인가? → YES: 소분자 PC/triage (고분자 L1 NO-GO)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Q2. 목표가 재조합 효소 제제·열/유통 안정인가? → YES: P1 PEG/부형제 GO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Q3. 목표가 inclusion body 리폴딩 수율인가? → YES: P2/P4 인공 샤페론 GO* (모델→IDS)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Q4. 목표가 에피토프 선택 인식 개념 증명인가? → YES: P3 COND (후순위)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Q5. 활성 IDS 확보 불가? → 모델 효소로 L2/L3 방법론 논문 가능, IDS claim 축소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Q6. M6P/리소좀 표적 유지가 필수인가? → PEG 밀도·부위 제한 설계 필수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Polymer applicability AUDIT  ·  evidence-ranked  ·  IDSX  ·  not treatment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 · 감사 후 90일 실행안 (현실형)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과시 실험 금지 · 증거 사다리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88720"/>
            <a:ext cx="283464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283464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1–30일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문헌·스펙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PEG/인공샤페론
정량 표 20편
성공기준 사전등록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188720"/>
            <a:ext cx="283464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188720"/>
            <a:ext cx="283464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280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31–60일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모델 효소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46888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lysozyme 등
PEG DS–Tm 곡선
또는 리폴딩 수율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188720"/>
            <a:ext cx="283464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188720"/>
            <a:ext cx="283464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280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61–90일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외삽 게이트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46888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IDS 가능 시에만
P1 확장
불가 시 방법 논문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188720"/>
            <a:ext cx="283464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188720"/>
            <a:ext cx="2834640" cy="1005840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1280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병행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IDSX 본선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46888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잔존활성 문헌
ΔΔG · triage
고분자와 claim 분리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Polymer applicability AUDIT  ·  evidence-ranked  ·  IDSX  ·  not treatment advice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11 · 최종 감사 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이전 결론의 성적표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11338560" cy="502920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1. ‘고분자 해법이 있다’는 결론은 문헌상 유지된다. 특히 L3 열·제제 안정과 L2 리폴딩 공정.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2. ‘열안정 = 고분자’ 직관은 L3에서 강하게 지지되나, 세포 내 변이 구제(L1)로 확장하면 근거 붕괴.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3. 샤페론–고분자 합성 연관은 기능 모사(holdase/각인/LCST)로 타당. 약리 동의어는 아님.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4. P1 GO · P2/P4 GO* · P3 COND · L1 고분자 NO-GO — 이것이 감사 후 공식 순위.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5. IDSX 본선(구조 triage·소분자 PC 논리)은 유지. 고분자는 직교 트랙으로 포트폴리오 강화.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6. IDS 직접 실험 전 반드시: M6P·활성·모델→IDS 외삽 게이트를 통과할 것.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Polymer applicability AUDIT  ·  evidence-ranked  ·  IDSX  ·  not treatment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12 · 주요 근거 유형 ·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재현·인용 시 주의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1143000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지지 문헌 군: PEGylation 안정성 리뷰·MD; Rozema–Gellman 인공 샤페론; PNIPAM/MSPM 리폴딩;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고분자 나노샤페론(ACS Nano 등); nanoMIP artificial chaperones (PNAS 2024 계열); 인공 샤페론 리뷰(2020–26).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LSD/ERT: idursulfase SoC; CNS-ERT(DNL310 등)는 전달 공학 — PEG 일반론과 별개로 구분.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한계: IDS 전용 PEG/인공샤페론 데이터가 풍부하지 않음 → 모델 단백질 근거 비율 높음.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규제·임상 상태 가변. 본 자료는 연구 설계용이지 치료 권고 아님.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다음 조사: IDS 또는 술파타제 접합 특허/논문 정독, M6P 유지 접목 전략 표.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Polymer applicability AUDIT  ·  evidence-ranked  ·  IDSX  ·  not treatment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