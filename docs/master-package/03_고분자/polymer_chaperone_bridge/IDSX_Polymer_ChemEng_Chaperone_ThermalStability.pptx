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6B4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POLYMER CHEMISTRY &amp; ENGINEERING  ·  BEYOND SMALL-MOLECULE CHAPERONES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고분자화학·공학 대안과
샤페론–고분자 합성의 접점
(열적 안정성 중심)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749039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4F0EB"/>
                </a:solidFill>
                <a:latin typeface="Apple SD Gothic Neo"/>
                <a:ea typeface="Apple SD Gothic Neo"/>
                <a:cs typeface="Apple SD Gothic Neo"/>
              </a:rPr>
              <a:t>PEGylation · 양쪽성 고분자 인공샤페론 · LCST 스마트 폴리머 · nanoMIP
글리코/쯔비터이온 고분자 · 하이드로겔 고정화 · 합성법(RAFT/ATRP/클릭)
IDSX: 열안정=온도계 · 고분자 해법은 ‘공정·제제·인공 샤페론’ 축으로 분리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6692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검토 노트 + 실행 가능한 제안  ·  치료 claim 없음  ·  2026-07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6B4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 · 왜 열안정에 고분자 해법이 유력한가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단백질 unfolding = 소수성 코어 노출 + 물 침투 + 응집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97280"/>
            <a:ext cx="5669280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B4C9A"/>
                </a:solidFill>
                <a:latin typeface="Apple SD Gothic Neo"/>
                <a:ea typeface="Apple SD Gothic Neo"/>
                <a:cs typeface="Apple SD Gothic Neo"/>
              </a:rPr>
              <a:t>고분자 관점의 물리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• 사슬 entropic shield: 물·프로테아제 접근↓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• 표면 hydration shell 재구성 (PEG, 쯔비터이온)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• 응집 억제: steric / electrosteric 안정화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• 국소 Tg·유리화 유사 효과 (동결건조 부형제)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• 가교·고정화: 전개 자유도 제한 → Tm↑ 가능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소분자 PC: 특정 결합 자리·접힘 평형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고분자: 표면·환경·제제·공정 스케일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→ 역할이 겹치되 동일하지 않음</a:t>
            </a:r>
          </a:p>
        </p:txBody>
      </p:sp>
      <p:pic>
        <p:nvPicPr>
          <p:cNvPr id="9" name="Picture 8" descr="fig1_Tm_shift_schem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188720"/>
            <a:ext cx="5577840" cy="348615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620256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Polymer Chem/Eng × Chaperone &amp; Thermal Stability  ·  IDSX landscape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620256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6B4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 · 세 층으로 나누기 (혼동 방지)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같은 ‘고분자’라도 개입 층이 다름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188720"/>
            <a:ext cx="3703320" cy="5029200"/>
          </a:xfrm>
          <a:prstGeom prst="roundRect">
            <a:avLst>
              <a:gd name="adj" fmla="val 6000"/>
            </a:avLst>
          </a:prstGeom>
          <a:solidFill>
            <a:srgbClr val="D4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3337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L1 세포 내 PC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3337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소분자 약리 샤페론
(IDSX 본선)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114800"/>
            <a:ext cx="3337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6B62"/>
                </a:solidFill>
                <a:latin typeface="Apple SD Gothic Neo"/>
                <a:ea typeface="Apple SD Gothic Neo"/>
                <a:cs typeface="Apple SD Gothic Neo"/>
              </a:rPr>
              <a:t>고분자는 보통 비주력
(투과·면역·분포)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188720"/>
            <a:ext cx="3703320" cy="5029200"/>
          </a:xfrm>
          <a:prstGeom prst="roundRect">
            <a:avLst>
              <a:gd name="adj" fmla="val 6000"/>
            </a:avLst>
          </a:prstGeom>
          <a:solidFill>
            <a:srgbClr val="FEF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463040"/>
            <a:ext cx="3337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L2 인공 샤페론
(in vitro 접힘)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468880"/>
            <a:ext cx="3337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양쪽성 폴리머·MIP
·LCST 사이클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4114800"/>
            <a:ext cx="3337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6B62"/>
                </a:solidFill>
                <a:latin typeface="Apple SD Gothic Neo"/>
                <a:ea typeface="Apple SD Gothic Neo"/>
                <a:cs typeface="Apple SD Gothic Neo"/>
              </a:rPr>
              <a:t>정제/리폴딩 공정
학부 실험 가능 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188720"/>
            <a:ext cx="3703320" cy="5029200"/>
          </a:xfrm>
          <a:prstGeom prst="roundRect">
            <a:avLst>
              <a:gd name="adj" fmla="val 6000"/>
            </a:avLst>
          </a:prstGeom>
          <a:solidFill>
            <a:srgbClr val="E0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463040"/>
            <a:ext cx="3337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L3 제제·접합체
열/단백질 안정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468880"/>
            <a:ext cx="3337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PEG·하이드로겔
고정화 효소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4114800"/>
            <a:ext cx="3337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6B62"/>
                </a:solidFill>
                <a:latin typeface="Apple SD Gothic Neo"/>
                <a:ea typeface="Apple SD Gothic Neo"/>
                <a:cs typeface="Apple SD Gothic Neo"/>
              </a:rPr>
              <a:t>재조합 IDS/ERT
안정화·유통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6620256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Polymer Chem/Eng × Chaperone &amp; Thermal Stability  ·  IDSX landscape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620256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6B4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 · 방법 카탈로그 (문헌에 존재하는 경로)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이렇다 할 방법 — 있음. 단 층(L2/L3)을 명시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097280"/>
            <a:ext cx="283464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97280"/>
            <a:ext cx="2834640" cy="502920"/>
          </a:xfrm>
          <a:prstGeom prst="rect">
            <a:avLst/>
          </a:prstGeom>
          <a:solidFill>
            <a:srgbClr val="6B4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1207008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PEGylation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83080"/>
            <a:ext cx="2560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공유 접합
Tm·반감기·응집↓
위치 의존적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1097280"/>
            <a:ext cx="283464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91840" y="1097280"/>
            <a:ext cx="2834640" cy="502920"/>
          </a:xfrm>
          <a:prstGeom prst="rect">
            <a:avLst/>
          </a:prstGeom>
          <a:solidFill>
            <a:srgbClr val="6B4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01568" y="1207008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양쪽성 고분자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1783080"/>
            <a:ext cx="2560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holdase 유사
소수성 포획 후
방출 리폴딩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097280"/>
            <a:ext cx="283464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097280"/>
            <a:ext cx="2834640" cy="502920"/>
          </a:xfrm>
          <a:prstGeom prst="rect">
            <a:avLst/>
          </a:prstGeom>
          <a:solidFill>
            <a:srgbClr val="6B4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1207008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PNIPAM 등 LCST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783080"/>
            <a:ext cx="2560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T&gt;LCST 복합
T↓ 방출·접힘
스마트 사이클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1097280"/>
            <a:ext cx="283464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35440" y="1097280"/>
            <a:ext cx="2834640" cy="502920"/>
          </a:xfrm>
          <a:prstGeom prst="rect">
            <a:avLst/>
          </a:prstGeom>
          <a:solidFill>
            <a:srgbClr val="6B4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45168" y="1207008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nanoMIP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1783080"/>
            <a:ext cx="2560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각인 공동
선택적 안정화
에피토프 유사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040" y="3749039"/>
            <a:ext cx="283464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3749039"/>
            <a:ext cx="2834640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8" y="3858767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쯔비터이온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434839"/>
            <a:ext cx="2560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강한 hydration
비특이 흡착↓
표면 코팅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91840" y="3749039"/>
            <a:ext cx="283464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91840" y="3749039"/>
            <a:ext cx="2834640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01568" y="3858767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하이드로겔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4434839"/>
            <a:ext cx="2560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고정화 효소
열·교반 안정
연속 반응기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3749039"/>
            <a:ext cx="283464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63640" y="3749039"/>
            <a:ext cx="2834640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73368" y="3858767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크로우딩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434839"/>
            <a:ext cx="2560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PEG/Ficoll
배제 부피
접힘 평형 이동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235440" y="3749039"/>
            <a:ext cx="283464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235440" y="3749039"/>
            <a:ext cx="2834640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45168" y="3858767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덴드리머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72600" y="4434839"/>
            <a:ext cx="2560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다가 소수성
응집 억제
독성 설계 필요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0040" y="6620256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Polymer Chem/Eng × Chaperone &amp; Thermal Stability  ·  IDSX landscape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620256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6B4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 · 인공 샤페론 사이클 ↔ 생체 샤페론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고분자 합성·콜로이드 설계의 본령</a:t>
            </a:r>
          </a:p>
        </p:txBody>
      </p:sp>
      <p:pic>
        <p:nvPicPr>
          <p:cNvPr id="6" name="Picture 5" descr="fig2_artificial_chaperone_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6949440" cy="324991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143000"/>
            <a:ext cx="4297680" cy="5029200"/>
          </a:xfrm>
          <a:prstGeom prst="roundRect">
            <a:avLst>
              <a:gd name="adj" fmla="val 6000"/>
            </a:avLst>
          </a:prstGeom>
          <a:solidFill>
            <a:srgbClr val="FEF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32588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89B0C"/>
                </a:solidFill>
                <a:latin typeface="Apple SD Gothic Neo"/>
                <a:ea typeface="Apple SD Gothic Neo"/>
                <a:cs typeface="Apple SD Gothic Neo"/>
              </a:rPr>
              <a:t>합성·설계 포인트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182880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1) Holdase: 소수성 블록이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 중간체/응집핵 포획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2) Release: 친수 전환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 (T, pH, CD, 효소)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3) 재사용 가능 지지체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IDSX 연결: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STEP2 핵형성·병렬 트랩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을 공정에서 억제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세포 투여 PC와 다름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— 정제/리폴딩 트랙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620256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Polymer Chem/Eng × Chaperone &amp; Thermal Stability  ·  IDSX landscape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620256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6B4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5 · 고분자 합성법과 어떻게 연결되는가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수업·랩에서 쓰는 합성이 곧 도구</a:t>
            </a:r>
          </a:p>
        </p:txBody>
      </p:sp>
      <p:pic>
        <p:nvPicPr>
          <p:cNvPr id="6" name="Picture 5" descr="fig3_synthesis_toolb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6400800" cy="3317433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858000" y="1097280"/>
            <a:ext cx="4937760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0" y="1325880"/>
            <a:ext cx="4572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RAFT / ATRP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→ 분자량 분산 제어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→ 양쪽성 블록 설계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→ LCST 미세 조정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자유라디칼 + 가교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→ 하이드로겔, MIP bulk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침전/에멀전 중합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→ nanoMIP 입자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NHS / maleimide / click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→ 부위선택 PEG 접합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→ 단백질–폴리머 공유결합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화학공학: 반응기 설계,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모노머 전환율, 정제 스케일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620256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Polymer Chem/Eng × Chaperone &amp; Thermal Stability  ·  IDSX landscape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620256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6/14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6B4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6 · ‘샤페론을 고분자 합성으로 연관’ — 가능한 맵핑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기능 대응표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3657600" cy="36576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24712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샤페론 기능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1051560"/>
            <a:ext cx="7680960" cy="36576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0" y="1124712"/>
            <a:ext cx="7543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고분자·합성 대응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463040"/>
            <a:ext cx="3657600" cy="713232"/>
          </a:xfrm>
          <a:prstGeom prst="rect">
            <a:avLst/>
          </a:prstGeom>
          <a:solidFill>
            <a:srgbClr val="D4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600200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holdase (응집 방지)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1463040"/>
            <a:ext cx="7680960" cy="713232"/>
          </a:xfrm>
          <a:prstGeom prst="rect">
            <a:avLst/>
          </a:prstGeom>
          <a:solidFill>
            <a:srgbClr val="D4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0" y="1600200"/>
            <a:ext cx="7543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양쪽성 코폴리머, 덴드리머, 계면활성 폴리머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240280"/>
            <a:ext cx="36576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377440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foldase (접힘 촉진)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0" y="2240280"/>
            <a:ext cx="768096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40" y="2377440"/>
            <a:ext cx="7543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자극응답 방출 사이클, 크로우딩 보조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017520"/>
            <a:ext cx="3657600" cy="713232"/>
          </a:xfrm>
          <a:prstGeom prst="rect">
            <a:avLst/>
          </a:prstGeom>
          <a:solidFill>
            <a:srgbClr val="D4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154680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disaggregase 유사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0" y="3017520"/>
            <a:ext cx="7680960" cy="713232"/>
          </a:xfrm>
          <a:prstGeom prst="rect">
            <a:avLst/>
          </a:prstGeom>
          <a:solidFill>
            <a:srgbClr val="D4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40" y="3154680"/>
            <a:ext cx="7543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계면활성+스트리핑제 2단 공정 (Rozema–Gellman 계열)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794760"/>
            <a:ext cx="36576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931920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선택적 인식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0" y="3794760"/>
            <a:ext cx="768096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06240" y="3931920"/>
            <a:ext cx="7543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nanoMIP — 에피토프 각인 (IDSX 표면 패치와 개념 동형)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572000"/>
            <a:ext cx="3657600" cy="713232"/>
          </a:xfrm>
          <a:prstGeom prst="rect">
            <a:avLst/>
          </a:prstGeom>
          <a:solidFill>
            <a:srgbClr val="D4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709160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열안정 제제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0" y="4572000"/>
            <a:ext cx="7680960" cy="713232"/>
          </a:xfrm>
          <a:prstGeom prst="rect">
            <a:avLst/>
          </a:prstGeom>
          <a:solidFill>
            <a:srgbClr val="D4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06240" y="4709160"/>
            <a:ext cx="7543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PEG·쯔비터이온·당고분자 접합/코팅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349240"/>
            <a:ext cx="36576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5486400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운전창 제어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0" y="5349240"/>
            <a:ext cx="768096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06240" y="5486400"/>
            <a:ext cx="7543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LCST/UCST, pH 해리 링커 — STEP7 Ki(pH) 고분자 버전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0040" y="6620256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Polymer Chem/Eng × Chaperone &amp; Thermal Stability  ·  IDSX landscape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6620256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7/14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6B4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7 · 열적 안정성 — 고분자 해법이 특히 강한 지점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IDSX: Tm은 온도계 · 제제 층에서는 목적 자체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97280"/>
            <a:ext cx="5669280" cy="5120640"/>
          </a:xfrm>
          <a:prstGeom prst="roundRect">
            <a:avLst>
              <a:gd name="adj" fmla="val 6000"/>
            </a:avLst>
          </a:prstGeom>
          <a:solidFill>
            <a:srgbClr val="E0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8E5A"/>
                </a:solidFill>
                <a:latin typeface="Apple SD Gothic Neo"/>
                <a:ea typeface="Apple SD Gothic Neo"/>
                <a:cs typeface="Apple SD Gothic Neo"/>
              </a:rPr>
              <a:t>공정·제제 (L3) — 실현성 높음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재조합 IDS / ERT 원료 효소에 대해: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• PEG 접합 → 열·단백분해 저항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(위치 선택적 합성 필수)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• 동결건조: 고분자 부형제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(PEG, 덱스트란, PVP)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• 고정화 반응기: 연속 운전,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열충격 내성↑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화학공학 실험 친화: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DSC/DSF Tm, 활성 잔존,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응집(DLS) 정량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097280"/>
            <a:ext cx="5577840" cy="5120640"/>
          </a:xfrm>
          <a:prstGeom prst="roundRect">
            <a:avLst>
              <a:gd name="adj" fmla="val 6000"/>
            </a:avLst>
          </a:prstGeom>
          <a:solidFill>
            <a:srgbClr val="FDE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2801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85D4C"/>
                </a:solidFill>
                <a:latin typeface="Apple SD Gothic Neo"/>
                <a:ea typeface="Apple SD Gothic Neo"/>
                <a:cs typeface="Apple SD Gothic Neo"/>
              </a:rPr>
              <a:t>세포 내 변이 효소 (L1) — 한계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783080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고분자 자체를 ER 샤페론으로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투여하는 것은: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• 세포 투과·엔도솜 탈출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• 면역원성·장기 축적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• 리소좀 표적화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이 병목 → 학부 본선으로 비권장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대신: 소분자 PC + 구조 triage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(IDSX) 유지, 고분자는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in vitro 안정·인공 샤페론 트랙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6620256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Polymer Chem/Eng × Chaperone &amp; Thermal Stability  ·  IDSX landscape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620256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6B4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8 · 이렇다 할 방법 — 구체 제안 4선 (우선순위)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화공·고분자 실험으로 실행 가능한 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097280"/>
            <a:ext cx="576072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97280"/>
            <a:ext cx="914400" cy="24688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0574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P1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325880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부위선택 PEG-IDS
(야생형 재조합)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103120"/>
            <a:ext cx="4480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합성: mPEG-NHS/말레이미드
측정: Tm, 활성, 응집
층: L3 제제 안정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097280"/>
            <a:ext cx="576072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097280"/>
            <a:ext cx="914400" cy="24688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0574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P2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1325880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RAFT 양쪽성 디블록
인공 샤페론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20" y="2103120"/>
            <a:ext cx="4480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합성: PEG-b-PNIPAM 등
측정: 리폴딩 수율
층: L2 공정 리폴딩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3749039"/>
            <a:ext cx="576072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3749039"/>
            <a:ext cx="914400" cy="2468880"/>
          </a:xfrm>
          <a:prstGeom prst="rect">
            <a:avLst/>
          </a:prstGeom>
          <a:solidFill>
            <a:srgbClr val="6B4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709159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P3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977639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nanoMIP vs 표면패치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4754879"/>
            <a:ext cx="4480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템플릿: 152 패치 펩티드
합성: 침전 중합
층: L2 선택 안정화 개념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3749039"/>
            <a:ext cx="576072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3749039"/>
            <a:ext cx="914400" cy="2468880"/>
          </a:xfrm>
          <a:prstGeom prst="rect">
            <a:avLst/>
          </a:prstGeom>
          <a:solidFill>
            <a:srgbClr val="6B4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709159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P4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3977639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LCST 사이클 최적화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0920" y="4754879"/>
            <a:ext cx="4480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합성: NIPAM 공단량체 조성
측정: LCST, 접힘 회수
층: L2 스마트 공정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6620256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Polymer Chem/Eng × Chaperone &amp; Thermal Stability  ·  IDSX landscape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620256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6B4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9 · 추천 1순위 상세: PEG–IDS 열안정 패키지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고분자 합성이 곧 실험 설계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97280"/>
            <a:ext cx="11430000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목표: 재조합 IDS(또는 모델 술파타제)의 Tm·열불활성화 반감기 개선 (L3).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합성: (i) 말단 NHS 또는 maleimide mPEG (2–20 kDa) (ii) Lys/Cys 부위 반응 (iii) 투석·SEC 정제.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설계 변수: PEG 분자량, 접목도(DS), 부위(활성점 원거리 — 6.5Å 철학과 동일).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측정: nanoDSF/DSC Tm, 37–50°C 잔존 활성, DLS 응집, (가능 시) 단백분해 저항.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성공 기준 예: ΔTm ≥ +2 °C 또는 t1/2 열실활 ≥ 1.5× (사전등록).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IDSX 연결: ‘열안정 온도계’를 고분자 변수로 직접 조작 — PC claim과 분리된 제제 논문 가능.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위험: 활성 저하, 불균일 접목 — 부위선택 화학·분석(SDS-PAGE, MALDI) 필수.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620256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Polymer Chem/Eng × Chaperone &amp; Thermal Stability  ·  IDSX landscape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620256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10/14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6B4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10 · 제안 2–3: 인공 샤페론 · MIP (합성 중심)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샤페론 기능을 고분자로 ‘모사’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097280"/>
            <a:ext cx="5669280" cy="5120640"/>
          </a:xfrm>
          <a:prstGeom prst="roundRect">
            <a:avLst>
              <a:gd name="adj" fmla="val 6000"/>
            </a:avLst>
          </a:prstGeom>
          <a:solidFill>
            <a:srgbClr val="FEF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9B0C"/>
                </a:solidFill>
                <a:latin typeface="Apple SD Gothic Neo"/>
                <a:ea typeface="Apple SD Gothic Neo"/>
                <a:cs typeface="Apple SD Gothic Neo"/>
              </a:rPr>
              <a:t>P2 RAFT 양쪽성 디블록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830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합성 예: mPEG-CTA + NIPAM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또는 styrene/NIPAM 블록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특성: Mn, Đ, CMC, LCST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프로토콜: 변성 IDS 모델 단백질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+ 폴리머 hold → 자극 방출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→ 활성 회수율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화공: 중합 반응기, 전환율,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정제 스케일업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문헌: 인공 샤페론·MSPM 계열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097280"/>
            <a:ext cx="5669280" cy="5120640"/>
          </a:xfrm>
          <a:prstGeom prst="roundRect">
            <a:avLst>
              <a:gd name="adj" fmla="val 6000"/>
            </a:avLst>
          </a:prstGeom>
          <a:solidFill>
            <a:srgbClr val="ED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280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B4C9A"/>
                </a:solidFill>
                <a:latin typeface="Apple SD Gothic Neo"/>
                <a:ea typeface="Apple SD Gothic Neo"/>
                <a:cs typeface="Apple SD Gothic Neo"/>
              </a:rPr>
              <a:t>P3 nanoMIP ↔ 에피토프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7830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템플릿: Ser152 인접 패치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펩티드 (Y151–S154 등)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합성: 기능성 모노머 + 가교제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침전 중합 → 나노입자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가설: 각인 공동이 국소 구조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고정 → 열/응집 저항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IDSX 동형성: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hotspot ≠ binding site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→ template = surface patch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한계: 선택성·누출·생체 적용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6620256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Polymer Chem/Eng × Chaperone &amp; Thermal Stability  ·  IDSX landscape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620256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6B4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11 · 반응·촉매 공학 프레임과의 융합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고분자 = 또 다른 ‘첨가제/담지체’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2103120" cy="36576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17043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기호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0" y="1097280"/>
            <a:ext cx="3749039" cy="36576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33472" y="1170432"/>
            <a:ext cx="365759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소분자 PC 축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097280"/>
            <a:ext cx="5029200" cy="36576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117043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고분자 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508760"/>
            <a:ext cx="2103120" cy="713232"/>
          </a:xfrm>
          <a:prstGeom prst="rect">
            <a:avLst/>
          </a:prstGeom>
          <a:solidFill>
            <a:srgbClr val="D4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" y="16459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선택도 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0" y="1508760"/>
            <a:ext cx="3749039" cy="713232"/>
          </a:xfrm>
          <a:prstGeom prst="rect">
            <a:avLst/>
          </a:prstGeom>
          <a:solidFill>
            <a:srgbClr val="D4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33472" y="1645920"/>
            <a:ext cx="36575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소분자: Kd 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508760"/>
            <a:ext cx="5029200" cy="713232"/>
          </a:xfrm>
          <a:prstGeom prst="rect">
            <a:avLst/>
          </a:prstGeom>
          <a:solidFill>
            <a:srgbClr val="D4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3952" y="164592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고분자: 조성·HLB·각인 선택성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286000"/>
            <a:ext cx="21031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" y="242316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전환율 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60320" y="2286000"/>
            <a:ext cx="3749039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33472" y="2423160"/>
            <a:ext cx="36575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접힘 η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2286000"/>
            <a:ext cx="50292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2" y="242316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리폴딩 수율, 회수 활성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063240"/>
            <a:ext cx="2103120" cy="713232"/>
          </a:xfrm>
          <a:prstGeom prst="rect">
            <a:avLst/>
          </a:prstGeom>
          <a:solidFill>
            <a:srgbClr val="D4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" y="32004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Ki 창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60320" y="3063240"/>
            <a:ext cx="3749039" cy="713232"/>
          </a:xfrm>
          <a:prstGeom prst="rect">
            <a:avLst/>
          </a:prstGeom>
          <a:solidFill>
            <a:srgbClr val="D4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33472" y="3200400"/>
            <a:ext cx="36575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pH-의존 소분자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3063240"/>
            <a:ext cx="5029200" cy="713232"/>
          </a:xfrm>
          <a:prstGeom prst="rect">
            <a:avLst/>
          </a:prstGeom>
          <a:solidFill>
            <a:srgbClr val="D4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73952" y="320040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LCST/pH 링커 고분자 방출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3840480"/>
            <a:ext cx="21031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8912" y="39776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담지체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60320" y="3840480"/>
            <a:ext cx="3749039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33472" y="3977640"/>
            <a:ext cx="36575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표면 바인더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3840480"/>
            <a:ext cx="50292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73952" y="397764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하이드로겔·MIP 매트릭스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617720"/>
            <a:ext cx="2103120" cy="713232"/>
          </a:xfrm>
          <a:prstGeom prst="rect">
            <a:avLst/>
          </a:prstGeom>
          <a:solidFill>
            <a:srgbClr val="D4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8912" y="4754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수명 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0" y="4617720"/>
            <a:ext cx="3749039" cy="713232"/>
          </a:xfrm>
          <a:prstGeom prst="rect">
            <a:avLst/>
          </a:prstGeom>
          <a:solidFill>
            <a:srgbClr val="D4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633472" y="4754880"/>
            <a:ext cx="36575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ERAD 저항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0" y="4617720"/>
            <a:ext cx="5029200" cy="713232"/>
          </a:xfrm>
          <a:prstGeom prst="rect">
            <a:avLst/>
          </a:prstGeom>
          <a:solidFill>
            <a:srgbClr val="D4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73952" y="47548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PEG 실드, 고정화 k_d↓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5394960"/>
            <a:ext cx="21031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8912" y="55321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스케일업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560320" y="5394960"/>
            <a:ext cx="3749039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633472" y="5532120"/>
            <a:ext cx="36575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세포 파일럿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0" y="5394960"/>
            <a:ext cx="50292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73952" y="553212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중합 반응기·정제 공정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0040" y="6620256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Polymer Chem/Eng × Chaperone &amp; Thermal Stability  ·  IDSX landscape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15600" y="6620256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6B4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12 · 언제 고분자를 쓰고, 언제 소분자 PC인가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의사결정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143000"/>
            <a:ext cx="5577840" cy="5029200"/>
          </a:xfrm>
          <a:prstGeom prst="roundRect">
            <a:avLst>
              <a:gd name="adj" fmla="val 6000"/>
            </a:avLst>
          </a:prstGeom>
          <a:solidFill>
            <a:srgbClr val="D4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A6B62"/>
                </a:solidFill>
                <a:latin typeface="Apple SD Gothic Neo"/>
                <a:ea typeface="Apple SD Gothic Neo"/>
                <a:cs typeface="Apple SD Gothic Neo"/>
              </a:rPr>
              <a:t>고분자 우선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5212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• 재조합 효소 제제·유통 안정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• 리폴딩/정제 수율 (공정)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• 열·전단·동결 스트레스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• 학부 합성 실험 가능 범위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• Tm을 ‘목적’으로 둘 때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(제제 논문 트랙)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43000"/>
            <a:ext cx="5577840" cy="5029200"/>
          </a:xfrm>
          <a:prstGeom prst="roundRect">
            <a:avLst>
              <a:gd name="adj" fmla="val 6000"/>
            </a:avLst>
          </a:prstGeom>
          <a:solidFill>
            <a:srgbClr val="FEF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3258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9B0C"/>
                </a:solidFill>
                <a:latin typeface="Apple SD Gothic Neo"/>
                <a:ea typeface="Apple SD Gothic Neo"/>
                <a:cs typeface="Apple SD Gothic Neo"/>
              </a:rPr>
              <a:t>소분자 PC / 구조 triage 우선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20240"/>
            <a:ext cx="5212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• 세포 내 변이 효소 구제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• genotype-selective 논리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• 경구·저분자 약물 공간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• IDSX amenability 본선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• Tm은 대리 지표로만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6620256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Polymer Chem/Eng × Chaperone &amp; Thermal Stability  ·  IDSX landscape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620256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13/14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6B4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13 · 결론 · 제안 한 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방법이 있다 — 층을 지키면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88720"/>
            <a:ext cx="11338560" cy="2286000"/>
          </a:xfrm>
          <a:prstGeom prst="roundRect">
            <a:avLst>
              <a:gd name="adj" fmla="val 6000"/>
            </a:avLst>
          </a:prstGeom>
          <a:solidFill>
            <a:srgbClr val="D4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고분자화학·공학은 샤페론 ‘기능’을 합성 가능한 재료로 모사하고,
특히 열·응집 안정(L3)과 리폴딩 공정(L2)에서 이렇다 할 해법을 제공한다.
세포 내 약리 샤페론(L1)은 소분자·구조 triage가 본선이며, 둘을 섞어 claim하지 않는다.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49039"/>
            <a:ext cx="108813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즉시 실행 추천: P1 PEG–IDS(모델 효소) 열안정 패키지 — 합성·Tm·활성 삼각측정.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중기: P2 RAFT 디블록 인공 샤페론 리폴딩 수율.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개념 연결: P3 nanoMIP ↔ IDSX 표면 에피토프 (논문 Discussion 소재).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Non-claim: 고분자 = Hunter 치료제 확정 아님. 공정·제제·인공 샤페론 연구 축.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620256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Polymer Chem/Eng × Chaperone &amp; Thermal Stability  ·  IDSX landscape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620256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