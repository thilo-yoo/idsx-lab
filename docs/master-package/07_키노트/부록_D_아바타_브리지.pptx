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49240"/>
            <a:ext cx="12191695" cy="150876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10972800" cy="320040"/>
          </a:xfrm>
          <a:prstGeom prst="rect">
            <a:avLst/>
          </a:prstGeom>
          <a:noFill/>
        </p:spPr>
        <p:txBody>
          <a:bodyPr wrap="square">
            <a:spAutoFit/>
          </a:bodyPr>
          <a:lstStyle/>
          <a:p>
            <a:pPr algn="l"/>
            <a:r>
              <a:rPr sz="1300" b="1">
                <a:solidFill>
                  <a:srgbClr val="5EE0C5"/>
                </a:solidFill>
                <a:latin typeface="Apple SD Gothic Neo"/>
                <a:ea typeface="Apple SD Gothic Neo"/>
                <a:cs typeface="Apple SD Gothic Neo"/>
              </a:rPr>
              <a:t>ENTERPRISE BRIDGE  ·  PUBLIC RESEARCH  ·  2026-07</a:t>
            </a:r>
          </a:p>
        </p:txBody>
      </p:sp>
      <p:sp>
        <p:nvSpPr>
          <p:cNvPr id="5" name="TextBox 4"/>
          <p:cNvSpPr txBox="1"/>
          <p:nvPr/>
        </p:nvSpPr>
        <p:spPr>
          <a:xfrm>
            <a:off x="502920" y="1554480"/>
            <a:ext cx="10972800" cy="1645920"/>
          </a:xfrm>
          <a:prstGeom prst="rect">
            <a:avLst/>
          </a:prstGeom>
          <a:noFill/>
        </p:spPr>
        <p:txBody>
          <a:bodyPr wrap="square">
            <a:spAutoFit/>
          </a:bodyPr>
          <a:lstStyle/>
          <a:p>
            <a:pPr algn="l"/>
            <a:r>
              <a:rPr sz="3000" b="1">
                <a:solidFill>
                  <a:srgbClr val="FFFFFF"/>
                </a:solidFill>
                <a:latin typeface="Apple SD Gothic Neo"/>
                <a:ea typeface="Apple SD Gothic Neo"/>
                <a:cs typeface="Apple SD Gothic Neo"/>
              </a:rPr>
              <a:t>(주)아바타테라퓨틱스
과제·국책사업 조사 및
IDSX 프로젝트 반영 방안</a:t>
            </a:r>
          </a:p>
        </p:txBody>
      </p:sp>
      <p:sp>
        <p:nvSpPr>
          <p:cNvPr id="6" name="TextBox 5"/>
          <p:cNvSpPr txBox="1"/>
          <p:nvPr/>
        </p:nvSpPr>
        <p:spPr>
          <a:xfrm>
            <a:off x="502920" y="3566160"/>
            <a:ext cx="10972800" cy="1188720"/>
          </a:xfrm>
          <a:prstGeom prst="rect">
            <a:avLst/>
          </a:prstGeom>
          <a:noFill/>
        </p:spPr>
        <p:txBody>
          <a:bodyPr wrap="square">
            <a:spAutoFit/>
          </a:bodyPr>
          <a:lstStyle/>
          <a:p>
            <a:pPr algn="l"/>
            <a:r>
              <a:rPr sz="1400" b="0">
                <a:solidFill>
                  <a:srgbClr val="D4F0EB"/>
                </a:solidFill>
                <a:latin typeface="Apple SD Gothic Neo"/>
                <a:ea typeface="Apple SD Gothic Neo"/>
                <a:cs typeface="Apple SD Gothic Neo"/>
              </a:rPr>
              <a:t>AAVATAR Therapeutics  ·  AAV gene therapy platform  ·  LSD pipeline
연결 대상: IDSX (IDS / Hunter / 5FQL structure-guided chaperone triage)
목적: 기업·국책 맥락 이해 → 내 연구 포지셔닝·포트폴리오·면담 언어 구체화</a:t>
            </a:r>
          </a:p>
        </p:txBody>
      </p:sp>
      <p:sp>
        <p:nvSpPr>
          <p:cNvPr id="7" name="TextBox 6"/>
          <p:cNvSpPr txBox="1"/>
          <p:nvPr/>
        </p:nvSpPr>
        <p:spPr>
          <a:xfrm>
            <a:off x="502920" y="5623560"/>
            <a:ext cx="10972800" cy="822960"/>
          </a:xfrm>
          <a:prstGeom prst="rect">
            <a:avLst/>
          </a:prstGeom>
          <a:noFill/>
        </p:spPr>
        <p:txBody>
          <a:bodyPr wrap="square">
            <a:spAutoFit/>
          </a:bodyPr>
          <a:lstStyle/>
          <a:p>
            <a:pPr algn="l"/>
            <a:r>
              <a:rPr sz="1200" b="0">
                <a:solidFill>
                  <a:srgbClr val="FFFFFF"/>
                </a:solidFill>
                <a:latin typeface="Apple SD Gothic Neo"/>
                <a:ea typeface="Apple SD Gothic Neo"/>
                <a:cs typeface="Apple SD Gothic Neo"/>
              </a:rPr>
              <a:t>공개 웹·보도·기업 연혁 기반  ·  회사 소속·공식 협약 주장 아님
Sources: aavatartps.com · THE VC · 바이오스펙테이터 · 히트뉴스 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1 · 기업 스냅샷</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공식 명칭: (주)아바타테라퓨틱스 · AAVATAR Therapeutics</a:t>
            </a:r>
          </a:p>
        </p:txBody>
      </p:sp>
      <p:sp>
        <p:nvSpPr>
          <p:cNvPr id="6" name="Rounded Rectangle 5"/>
          <p:cNvSpPr/>
          <p:nvPr/>
        </p:nvSpPr>
        <p:spPr>
          <a:xfrm>
            <a:off x="365760" y="1143000"/>
            <a:ext cx="3703320" cy="23774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43000"/>
            <a:ext cx="3703320" cy="4572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34440"/>
            <a:ext cx="3429000" cy="320040"/>
          </a:xfrm>
          <a:prstGeom prst="rect">
            <a:avLst/>
          </a:prstGeom>
          <a:noFill/>
        </p:spPr>
        <p:txBody>
          <a:bodyPr wrap="square">
            <a:spAutoFit/>
          </a:bodyPr>
          <a:lstStyle/>
          <a:p>
            <a:pPr algn="l"/>
            <a:r>
              <a:rPr sz="1400" b="1">
                <a:solidFill>
                  <a:srgbClr val="FFFFFF"/>
                </a:solidFill>
                <a:latin typeface="Apple SD Gothic Neo"/>
                <a:ea typeface="Apple SD Gothic Neo"/>
                <a:cs typeface="Apple SD Gothic Neo"/>
              </a:rPr>
              <a:t>설립</a:t>
            </a:r>
          </a:p>
        </p:txBody>
      </p:sp>
      <p:sp>
        <p:nvSpPr>
          <p:cNvPr id="9" name="TextBox 8"/>
          <p:cNvSpPr txBox="1"/>
          <p:nvPr/>
        </p:nvSpPr>
        <p:spPr>
          <a:xfrm>
            <a:off x="548640" y="1828800"/>
            <a:ext cx="3337560" cy="1463040"/>
          </a:xfrm>
          <a:prstGeom prst="rect">
            <a:avLst/>
          </a:prstGeom>
          <a:noFill/>
        </p:spPr>
        <p:txBody>
          <a:bodyPr wrap="square">
            <a:spAutoFit/>
          </a:bodyPr>
          <a:lstStyle/>
          <a:p>
            <a:pPr algn="l"/>
            <a:r>
              <a:rPr sz="1600" b="0">
                <a:solidFill>
                  <a:srgbClr val="1A2A36"/>
                </a:solidFill>
                <a:latin typeface="Apple SD Gothic Neo"/>
                <a:ea typeface="Apple SD Gothic Neo"/>
                <a:cs typeface="Apple SD Gothic Neo"/>
              </a:rPr>
              <a:t>2020년 9월
하남 본사 · 강동 지점</a:t>
            </a:r>
          </a:p>
        </p:txBody>
      </p:sp>
      <p:sp>
        <p:nvSpPr>
          <p:cNvPr id="10" name="Rounded Rectangle 9"/>
          <p:cNvSpPr/>
          <p:nvPr/>
        </p:nvSpPr>
        <p:spPr>
          <a:xfrm>
            <a:off x="4251960" y="1143000"/>
            <a:ext cx="3703320" cy="23774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143000"/>
            <a:ext cx="3703320" cy="4572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234440"/>
            <a:ext cx="3429000" cy="320040"/>
          </a:xfrm>
          <a:prstGeom prst="rect">
            <a:avLst/>
          </a:prstGeom>
          <a:noFill/>
        </p:spPr>
        <p:txBody>
          <a:bodyPr wrap="square">
            <a:spAutoFit/>
          </a:bodyPr>
          <a:lstStyle/>
          <a:p>
            <a:pPr algn="l"/>
            <a:r>
              <a:rPr sz="1400" b="1">
                <a:solidFill>
                  <a:srgbClr val="FFFFFF"/>
                </a:solidFill>
                <a:latin typeface="Apple SD Gothic Neo"/>
                <a:ea typeface="Apple SD Gothic Neo"/>
                <a:cs typeface="Apple SD Gothic Neo"/>
              </a:rPr>
              <a:t>대표</a:t>
            </a:r>
          </a:p>
        </p:txBody>
      </p:sp>
      <p:sp>
        <p:nvSpPr>
          <p:cNvPr id="13" name="TextBox 12"/>
          <p:cNvSpPr txBox="1"/>
          <p:nvPr/>
        </p:nvSpPr>
        <p:spPr>
          <a:xfrm>
            <a:off x="4434840" y="1828800"/>
            <a:ext cx="3337560" cy="1463040"/>
          </a:xfrm>
          <a:prstGeom prst="rect">
            <a:avLst/>
          </a:prstGeom>
          <a:noFill/>
        </p:spPr>
        <p:txBody>
          <a:bodyPr wrap="square">
            <a:spAutoFit/>
          </a:bodyPr>
          <a:lstStyle/>
          <a:p>
            <a:pPr algn="l"/>
            <a:r>
              <a:rPr sz="1600" b="0">
                <a:solidFill>
                  <a:srgbClr val="1A2A36"/>
                </a:solidFill>
                <a:latin typeface="Apple SD Gothic Neo"/>
                <a:ea typeface="Apple SD Gothic Neo"/>
                <a:cs typeface="Apple SD Gothic Neo"/>
              </a:rPr>
              <a:t>조승희
CMC 본부장 겸직</a:t>
            </a:r>
          </a:p>
        </p:txBody>
      </p:sp>
      <p:sp>
        <p:nvSpPr>
          <p:cNvPr id="14" name="Rounded Rectangle 13"/>
          <p:cNvSpPr/>
          <p:nvPr/>
        </p:nvSpPr>
        <p:spPr>
          <a:xfrm>
            <a:off x="8138160" y="1143000"/>
            <a:ext cx="3703320" cy="23774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143000"/>
            <a:ext cx="3703320" cy="4572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234440"/>
            <a:ext cx="3429000" cy="320040"/>
          </a:xfrm>
          <a:prstGeom prst="rect">
            <a:avLst/>
          </a:prstGeom>
          <a:noFill/>
        </p:spPr>
        <p:txBody>
          <a:bodyPr wrap="square">
            <a:spAutoFit/>
          </a:bodyPr>
          <a:lstStyle/>
          <a:p>
            <a:pPr algn="l"/>
            <a:r>
              <a:rPr sz="1400" b="1">
                <a:solidFill>
                  <a:srgbClr val="FFFFFF"/>
                </a:solidFill>
                <a:latin typeface="Apple SD Gothic Neo"/>
                <a:ea typeface="Apple SD Gothic Neo"/>
                <a:cs typeface="Apple SD Gothic Neo"/>
              </a:rPr>
              <a:t>정체성</a:t>
            </a:r>
          </a:p>
        </p:txBody>
      </p:sp>
      <p:sp>
        <p:nvSpPr>
          <p:cNvPr id="17" name="TextBox 16"/>
          <p:cNvSpPr txBox="1"/>
          <p:nvPr/>
        </p:nvSpPr>
        <p:spPr>
          <a:xfrm>
            <a:off x="8321040" y="1828800"/>
            <a:ext cx="3337560" cy="1463040"/>
          </a:xfrm>
          <a:prstGeom prst="rect">
            <a:avLst/>
          </a:prstGeom>
          <a:noFill/>
        </p:spPr>
        <p:txBody>
          <a:bodyPr wrap="square">
            <a:spAutoFit/>
          </a:bodyPr>
          <a:lstStyle/>
          <a:p>
            <a:pPr algn="l"/>
            <a:r>
              <a:rPr sz="1600" b="0">
                <a:solidFill>
                  <a:srgbClr val="1A2A36"/>
                </a:solidFill>
                <a:latin typeface="Apple SD Gothic Neo"/>
                <a:ea typeface="Apple SD Gothic Neo"/>
                <a:cs typeface="Apple SD Gothic Neo"/>
              </a:rPr>
              <a:t>AAV 유전자치료
플랫폼 + 파이프라인</a:t>
            </a:r>
          </a:p>
        </p:txBody>
      </p:sp>
      <p:sp>
        <p:nvSpPr>
          <p:cNvPr id="18" name="Rounded Rectangle 17"/>
          <p:cNvSpPr/>
          <p:nvPr/>
        </p:nvSpPr>
        <p:spPr>
          <a:xfrm>
            <a:off x="365760" y="3749039"/>
            <a:ext cx="3703320" cy="23774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749039"/>
            <a:ext cx="3703320" cy="4572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840479"/>
            <a:ext cx="3429000" cy="320040"/>
          </a:xfrm>
          <a:prstGeom prst="rect">
            <a:avLst/>
          </a:prstGeom>
          <a:noFill/>
        </p:spPr>
        <p:txBody>
          <a:bodyPr wrap="square">
            <a:spAutoFit/>
          </a:bodyPr>
          <a:lstStyle/>
          <a:p>
            <a:pPr algn="l"/>
            <a:r>
              <a:rPr sz="1400" b="1">
                <a:solidFill>
                  <a:srgbClr val="FFFFFF"/>
                </a:solidFill>
                <a:latin typeface="Apple SD Gothic Neo"/>
                <a:ea typeface="Apple SD Gothic Neo"/>
                <a:cs typeface="Apple SD Gothic Neo"/>
              </a:rPr>
              <a:t>투자</a:t>
            </a:r>
          </a:p>
        </p:txBody>
      </p:sp>
      <p:sp>
        <p:nvSpPr>
          <p:cNvPr id="21" name="TextBox 20"/>
          <p:cNvSpPr txBox="1"/>
          <p:nvPr/>
        </p:nvSpPr>
        <p:spPr>
          <a:xfrm>
            <a:off x="548640" y="4434839"/>
            <a:ext cx="3337560" cy="1463040"/>
          </a:xfrm>
          <a:prstGeom prst="rect">
            <a:avLst/>
          </a:prstGeom>
          <a:noFill/>
        </p:spPr>
        <p:txBody>
          <a:bodyPr wrap="square">
            <a:spAutoFit/>
          </a:bodyPr>
          <a:lstStyle/>
          <a:p>
            <a:pPr algn="l"/>
            <a:r>
              <a:rPr sz="1600" b="0">
                <a:solidFill>
                  <a:srgbClr val="1A2A36"/>
                </a:solidFill>
                <a:latin typeface="Apple SD Gothic Neo"/>
                <a:ea typeface="Apple SD Gothic Neo"/>
                <a:cs typeface="Apple SD Gothic Neo"/>
              </a:rPr>
              <a:t>2023.10 시리즈A
약 50억 원</a:t>
            </a:r>
          </a:p>
        </p:txBody>
      </p:sp>
      <p:sp>
        <p:nvSpPr>
          <p:cNvPr id="22" name="Rounded Rectangle 21"/>
          <p:cNvSpPr/>
          <p:nvPr/>
        </p:nvSpPr>
        <p:spPr>
          <a:xfrm>
            <a:off x="4251960" y="3749039"/>
            <a:ext cx="3703320" cy="23774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3749039"/>
            <a:ext cx="3703320" cy="4572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3840479"/>
            <a:ext cx="3429000" cy="320040"/>
          </a:xfrm>
          <a:prstGeom prst="rect">
            <a:avLst/>
          </a:prstGeom>
          <a:noFill/>
        </p:spPr>
        <p:txBody>
          <a:bodyPr wrap="square">
            <a:spAutoFit/>
          </a:bodyPr>
          <a:lstStyle/>
          <a:p>
            <a:pPr algn="l"/>
            <a:r>
              <a:rPr sz="1400" b="1">
                <a:solidFill>
                  <a:srgbClr val="FFFFFF"/>
                </a:solidFill>
                <a:latin typeface="Apple SD Gothic Neo"/>
                <a:ea typeface="Apple SD Gothic Neo"/>
                <a:cs typeface="Apple SD Gothic Neo"/>
              </a:rPr>
              <a:t>규모</a:t>
            </a:r>
          </a:p>
        </p:txBody>
      </p:sp>
      <p:sp>
        <p:nvSpPr>
          <p:cNvPr id="25" name="TextBox 24"/>
          <p:cNvSpPr txBox="1"/>
          <p:nvPr/>
        </p:nvSpPr>
        <p:spPr>
          <a:xfrm>
            <a:off x="4434840" y="4434839"/>
            <a:ext cx="3337560" cy="1463040"/>
          </a:xfrm>
          <a:prstGeom prst="rect">
            <a:avLst/>
          </a:prstGeom>
          <a:noFill/>
        </p:spPr>
        <p:txBody>
          <a:bodyPr wrap="square">
            <a:spAutoFit/>
          </a:bodyPr>
          <a:lstStyle/>
          <a:p>
            <a:pPr algn="l"/>
            <a:r>
              <a:rPr sz="1600" b="0">
                <a:solidFill>
                  <a:srgbClr val="1A2A36"/>
                </a:solidFill>
                <a:latin typeface="Apple SD Gothic Neo"/>
                <a:ea typeface="Apple SD Gothic Neo"/>
                <a:cs typeface="Apple SD Gothic Neo"/>
              </a:rPr>
              <a:t>임직원 ~17–18명
(국민연금 기준 공개)</a:t>
            </a:r>
          </a:p>
        </p:txBody>
      </p:sp>
      <p:sp>
        <p:nvSpPr>
          <p:cNvPr id="26" name="Rounded Rectangle 25"/>
          <p:cNvSpPr/>
          <p:nvPr/>
        </p:nvSpPr>
        <p:spPr>
          <a:xfrm>
            <a:off x="8138160" y="3749039"/>
            <a:ext cx="3703320" cy="23774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3749039"/>
            <a:ext cx="3703320" cy="4572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3840479"/>
            <a:ext cx="3429000" cy="320040"/>
          </a:xfrm>
          <a:prstGeom prst="rect">
            <a:avLst/>
          </a:prstGeom>
          <a:noFill/>
        </p:spPr>
        <p:txBody>
          <a:bodyPr wrap="square">
            <a:spAutoFit/>
          </a:bodyPr>
          <a:lstStyle/>
          <a:p>
            <a:pPr algn="l"/>
            <a:r>
              <a:rPr sz="1400" b="1">
                <a:solidFill>
                  <a:srgbClr val="FFFFFF"/>
                </a:solidFill>
                <a:latin typeface="Apple SD Gothic Neo"/>
                <a:ea typeface="Apple SD Gothic Neo"/>
                <a:cs typeface="Apple SD Gothic Neo"/>
              </a:rPr>
              <a:t>주 질환</a:t>
            </a:r>
          </a:p>
        </p:txBody>
      </p:sp>
      <p:sp>
        <p:nvSpPr>
          <p:cNvPr id="29" name="TextBox 28"/>
          <p:cNvSpPr txBox="1"/>
          <p:nvPr/>
        </p:nvSpPr>
        <p:spPr>
          <a:xfrm>
            <a:off x="8321040" y="4434839"/>
            <a:ext cx="3337560" cy="1463040"/>
          </a:xfrm>
          <a:prstGeom prst="rect">
            <a:avLst/>
          </a:prstGeom>
          <a:noFill/>
        </p:spPr>
        <p:txBody>
          <a:bodyPr wrap="square">
            <a:spAutoFit/>
          </a:bodyPr>
          <a:lstStyle/>
          <a:p>
            <a:pPr algn="l"/>
            <a:r>
              <a:rPr sz="1600" b="0">
                <a:solidFill>
                  <a:srgbClr val="1A2A36"/>
                </a:solidFill>
                <a:latin typeface="Apple SD Gothic Neo"/>
                <a:ea typeface="Apple SD Gothic Neo"/>
                <a:cs typeface="Apple SD Gothic Neo"/>
              </a:rPr>
              <a:t>LSD · 유전성 난청
CNS · 안구</a:t>
            </a:r>
          </a:p>
        </p:txBody>
      </p:sp>
      <p:sp>
        <p:nvSpPr>
          <p:cNvPr id="30" name="Rectangle 29"/>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32" name="TextBox 31"/>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2/14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2 · 리더십·조직 시그널 (공개 이력)</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면담·포트폴리오 언어에 쓰는 팩트</a:t>
            </a:r>
          </a:p>
        </p:txBody>
      </p:sp>
      <p:sp>
        <p:nvSpPr>
          <p:cNvPr id="6" name="Rounded Rectangle 5"/>
          <p:cNvSpPr/>
          <p:nvPr/>
        </p:nvSpPr>
        <p:spPr>
          <a:xfrm>
            <a:off x="365760" y="1143000"/>
            <a:ext cx="5669280" cy="5029200"/>
          </a:xfrm>
          <a:prstGeom prst="roundRect">
            <a:avLst>
              <a:gd name="adj" fmla="val 6000"/>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5303520" cy="365760"/>
          </a:xfrm>
          <a:prstGeom prst="rect">
            <a:avLst/>
          </a:prstGeom>
          <a:noFill/>
        </p:spPr>
        <p:txBody>
          <a:bodyPr wrap="square">
            <a:spAutoFit/>
          </a:bodyPr>
          <a:lstStyle/>
          <a:p>
            <a:pPr algn="l"/>
            <a:r>
              <a:rPr sz="1500" b="1">
                <a:solidFill>
                  <a:srgbClr val="4C6EAF"/>
                </a:solidFill>
                <a:latin typeface="Apple SD Gothic Neo"/>
                <a:ea typeface="Apple SD Gothic Neo"/>
                <a:cs typeface="Apple SD Gothic Neo"/>
              </a:rPr>
              <a:t>핵심 인력 (공식 About)</a:t>
            </a:r>
          </a:p>
        </p:txBody>
      </p:sp>
      <p:sp>
        <p:nvSpPr>
          <p:cNvPr id="8" name="TextBox 7"/>
          <p:cNvSpPr txBox="1"/>
          <p:nvPr/>
        </p:nvSpPr>
        <p:spPr>
          <a:xfrm>
            <a:off x="548640" y="1828800"/>
            <a:ext cx="5303520" cy="4114800"/>
          </a:xfrm>
          <a:prstGeom prst="rect">
            <a:avLst/>
          </a:prstGeom>
          <a:noFill/>
        </p:spPr>
        <p:txBody>
          <a:bodyPr wrap="square">
            <a:spAutoFit/>
          </a:bodyPr>
          <a:lstStyle/>
          <a:p>
            <a:pPr>
              <a:spcAft>
                <a:spcPts val="500"/>
              </a:spcAft>
            </a:pPr>
            <a:r>
              <a:rPr sz="1300" b="0">
                <a:solidFill>
                  <a:srgbClr val="1A2A36"/>
                </a:solidFill>
                <a:latin typeface="Apple SD Gothic Neo"/>
                <a:ea typeface="Apple SD Gothic Neo"/>
                <a:cs typeface="Apple SD Gothic Neo"/>
              </a:rPr>
              <a:t>• 조승희 대표·CMC: Minnesota 생화학/생물물리 박사,</a:t>
            </a:r>
          </a:p>
          <a:p>
            <a:pPr>
              <a:spcAft>
                <a:spcPts val="500"/>
              </a:spcAft>
            </a:pPr>
            <a:r>
              <a:rPr sz="1300" b="0">
                <a:solidFill>
                  <a:srgbClr val="1A2A36"/>
                </a:solidFill>
                <a:latin typeface="Apple SD Gothic Neo"/>
                <a:ea typeface="Apple SD Gothic Neo"/>
                <a:cs typeface="Apple SD Gothic Neo"/>
              </a:rPr>
              <a:t>  Washington Research scholar, 전 뉴라클제네틱스 CMC</a:t>
            </a:r>
          </a:p>
          <a:p>
            <a:pPr>
              <a:spcAft>
                <a:spcPts val="500"/>
              </a:spcAft>
            </a:pPr>
            <a:r>
              <a:rPr sz="1300" b="0">
                <a:solidFill>
                  <a:srgbClr val="1A2A36"/>
                </a:solidFill>
                <a:latin typeface="Apple SD Gothic Neo"/>
                <a:ea typeface="Apple SD Gothic Neo"/>
                <a:cs typeface="Apple SD Gothic Neo"/>
              </a:rPr>
              <a:t>• 송동우 R&amp;D: GIST 분자생물학 박사, 전 툴젠 연구소장,</a:t>
            </a:r>
          </a:p>
          <a:p>
            <a:pPr>
              <a:spcAft>
                <a:spcPts val="500"/>
              </a:spcAft>
            </a:pPr>
            <a:r>
              <a:rPr sz="1300" b="0">
                <a:solidFill>
                  <a:srgbClr val="1A2A36"/>
                </a:solidFill>
                <a:latin typeface="Apple SD Gothic Neo"/>
                <a:ea typeface="Apple SD Gothic Neo"/>
                <a:cs typeface="Apple SD Gothic Neo"/>
              </a:rPr>
              <a:t>  ML 모델링·안구 파이프라인</a:t>
            </a:r>
          </a:p>
          <a:p>
            <a:pPr>
              <a:spcAft>
                <a:spcPts val="500"/>
              </a:spcAft>
            </a:pPr>
            <a:r>
              <a:rPr sz="1300" b="0">
                <a:solidFill>
                  <a:srgbClr val="1A2A36"/>
                </a:solidFill>
                <a:latin typeface="Apple SD Gothic Neo"/>
                <a:ea typeface="Apple SD Gothic Neo"/>
                <a:cs typeface="Apple SD Gothic Neo"/>
              </a:rPr>
              <a:t>• 박상호 전략: 서울대 바이러스학 박사, 전 툴젠 R&amp;D 전략,</a:t>
            </a:r>
          </a:p>
          <a:p>
            <a:pPr>
              <a:spcAft>
                <a:spcPts val="500"/>
              </a:spcAft>
            </a:pPr>
            <a:r>
              <a:rPr sz="1300" b="0">
                <a:solidFill>
                  <a:srgbClr val="1A2A36"/>
                </a:solidFill>
                <a:latin typeface="Apple SD Gothic Neo"/>
                <a:ea typeface="Apple SD Gothic Neo"/>
                <a:cs typeface="Apple SD Gothic Neo"/>
              </a:rPr>
              <a:t>  과제·BD·IP</a:t>
            </a:r>
          </a:p>
          <a:p>
            <a:pPr>
              <a:spcAft>
                <a:spcPts val="500"/>
              </a:spcAft>
            </a:pPr>
            <a:r>
              <a:rPr sz="1300" b="0">
                <a:solidFill>
                  <a:srgbClr val="1A2A36"/>
                </a:solidFill>
                <a:latin typeface="Apple SD Gothic Neo"/>
                <a:ea typeface="Apple SD Gothic Neo"/>
                <a:cs typeface="Apple SD Gothic Neo"/>
              </a:rPr>
              <a:t>• 이호현 부연구소장: 서강대 화학생명공학 박사,</a:t>
            </a:r>
          </a:p>
          <a:p>
            <a:pPr>
              <a:spcAft>
                <a:spcPts val="500"/>
              </a:spcAft>
            </a:pPr>
            <a:r>
              <a:rPr sz="1300" b="0">
                <a:solidFill>
                  <a:srgbClr val="1A2A36"/>
                </a:solidFill>
                <a:latin typeface="Apple SD Gothic Neo"/>
                <a:ea typeface="Apple SD Gothic Neo"/>
                <a:cs typeface="Apple SD Gothic Neo"/>
              </a:rPr>
              <a:t>  전 대웅·툴젠 R&amp;D</a:t>
            </a:r>
          </a:p>
          <a:p>
            <a:pPr>
              <a:spcAft>
                <a:spcPts val="500"/>
              </a:spcAft>
            </a:pPr>
            <a:r>
              <a:rPr sz="1300" b="0">
                <a:solidFill>
                  <a:srgbClr val="1A2A36"/>
                </a:solidFill>
                <a:latin typeface="Apple SD Gothic Neo"/>
                <a:ea typeface="Apple SD Gothic Neo"/>
                <a:cs typeface="Apple SD Gothic Neo"/>
              </a:rPr>
              <a:t/>
            </a:r>
          </a:p>
          <a:p>
            <a:pPr>
              <a:spcAft>
                <a:spcPts val="500"/>
              </a:spcAft>
            </a:pPr>
            <a:r>
              <a:rPr sz="1300" b="0">
                <a:solidFill>
                  <a:srgbClr val="1A2A36"/>
                </a:solidFill>
                <a:latin typeface="Apple SD Gothic Neo"/>
                <a:ea typeface="Apple SD Gothic Neo"/>
                <a:cs typeface="Apple SD Gothic Neo"/>
              </a:rPr>
              <a:t>→ CMC·플랫폼·과제 수주·AI 설계가 조직 DNA</a:t>
            </a:r>
          </a:p>
        </p:txBody>
      </p:sp>
      <p:sp>
        <p:nvSpPr>
          <p:cNvPr id="9" name="Rounded Rectangle 8"/>
          <p:cNvSpPr/>
          <p:nvPr/>
        </p:nvSpPr>
        <p:spPr>
          <a:xfrm>
            <a:off x="6263640" y="1143000"/>
            <a:ext cx="5577840" cy="502920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325880"/>
            <a:ext cx="5212080" cy="365760"/>
          </a:xfrm>
          <a:prstGeom prst="rect">
            <a:avLst/>
          </a:prstGeom>
          <a:noFill/>
        </p:spPr>
        <p:txBody>
          <a:bodyPr wrap="square">
            <a:spAutoFit/>
          </a:bodyPr>
          <a:lstStyle/>
          <a:p>
            <a:pPr algn="l"/>
            <a:r>
              <a:rPr sz="1500" b="1">
                <a:solidFill>
                  <a:srgbClr val="0A6B62"/>
                </a:solidFill>
                <a:latin typeface="Apple SD Gothic Neo"/>
                <a:ea typeface="Apple SD Gothic Neo"/>
                <a:cs typeface="Apple SD Gothic Neo"/>
              </a:rPr>
              <a:t>SAB·임상 협업 (공개)</a:t>
            </a:r>
          </a:p>
        </p:txBody>
      </p:sp>
      <p:sp>
        <p:nvSpPr>
          <p:cNvPr id="11" name="TextBox 10"/>
          <p:cNvSpPr txBox="1"/>
          <p:nvPr/>
        </p:nvSpPr>
        <p:spPr>
          <a:xfrm>
            <a:off x="6446520" y="1828800"/>
            <a:ext cx="5212080" cy="4114800"/>
          </a:xfrm>
          <a:prstGeom prst="rect">
            <a:avLst/>
          </a:prstGeom>
          <a:noFill/>
        </p:spPr>
        <p:txBody>
          <a:bodyPr wrap="square">
            <a:spAutoFit/>
          </a:bodyPr>
          <a:lstStyle/>
          <a:p>
            <a:pPr>
              <a:spcAft>
                <a:spcPts val="500"/>
              </a:spcAft>
            </a:pPr>
            <a:r>
              <a:rPr sz="1300" b="0">
                <a:solidFill>
                  <a:srgbClr val="1A2A36"/>
                </a:solidFill>
                <a:latin typeface="Apple SD Gothic Neo"/>
                <a:ea typeface="Apple SD Gothic Neo"/>
                <a:cs typeface="Apple SD Gothic Neo"/>
              </a:rPr>
              <a:t>• 조성래 교수 — Krabbe (LSD) 협업</a:t>
            </a:r>
          </a:p>
          <a:p>
            <a:pPr>
              <a:spcAft>
                <a:spcPts val="500"/>
              </a:spcAft>
            </a:pPr>
            <a:r>
              <a:rPr sz="1300" b="0">
                <a:solidFill>
                  <a:srgbClr val="1A2A36"/>
                </a:solidFill>
                <a:latin typeface="Apple SD Gothic Neo"/>
                <a:ea typeface="Apple SD Gothic Neo"/>
                <a:cs typeface="Apple SD Gothic Neo"/>
              </a:rPr>
              <a:t>• 조성윤 교수 — 소아 LSD 유전자치료 협업</a:t>
            </a:r>
          </a:p>
          <a:p>
            <a:pPr>
              <a:spcAft>
                <a:spcPts val="500"/>
              </a:spcAft>
            </a:pPr>
            <a:r>
              <a:rPr sz="1300" b="0">
                <a:solidFill>
                  <a:srgbClr val="1A2A36"/>
                </a:solidFill>
                <a:latin typeface="Apple SD Gothic Neo"/>
                <a:ea typeface="Apple SD Gothic Neo"/>
                <a:cs typeface="Apple SD Gothic Neo"/>
              </a:rPr>
              <a:t>  (삼성서울 소아 내분비유전대사)</a:t>
            </a:r>
          </a:p>
          <a:p>
            <a:pPr>
              <a:spcAft>
                <a:spcPts val="500"/>
              </a:spcAft>
            </a:pPr>
            <a:r>
              <a:rPr sz="1300" b="0">
                <a:solidFill>
                  <a:srgbClr val="1A2A36"/>
                </a:solidFill>
                <a:latin typeface="Apple SD Gothic Neo"/>
                <a:ea typeface="Apple SD Gothic Neo"/>
                <a:cs typeface="Apple SD Gothic Neo"/>
              </a:rPr>
              <a:t>• 이상연 교수 — 선천성 난청 유전자치료</a:t>
            </a:r>
          </a:p>
          <a:p>
            <a:pPr>
              <a:spcAft>
                <a:spcPts val="500"/>
              </a:spcAft>
            </a:pPr>
            <a:r>
              <a:rPr sz="1300" b="0">
                <a:solidFill>
                  <a:srgbClr val="1A2A36"/>
                </a:solidFill>
                <a:latin typeface="Apple SD Gothic Neo"/>
                <a:ea typeface="Apple SD Gothic Neo"/>
                <a:cs typeface="Apple SD Gothic Neo"/>
              </a:rPr>
              <a:t>• Lloyd Mitchell — SMaRT RNA 협업</a:t>
            </a:r>
          </a:p>
          <a:p>
            <a:pPr>
              <a:spcAft>
                <a:spcPts val="500"/>
              </a:spcAft>
            </a:pPr>
            <a:r>
              <a:rPr sz="1300" b="0">
                <a:solidFill>
                  <a:srgbClr val="1A2A36"/>
                </a:solidFill>
                <a:latin typeface="Apple SD Gothic Neo"/>
                <a:ea typeface="Apple SD Gothic Neo"/>
                <a:cs typeface="Apple SD Gothic Neo"/>
              </a:rPr>
              <a:t>• 이기현 교수 (이화 약대)</a:t>
            </a:r>
          </a:p>
          <a:p>
            <a:pPr>
              <a:spcAft>
                <a:spcPts val="500"/>
              </a:spcAft>
            </a:pPr>
            <a:r>
              <a:rPr sz="1300" b="0">
                <a:solidFill>
                  <a:srgbClr val="1A2A36"/>
                </a:solidFill>
                <a:latin typeface="Apple SD Gothic Neo"/>
                <a:ea typeface="Apple SD Gothic Neo"/>
                <a:cs typeface="Apple SD Gothic Neo"/>
              </a:rPr>
              <a:t/>
            </a:r>
          </a:p>
          <a:p>
            <a:pPr>
              <a:spcAft>
                <a:spcPts val="500"/>
              </a:spcAft>
            </a:pPr>
            <a:r>
              <a:rPr sz="1300" b="0">
                <a:solidFill>
                  <a:srgbClr val="1A2A36"/>
                </a:solidFill>
                <a:latin typeface="Apple SD Gothic Neo"/>
                <a:ea typeface="Apple SD Gothic Neo"/>
                <a:cs typeface="Apple SD Gothic Neo"/>
              </a:rPr>
              <a:t>IDSX 함의: LSD·CNS 희귀질환 임상 네트워크가</a:t>
            </a:r>
          </a:p>
          <a:p>
            <a:pPr>
              <a:spcAft>
                <a:spcPts val="500"/>
              </a:spcAft>
            </a:pPr>
            <a:r>
              <a:rPr sz="1300" b="0">
                <a:solidFill>
                  <a:srgbClr val="1A2A36"/>
                </a:solidFill>
                <a:latin typeface="Apple SD Gothic Neo"/>
                <a:ea typeface="Apple SD Gothic Neo"/>
                <a:cs typeface="Apple SD Gothic Neo"/>
              </a:rPr>
              <a:t>이미 회사 주변에 있음. 내 연구는</a:t>
            </a:r>
          </a:p>
          <a:p>
            <a:pPr>
              <a:spcAft>
                <a:spcPts val="500"/>
              </a:spcAft>
            </a:pPr>
            <a:r>
              <a:rPr sz="1300" b="0">
                <a:solidFill>
                  <a:srgbClr val="1A2A36"/>
                </a:solidFill>
                <a:latin typeface="Apple SD Gothic Neo"/>
                <a:ea typeface="Apple SD Gothic Neo"/>
                <a:cs typeface="Apple SD Gothic Neo"/>
              </a:rPr>
              <a:t>‘구조 triage 의사결정 층’으로 끼워 넣을 자리.</a:t>
            </a:r>
          </a:p>
        </p:txBody>
      </p:sp>
      <p:sp>
        <p:nvSpPr>
          <p:cNvPr id="12" name="Rectangle 1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14" name="TextBox 13"/>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3/14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3 · 플랫폼 · 파이프라인 (공식 사이트)</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Beyond Innovation, Towards Cure</a:t>
            </a:r>
          </a:p>
        </p:txBody>
      </p:sp>
      <p:sp>
        <p:nvSpPr>
          <p:cNvPr id="6" name="Rounded Rectangle 5"/>
          <p:cNvSpPr/>
          <p:nvPr/>
        </p:nvSpPr>
        <p:spPr>
          <a:xfrm>
            <a:off x="320040" y="1097280"/>
            <a:ext cx="5669280" cy="51206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5303520" cy="365760"/>
          </a:xfrm>
          <a:prstGeom prst="rect">
            <a:avLst/>
          </a:prstGeom>
          <a:noFill/>
        </p:spPr>
        <p:txBody>
          <a:bodyPr wrap="square">
            <a:spAutoFit/>
          </a:bodyPr>
          <a:lstStyle/>
          <a:p>
            <a:pPr algn="l"/>
            <a:r>
              <a:rPr sz="1600" b="1">
                <a:solidFill>
                  <a:srgbClr val="4C6EAF"/>
                </a:solidFill>
                <a:latin typeface="Apple SD Gothic Neo"/>
                <a:ea typeface="Apple SD Gothic Neo"/>
                <a:cs typeface="Apple SD Gothic Neo"/>
              </a:rPr>
              <a:t>PLATFORM</a:t>
            </a:r>
          </a:p>
        </p:txBody>
      </p:sp>
      <p:sp>
        <p:nvSpPr>
          <p:cNvPr id="8" name="TextBox 7"/>
          <p:cNvSpPr txBox="1"/>
          <p:nvPr/>
        </p:nvSpPr>
        <p:spPr>
          <a:xfrm>
            <a:off x="502920" y="1783080"/>
            <a:ext cx="5303520" cy="4206240"/>
          </a:xfrm>
          <a:prstGeom prst="rect">
            <a:avLst/>
          </a:prstGeom>
          <a:noFill/>
        </p:spPr>
        <p:txBody>
          <a:bodyPr wrap="square">
            <a:spAutoFit/>
          </a:bodyPr>
          <a:lstStyle/>
          <a:p>
            <a:pPr>
              <a:spcAft>
                <a:spcPts val="500"/>
              </a:spcAft>
            </a:pPr>
            <a:r>
              <a:rPr sz="1300" b="0">
                <a:solidFill>
                  <a:srgbClr val="1A2A36"/>
                </a:solidFill>
                <a:latin typeface="Apple SD Gothic Neo"/>
                <a:ea typeface="Apple SD Gothic Neo"/>
                <a:cs typeface="Apple SD Gothic Neo"/>
              </a:rPr>
              <a:t>• 맞춤형 AAV 벡터 설계·생산 원스톱</a:t>
            </a:r>
          </a:p>
          <a:p>
            <a:pPr>
              <a:spcAft>
                <a:spcPts val="500"/>
              </a:spcAft>
            </a:pPr>
            <a:r>
              <a:rPr sz="1300" b="0">
                <a:solidFill>
                  <a:srgbClr val="1A2A36"/>
                </a:solidFill>
                <a:latin typeface="Apple SD Gothic Neo"/>
                <a:ea typeface="Apple SD Gothic Neo"/>
                <a:cs typeface="Apple SD Gothic Neo"/>
              </a:rPr>
              <a:t>• Capsid / promoter 엔지니어링</a:t>
            </a:r>
          </a:p>
          <a:p>
            <a:pPr>
              <a:spcAft>
                <a:spcPts val="500"/>
              </a:spcAft>
            </a:pPr>
            <a:r>
              <a:rPr sz="1300" b="0">
                <a:solidFill>
                  <a:srgbClr val="1A2A36"/>
                </a:solidFill>
                <a:latin typeface="Apple SD Gothic Neo"/>
                <a:ea typeface="Apple SD Gothic Neo"/>
                <a:cs typeface="Apple SD Gothic Neo"/>
              </a:rPr>
              <a:t>• AI·ML 기반 캡시드 후보 스크리닝</a:t>
            </a:r>
          </a:p>
          <a:p>
            <a:pPr>
              <a:spcAft>
                <a:spcPts val="500"/>
              </a:spcAft>
            </a:pPr>
            <a:r>
              <a:rPr sz="1300" b="0">
                <a:solidFill>
                  <a:srgbClr val="1A2A36"/>
                </a:solidFill>
                <a:latin typeface="Apple SD Gothic Neo"/>
                <a:ea typeface="Apple SD Gothic Neo"/>
                <a:cs typeface="Apple SD Gothic Neo"/>
              </a:rPr>
              <a:t>  (조직 지향·면역·독성 이슈 완화 방향)</a:t>
            </a:r>
          </a:p>
          <a:p>
            <a:pPr>
              <a:spcAft>
                <a:spcPts val="500"/>
              </a:spcAft>
            </a:pPr>
            <a:r>
              <a:rPr sz="1300" b="0">
                <a:solidFill>
                  <a:srgbClr val="1A2A36"/>
                </a:solidFill>
                <a:latin typeface="Apple SD Gothic Neo"/>
                <a:ea typeface="Apple SD Gothic Neo"/>
                <a:cs typeface="Apple SD Gothic Neo"/>
              </a:rPr>
              <a:t>• CMC: 고수율·고품질 재조합 AAV 생산</a:t>
            </a:r>
          </a:p>
          <a:p>
            <a:pPr>
              <a:spcAft>
                <a:spcPts val="500"/>
              </a:spcAft>
            </a:pPr>
            <a:r>
              <a:rPr sz="1300" b="0">
                <a:solidFill>
                  <a:srgbClr val="1A2A36"/>
                </a:solidFill>
                <a:latin typeface="Apple SD Gothic Neo"/>
                <a:ea typeface="Apple SD Gothic Neo"/>
                <a:cs typeface="Apple SD Gothic Neo"/>
              </a:rPr>
              <a:t>  (생산방법 특허 등록 공개)</a:t>
            </a:r>
          </a:p>
          <a:p>
            <a:pPr>
              <a:spcAft>
                <a:spcPts val="500"/>
              </a:spcAft>
            </a:pPr>
            <a:r>
              <a:rPr sz="1300" b="0">
                <a:solidFill>
                  <a:srgbClr val="1A2A36"/>
                </a:solidFill>
                <a:latin typeface="Apple SD Gothic Neo"/>
                <a:ea typeface="Apple SD Gothic Neo"/>
                <a:cs typeface="Apple SD Gothic Neo"/>
              </a:rPr>
              <a:t>• 고객 목표 질환 제시 → 벡터 설계·생산</a:t>
            </a:r>
          </a:p>
          <a:p>
            <a:pPr>
              <a:spcAft>
                <a:spcPts val="500"/>
              </a:spcAft>
            </a:pPr>
            <a:r>
              <a:rPr sz="1300" b="0">
                <a:solidFill>
                  <a:srgbClr val="1A2A36"/>
                </a:solidFill>
                <a:latin typeface="Apple SD Gothic Neo"/>
                <a:ea typeface="Apple SD Gothic Neo"/>
                <a:cs typeface="Apple SD Gothic Neo"/>
              </a:rPr>
              <a:t/>
            </a:r>
          </a:p>
          <a:p>
            <a:pPr>
              <a:spcAft>
                <a:spcPts val="500"/>
              </a:spcAft>
            </a:pPr>
            <a:r>
              <a:rPr sz="1300" b="0">
                <a:solidFill>
                  <a:srgbClr val="1A2A36"/>
                </a:solidFill>
                <a:latin typeface="Apple SD Gothic Neo"/>
                <a:ea typeface="Apple SD Gothic Neo"/>
                <a:cs typeface="Apple SD Gothic Neo"/>
              </a:rPr>
              <a:t>화공 관점: ‘치료 유전자 화물’의</a:t>
            </a:r>
          </a:p>
          <a:p>
            <a:pPr>
              <a:spcAft>
                <a:spcPts val="500"/>
              </a:spcAft>
            </a:pPr>
            <a:r>
              <a:rPr sz="1300" b="0">
                <a:solidFill>
                  <a:srgbClr val="1A2A36"/>
                </a:solidFill>
                <a:latin typeface="Apple SD Gothic Neo"/>
                <a:ea typeface="Apple SD Gothic Neo"/>
                <a:cs typeface="Apple SD Gothic Neo"/>
              </a:rPr>
              <a:t>전달체 공정·DOE·스케일업 기업</a:t>
            </a:r>
          </a:p>
        </p:txBody>
      </p:sp>
      <p:sp>
        <p:nvSpPr>
          <p:cNvPr id="9" name="Rounded Rectangle 8"/>
          <p:cNvSpPr/>
          <p:nvPr/>
        </p:nvSpPr>
        <p:spPr>
          <a:xfrm>
            <a:off x="6172200" y="1097280"/>
            <a:ext cx="5669280" cy="51206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280160"/>
            <a:ext cx="5303520" cy="365760"/>
          </a:xfrm>
          <a:prstGeom prst="rect">
            <a:avLst/>
          </a:prstGeom>
          <a:noFill/>
        </p:spPr>
        <p:txBody>
          <a:bodyPr wrap="square">
            <a:spAutoFit/>
          </a:bodyPr>
          <a:lstStyle/>
          <a:p>
            <a:pPr algn="l"/>
            <a:r>
              <a:rPr sz="1600" b="1">
                <a:solidFill>
                  <a:srgbClr val="0D9488"/>
                </a:solidFill>
                <a:latin typeface="Apple SD Gothic Neo"/>
                <a:ea typeface="Apple SD Gothic Neo"/>
                <a:cs typeface="Apple SD Gothic Neo"/>
              </a:rPr>
              <a:t>PIPELINE</a:t>
            </a:r>
          </a:p>
        </p:txBody>
      </p:sp>
      <p:sp>
        <p:nvSpPr>
          <p:cNvPr id="11" name="TextBox 10"/>
          <p:cNvSpPr txBox="1"/>
          <p:nvPr/>
        </p:nvSpPr>
        <p:spPr>
          <a:xfrm>
            <a:off x="6355080" y="1783080"/>
            <a:ext cx="5303520" cy="4206240"/>
          </a:xfrm>
          <a:prstGeom prst="rect">
            <a:avLst/>
          </a:prstGeom>
          <a:noFill/>
        </p:spPr>
        <p:txBody>
          <a:bodyPr wrap="square">
            <a:spAutoFit/>
          </a:bodyPr>
          <a:lstStyle/>
          <a:p>
            <a:pPr>
              <a:spcAft>
                <a:spcPts val="500"/>
              </a:spcAft>
            </a:pPr>
            <a:r>
              <a:rPr sz="1300" b="0">
                <a:solidFill>
                  <a:srgbClr val="1A2A36"/>
                </a:solidFill>
                <a:latin typeface="Apple SD Gothic Neo"/>
                <a:ea typeface="Apple SD Gothic Neo"/>
                <a:cs typeface="Apple SD Gothic Neo"/>
              </a:rPr>
              <a:t>• 리소좀 축적질환 (LSD) — 주력 축</a:t>
            </a:r>
          </a:p>
          <a:p>
            <a:pPr>
              <a:spcAft>
                <a:spcPts val="500"/>
              </a:spcAft>
            </a:pPr>
            <a:r>
              <a:rPr sz="1300" b="0">
                <a:solidFill>
                  <a:srgbClr val="1A2A36"/>
                </a:solidFill>
                <a:latin typeface="Apple SD Gothic Neo"/>
                <a:ea typeface="Apple SD Gothic Neo"/>
                <a:cs typeface="Apple SD Gothic Neo"/>
              </a:rPr>
              <a:t>  (신경계통 희귀 LSD 강조, 공개 보도)</a:t>
            </a:r>
          </a:p>
          <a:p>
            <a:pPr>
              <a:spcAft>
                <a:spcPts val="500"/>
              </a:spcAft>
            </a:pPr>
            <a:r>
              <a:rPr sz="1300" b="0">
                <a:solidFill>
                  <a:srgbClr val="1A2A36"/>
                </a:solidFill>
                <a:latin typeface="Apple SD Gothic Neo"/>
                <a:ea typeface="Apple SD Gothic Neo"/>
                <a:cs typeface="Apple SD Gothic Neo"/>
              </a:rPr>
              <a:t>• 유전성 난청</a:t>
            </a:r>
          </a:p>
          <a:p>
            <a:pPr>
              <a:spcAft>
                <a:spcPts val="500"/>
              </a:spcAft>
            </a:pPr>
            <a:r>
              <a:rPr sz="1300" b="0">
                <a:solidFill>
                  <a:srgbClr val="1A2A36"/>
                </a:solidFill>
                <a:latin typeface="Apple SD Gothic Neo"/>
                <a:ea typeface="Apple SD Gothic Neo"/>
                <a:cs typeface="Apple SD Gothic Neo"/>
              </a:rPr>
              <a:t>• CNS 전임상 파이프라인</a:t>
            </a:r>
          </a:p>
          <a:p>
            <a:pPr>
              <a:spcAft>
                <a:spcPts val="500"/>
              </a:spcAft>
            </a:pPr>
            <a:r>
              <a:rPr sz="1300" b="0">
                <a:solidFill>
                  <a:srgbClr val="1A2A36"/>
                </a:solidFill>
                <a:latin typeface="Apple SD Gothic Neo"/>
                <a:ea typeface="Apple SD Gothic Neo"/>
                <a:cs typeface="Apple SD Gothic Neo"/>
              </a:rPr>
              <a:t>• 안구 질환 유전자치료 (AAV 적용)</a:t>
            </a:r>
          </a:p>
          <a:p>
            <a:pPr>
              <a:spcAft>
                <a:spcPts val="500"/>
              </a:spcAft>
            </a:pPr>
            <a:r>
              <a:rPr sz="1300" b="0">
                <a:solidFill>
                  <a:srgbClr val="1A2A36"/>
                </a:solidFill>
                <a:latin typeface="Apple SD Gothic Neo"/>
                <a:ea typeface="Apple SD Gothic Neo"/>
                <a:cs typeface="Apple SD Gothic Neo"/>
              </a:rPr>
              <a:t>• (보도) 대사·캡시드 AI 고도화 병행</a:t>
            </a:r>
          </a:p>
          <a:p>
            <a:pPr>
              <a:spcAft>
                <a:spcPts val="500"/>
              </a:spcAft>
            </a:pPr>
            <a:r>
              <a:rPr sz="1300" b="0">
                <a:solidFill>
                  <a:srgbClr val="1A2A36"/>
                </a:solidFill>
                <a:latin typeface="Apple SD Gothic Neo"/>
                <a:ea typeface="Apple SD Gothic Neo"/>
                <a:cs typeface="Apple SD Gothic Neo"/>
              </a:rPr>
              <a:t/>
            </a:r>
          </a:p>
          <a:p>
            <a:pPr>
              <a:spcAft>
                <a:spcPts val="500"/>
              </a:spcAft>
            </a:pPr>
            <a:r>
              <a:rPr sz="1300" b="0">
                <a:solidFill>
                  <a:srgbClr val="1A2A36"/>
                </a:solidFill>
                <a:latin typeface="Apple SD Gothic Neo"/>
                <a:ea typeface="Apple SD Gothic Neo"/>
                <a:cs typeface="Apple SD Gothic Neo"/>
              </a:rPr>
              <a:t>IDSX 직접 질환: Hunter (MPS II, IDS)</a:t>
            </a:r>
          </a:p>
          <a:p>
            <a:pPr>
              <a:spcAft>
                <a:spcPts val="500"/>
              </a:spcAft>
            </a:pPr>
            <a:r>
              <a:rPr sz="1300" b="0">
                <a:solidFill>
                  <a:srgbClr val="1A2A36"/>
                </a:solidFill>
                <a:latin typeface="Apple SD Gothic Neo"/>
                <a:ea typeface="Apple SD Gothic Neo"/>
                <a:cs typeface="Apple SD Gothic Neo"/>
              </a:rPr>
              <a:t>회사 공개 LSD 초점: Krabbe 등 CNS-LSD</a:t>
            </a:r>
          </a:p>
          <a:p>
            <a:pPr>
              <a:spcAft>
                <a:spcPts val="500"/>
              </a:spcAft>
            </a:pPr>
            <a:r>
              <a:rPr sz="1300" b="0">
                <a:solidFill>
                  <a:srgbClr val="1A2A36"/>
                </a:solidFill>
                <a:latin typeface="Apple SD Gothic Neo"/>
                <a:ea typeface="Apple SD Gothic Neo"/>
                <a:cs typeface="Apple SD Gothic Neo"/>
              </a:rPr>
              <a:t>→ 동일 ‘LSD 문제 공간’, 다른 효소/모달리티</a:t>
            </a:r>
          </a:p>
        </p:txBody>
      </p:sp>
      <p:sp>
        <p:nvSpPr>
          <p:cNvPr id="12" name="Rectangle 1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14" name="TextBox 13"/>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4/14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4 · 국책·지원 과제 타임라인 (공식 History 요약)</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누적 다수 · 2022 시점에 정부·지자체 지원 누적 ~65억 언급</a:t>
            </a:r>
          </a:p>
        </p:txBody>
      </p:sp>
      <p:sp>
        <p:nvSpPr>
          <p:cNvPr id="6" name="Rectangle 5"/>
          <p:cNvSpPr/>
          <p:nvPr/>
        </p:nvSpPr>
        <p:spPr>
          <a:xfrm>
            <a:off x="365760" y="1051560"/>
            <a:ext cx="1371600" cy="658368"/>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16152"/>
            <a:ext cx="1188720" cy="36576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2021</a:t>
            </a:r>
          </a:p>
        </p:txBody>
      </p:sp>
      <p:sp>
        <p:nvSpPr>
          <p:cNvPr id="8" name="Rectangle 7"/>
          <p:cNvSpPr/>
          <p:nvPr/>
        </p:nvSpPr>
        <p:spPr>
          <a:xfrm>
            <a:off x="1783080" y="1051560"/>
            <a:ext cx="9966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1143000"/>
            <a:ext cx="9692640" cy="502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TIPS R&amp;D · TIPS 창업사업화 · 서울바이오허브 입주</a:t>
            </a:r>
          </a:p>
        </p:txBody>
      </p:sp>
      <p:sp>
        <p:nvSpPr>
          <p:cNvPr id="10" name="Rectangle 9"/>
          <p:cNvSpPr/>
          <p:nvPr/>
        </p:nvSpPr>
        <p:spPr>
          <a:xfrm>
            <a:off x="365760" y="1764792"/>
            <a:ext cx="1371600" cy="658368"/>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929384"/>
            <a:ext cx="1188720" cy="36576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2022</a:t>
            </a:r>
          </a:p>
        </p:txBody>
      </p:sp>
      <p:sp>
        <p:nvSpPr>
          <p:cNvPr id="12" name="Rectangle 11"/>
          <p:cNvSpPr/>
          <p:nvPr/>
        </p:nvSpPr>
        <p:spPr>
          <a:xfrm>
            <a:off x="1783080" y="1764792"/>
            <a:ext cx="9966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0" y="1856232"/>
            <a:ext cx="9692640" cy="502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복지부 재생의료 임상연구 기반조성
세포유전자치료제 바이러스 소재·생산기술 (5년·약 54억 규모 과제 선정 공지)</a:t>
            </a:r>
          </a:p>
        </p:txBody>
      </p:sp>
      <p:sp>
        <p:nvSpPr>
          <p:cNvPr id="14" name="Rectangle 13"/>
          <p:cNvSpPr/>
          <p:nvPr/>
        </p:nvSpPr>
        <p:spPr>
          <a:xfrm>
            <a:off x="365760" y="2478024"/>
            <a:ext cx="1371600" cy="658368"/>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642616"/>
            <a:ext cx="1188720" cy="36576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2022+</a:t>
            </a:r>
          </a:p>
        </p:txBody>
      </p:sp>
      <p:sp>
        <p:nvSpPr>
          <p:cNvPr id="16" name="Rectangle 15"/>
          <p:cNvSpPr/>
          <p:nvPr/>
        </p:nvSpPr>
        <p:spPr>
          <a:xfrm>
            <a:off x="1783080" y="2478024"/>
            <a:ext cx="9966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2569464"/>
            <a:ext cx="9692640" cy="502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경기도 스마트공장 · 정부과제 다수 (누적 지원 언급)</a:t>
            </a:r>
          </a:p>
        </p:txBody>
      </p:sp>
      <p:sp>
        <p:nvSpPr>
          <p:cNvPr id="18" name="Rectangle 17"/>
          <p:cNvSpPr/>
          <p:nvPr/>
        </p:nvSpPr>
        <p:spPr>
          <a:xfrm>
            <a:off x="365760" y="3191256"/>
            <a:ext cx="1371600" cy="658368"/>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355848"/>
            <a:ext cx="1188720" cy="36576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2023</a:t>
            </a:r>
          </a:p>
        </p:txBody>
      </p:sp>
      <p:sp>
        <p:nvSpPr>
          <p:cNvPr id="20" name="Rectangle 19"/>
          <p:cNvSpPr/>
          <p:nvPr/>
        </p:nvSpPr>
        <p:spPr>
          <a:xfrm>
            <a:off x="1783080" y="3191256"/>
            <a:ext cx="9966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20240" y="3282696"/>
            <a:ext cx="9692640" cy="502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시리즈A 50억 · 소부장 스타트업100</a:t>
            </a:r>
          </a:p>
        </p:txBody>
      </p:sp>
      <p:sp>
        <p:nvSpPr>
          <p:cNvPr id="22" name="Rectangle 21"/>
          <p:cNvSpPr/>
          <p:nvPr/>
        </p:nvSpPr>
        <p:spPr>
          <a:xfrm>
            <a:off x="365760" y="3904488"/>
            <a:ext cx="1371600" cy="658368"/>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069080"/>
            <a:ext cx="1188720" cy="36576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2024</a:t>
            </a:r>
          </a:p>
        </p:txBody>
      </p:sp>
      <p:sp>
        <p:nvSpPr>
          <p:cNvPr id="24" name="Rectangle 23"/>
          <p:cNvSpPr/>
          <p:nvPr/>
        </p:nvSpPr>
        <p:spPr>
          <a:xfrm>
            <a:off x="1783080" y="3904488"/>
            <a:ext cx="9966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995928"/>
            <a:ext cx="9692640" cy="502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스케일업팁스 · 아기유니콘 · 서울형 R&amp;D
글로벌산업기술협력센터 · AAV 생산/변이 특허</a:t>
            </a:r>
          </a:p>
        </p:txBody>
      </p:sp>
      <p:sp>
        <p:nvSpPr>
          <p:cNvPr id="26" name="Rectangle 25"/>
          <p:cNvSpPr/>
          <p:nvPr/>
        </p:nvSpPr>
        <p:spPr>
          <a:xfrm>
            <a:off x="365760" y="4617720"/>
            <a:ext cx="1371600" cy="658368"/>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782312"/>
            <a:ext cx="1188720" cy="36576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2025</a:t>
            </a:r>
          </a:p>
        </p:txBody>
      </p:sp>
      <p:sp>
        <p:nvSpPr>
          <p:cNvPr id="28" name="Rectangle 27"/>
          <p:cNvSpPr/>
          <p:nvPr/>
        </p:nvSpPr>
        <p:spPr>
          <a:xfrm>
            <a:off x="1783080" y="4617720"/>
            <a:ext cx="9966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20240" y="4709160"/>
            <a:ext cx="9692640" cy="502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복지부 편집기술 치료제 개발(공동)
경기도 기술개발 · 서울 바이오-AI 융복합
AZ-서울바이오허브 OI · 아스텔라스 Next Challenge</a:t>
            </a:r>
          </a:p>
        </p:txBody>
      </p:sp>
      <p:sp>
        <p:nvSpPr>
          <p:cNvPr id="30" name="Rectangle 29"/>
          <p:cNvSpPr/>
          <p:nvPr/>
        </p:nvSpPr>
        <p:spPr>
          <a:xfrm>
            <a:off x="365760" y="5330952"/>
            <a:ext cx="1371600" cy="658368"/>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495544"/>
            <a:ext cx="1188720" cy="36576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2026</a:t>
            </a:r>
          </a:p>
        </p:txBody>
      </p:sp>
      <p:sp>
        <p:nvSpPr>
          <p:cNvPr id="32" name="Rectangle 31"/>
          <p:cNvSpPr/>
          <p:nvPr/>
        </p:nvSpPr>
        <p:spPr>
          <a:xfrm>
            <a:off x="1783080" y="5330952"/>
            <a:ext cx="996696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5422392"/>
            <a:ext cx="9692640" cy="502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KDDF 국가신약개발사업 선정 · 포스트팁스
IBK창공 대전 · IP 표창</a:t>
            </a:r>
          </a:p>
        </p:txBody>
      </p:sp>
      <p:sp>
        <p:nvSpPr>
          <p:cNvPr id="34" name="Rectangle 3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36" name="TextBox 35"/>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5/14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5 · 기업 과제(챌린지) 맵 — 공개 정보 기반 해석</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내가 맞출 ‘문제 공간’</a:t>
            </a:r>
          </a:p>
        </p:txBody>
      </p:sp>
      <p:sp>
        <p:nvSpPr>
          <p:cNvPr id="6" name="Rounded Rectangle 5"/>
          <p:cNvSpPr/>
          <p:nvPr/>
        </p:nvSpPr>
        <p:spPr>
          <a:xfrm>
            <a:off x="365760" y="1143000"/>
            <a:ext cx="3703320" cy="2377440"/>
          </a:xfrm>
          <a:prstGeom prst="roundRect">
            <a:avLst>
              <a:gd name="adj" fmla="val 6000"/>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3337560" cy="411480"/>
          </a:xfrm>
          <a:prstGeom prst="rect">
            <a:avLst/>
          </a:prstGeom>
          <a:noFill/>
        </p:spPr>
        <p:txBody>
          <a:bodyPr wrap="square">
            <a:spAutoFit/>
          </a:bodyPr>
          <a:lstStyle/>
          <a:p>
            <a:pPr algn="l"/>
            <a:r>
              <a:rPr sz="1800" b="1">
                <a:solidFill>
                  <a:srgbClr val="0B1F33"/>
                </a:solidFill>
                <a:latin typeface="Apple SD Gothic Neo"/>
                <a:ea typeface="Apple SD Gothic Neo"/>
                <a:cs typeface="Apple SD Gothic Neo"/>
              </a:rPr>
              <a:t>C1 전달</a:t>
            </a:r>
          </a:p>
        </p:txBody>
      </p:sp>
      <p:sp>
        <p:nvSpPr>
          <p:cNvPr id="8" name="TextBox 7"/>
          <p:cNvSpPr txBox="1"/>
          <p:nvPr/>
        </p:nvSpPr>
        <p:spPr>
          <a:xfrm>
            <a:off x="548640" y="1965960"/>
            <a:ext cx="3337560" cy="1280160"/>
          </a:xfrm>
          <a:prstGeom prst="rect">
            <a:avLst/>
          </a:prstGeom>
          <a:noFill/>
        </p:spPr>
        <p:txBody>
          <a:bodyPr wrap="square">
            <a:spAutoFit/>
          </a:bodyPr>
          <a:lstStyle/>
          <a:p>
            <a:pPr algn="l"/>
            <a:r>
              <a:rPr sz="1500" b="0">
                <a:solidFill>
                  <a:srgbClr val="1A2A36"/>
                </a:solidFill>
                <a:latin typeface="Apple SD Gothic Neo"/>
                <a:ea typeface="Apple SD Gothic Neo"/>
                <a:cs typeface="Apple SD Gothic Neo"/>
              </a:rPr>
              <a:t>CNS/조직 선택적
캡시드 · 면역·중화</a:t>
            </a:r>
          </a:p>
        </p:txBody>
      </p:sp>
      <p:sp>
        <p:nvSpPr>
          <p:cNvPr id="9" name="Rounded Rectangle 8"/>
          <p:cNvSpPr/>
          <p:nvPr/>
        </p:nvSpPr>
        <p:spPr>
          <a:xfrm>
            <a:off x="4251960" y="1143000"/>
            <a:ext cx="3703320" cy="2377440"/>
          </a:xfrm>
          <a:prstGeom prst="roundRect">
            <a:avLst>
              <a:gd name="adj" fmla="val 6000"/>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371600"/>
            <a:ext cx="3337560" cy="411480"/>
          </a:xfrm>
          <a:prstGeom prst="rect">
            <a:avLst/>
          </a:prstGeom>
          <a:noFill/>
        </p:spPr>
        <p:txBody>
          <a:bodyPr wrap="square">
            <a:spAutoFit/>
          </a:bodyPr>
          <a:lstStyle/>
          <a:p>
            <a:pPr algn="l"/>
            <a:r>
              <a:rPr sz="1800" b="1">
                <a:solidFill>
                  <a:srgbClr val="0B1F33"/>
                </a:solidFill>
                <a:latin typeface="Apple SD Gothic Neo"/>
                <a:ea typeface="Apple SD Gothic Neo"/>
                <a:cs typeface="Apple SD Gothic Neo"/>
              </a:rPr>
              <a:t>C2 생산</a:t>
            </a:r>
          </a:p>
        </p:txBody>
      </p:sp>
      <p:sp>
        <p:nvSpPr>
          <p:cNvPr id="11" name="TextBox 10"/>
          <p:cNvSpPr txBox="1"/>
          <p:nvPr/>
        </p:nvSpPr>
        <p:spPr>
          <a:xfrm>
            <a:off x="4434840" y="1965960"/>
            <a:ext cx="3337560" cy="1280160"/>
          </a:xfrm>
          <a:prstGeom prst="rect">
            <a:avLst/>
          </a:prstGeom>
          <a:noFill/>
        </p:spPr>
        <p:txBody>
          <a:bodyPr wrap="square">
            <a:spAutoFit/>
          </a:bodyPr>
          <a:lstStyle/>
          <a:p>
            <a:pPr algn="l"/>
            <a:r>
              <a:rPr sz="1500" b="0">
                <a:solidFill>
                  <a:srgbClr val="1A2A36"/>
                </a:solidFill>
                <a:latin typeface="Apple SD Gothic Neo"/>
                <a:ea typeface="Apple SD Gothic Neo"/>
                <a:cs typeface="Apple SD Gothic Neo"/>
              </a:rPr>
              <a:t>고수율·고품질
CMC·스케일업·원가</a:t>
            </a:r>
          </a:p>
        </p:txBody>
      </p:sp>
      <p:sp>
        <p:nvSpPr>
          <p:cNvPr id="12" name="Rounded Rectangle 11"/>
          <p:cNvSpPr/>
          <p:nvPr/>
        </p:nvSpPr>
        <p:spPr>
          <a:xfrm>
            <a:off x="8138160" y="1143000"/>
            <a:ext cx="3703320" cy="2377440"/>
          </a:xfrm>
          <a:prstGeom prst="roundRect">
            <a:avLst>
              <a:gd name="adj" fmla="val 6000"/>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371600"/>
            <a:ext cx="3337560" cy="411480"/>
          </a:xfrm>
          <a:prstGeom prst="rect">
            <a:avLst/>
          </a:prstGeom>
          <a:noFill/>
        </p:spPr>
        <p:txBody>
          <a:bodyPr wrap="square">
            <a:spAutoFit/>
          </a:bodyPr>
          <a:lstStyle/>
          <a:p>
            <a:pPr algn="l"/>
            <a:r>
              <a:rPr sz="1800" b="1">
                <a:solidFill>
                  <a:srgbClr val="0B1F33"/>
                </a:solidFill>
                <a:latin typeface="Apple SD Gothic Neo"/>
                <a:ea typeface="Apple SD Gothic Neo"/>
                <a:cs typeface="Apple SD Gothic Neo"/>
              </a:rPr>
              <a:t>C3 설계</a:t>
            </a:r>
          </a:p>
        </p:txBody>
      </p:sp>
      <p:sp>
        <p:nvSpPr>
          <p:cNvPr id="14" name="TextBox 13"/>
          <p:cNvSpPr txBox="1"/>
          <p:nvPr/>
        </p:nvSpPr>
        <p:spPr>
          <a:xfrm>
            <a:off x="8321040" y="1965960"/>
            <a:ext cx="3337560" cy="1280160"/>
          </a:xfrm>
          <a:prstGeom prst="rect">
            <a:avLst/>
          </a:prstGeom>
          <a:noFill/>
        </p:spPr>
        <p:txBody>
          <a:bodyPr wrap="square">
            <a:spAutoFit/>
          </a:bodyPr>
          <a:lstStyle/>
          <a:p>
            <a:pPr algn="l"/>
            <a:r>
              <a:rPr sz="1500" b="0">
                <a:solidFill>
                  <a:srgbClr val="1A2A36"/>
                </a:solidFill>
                <a:latin typeface="Apple SD Gothic Neo"/>
                <a:ea typeface="Apple SD Gothic Neo"/>
                <a:cs typeface="Apple SD Gothic Neo"/>
              </a:rPr>
              <a:t>AI 캡시드/프로모터
독성·내성 예측</a:t>
            </a:r>
          </a:p>
        </p:txBody>
      </p:sp>
      <p:sp>
        <p:nvSpPr>
          <p:cNvPr id="15" name="Rounded Rectangle 14"/>
          <p:cNvSpPr/>
          <p:nvPr/>
        </p:nvSpPr>
        <p:spPr>
          <a:xfrm>
            <a:off x="365760" y="3749039"/>
            <a:ext cx="3703320" cy="2377440"/>
          </a:xfrm>
          <a:prstGeom prst="roundRect">
            <a:avLst>
              <a:gd name="adj" fmla="val 6000"/>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77639"/>
            <a:ext cx="3337560" cy="411480"/>
          </a:xfrm>
          <a:prstGeom prst="rect">
            <a:avLst/>
          </a:prstGeom>
          <a:noFill/>
        </p:spPr>
        <p:txBody>
          <a:bodyPr wrap="square">
            <a:spAutoFit/>
          </a:bodyPr>
          <a:lstStyle/>
          <a:p>
            <a:pPr algn="l"/>
            <a:r>
              <a:rPr sz="1800" b="1">
                <a:solidFill>
                  <a:srgbClr val="0B1F33"/>
                </a:solidFill>
                <a:latin typeface="Apple SD Gothic Neo"/>
                <a:ea typeface="Apple SD Gothic Neo"/>
                <a:cs typeface="Apple SD Gothic Neo"/>
              </a:rPr>
              <a:t>C4 질환</a:t>
            </a:r>
          </a:p>
        </p:txBody>
      </p:sp>
      <p:sp>
        <p:nvSpPr>
          <p:cNvPr id="17" name="TextBox 16"/>
          <p:cNvSpPr txBox="1"/>
          <p:nvPr/>
        </p:nvSpPr>
        <p:spPr>
          <a:xfrm>
            <a:off x="548640" y="4571999"/>
            <a:ext cx="3337560" cy="1280160"/>
          </a:xfrm>
          <a:prstGeom prst="rect">
            <a:avLst/>
          </a:prstGeom>
          <a:noFill/>
        </p:spPr>
        <p:txBody>
          <a:bodyPr wrap="square">
            <a:spAutoFit/>
          </a:bodyPr>
          <a:lstStyle/>
          <a:p>
            <a:pPr algn="l"/>
            <a:r>
              <a:rPr sz="1500" b="0">
                <a:solidFill>
                  <a:srgbClr val="1A2A36"/>
                </a:solidFill>
                <a:latin typeface="Apple SD Gothic Neo"/>
                <a:ea typeface="Apple SD Gothic Neo"/>
                <a:cs typeface="Apple SD Gothic Neo"/>
              </a:rPr>
              <a:t>LSD·난청·안구
희귀·소환자 근거</a:t>
            </a:r>
          </a:p>
        </p:txBody>
      </p:sp>
      <p:sp>
        <p:nvSpPr>
          <p:cNvPr id="18" name="Rounded Rectangle 17"/>
          <p:cNvSpPr/>
          <p:nvPr/>
        </p:nvSpPr>
        <p:spPr>
          <a:xfrm>
            <a:off x="4251960" y="3749039"/>
            <a:ext cx="3703320" cy="2377440"/>
          </a:xfrm>
          <a:prstGeom prst="roundRect">
            <a:avLst>
              <a:gd name="adj" fmla="val 6000"/>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3977639"/>
            <a:ext cx="3337560" cy="411480"/>
          </a:xfrm>
          <a:prstGeom prst="rect">
            <a:avLst/>
          </a:prstGeom>
          <a:noFill/>
        </p:spPr>
        <p:txBody>
          <a:bodyPr wrap="square">
            <a:spAutoFit/>
          </a:bodyPr>
          <a:lstStyle/>
          <a:p>
            <a:pPr algn="l"/>
            <a:r>
              <a:rPr sz="1800" b="1">
                <a:solidFill>
                  <a:srgbClr val="0B1F33"/>
                </a:solidFill>
                <a:latin typeface="Apple SD Gothic Neo"/>
                <a:ea typeface="Apple SD Gothic Neo"/>
                <a:cs typeface="Apple SD Gothic Neo"/>
              </a:rPr>
              <a:t>C5 규제</a:t>
            </a:r>
          </a:p>
        </p:txBody>
      </p:sp>
      <p:sp>
        <p:nvSpPr>
          <p:cNvPr id="20" name="TextBox 19"/>
          <p:cNvSpPr txBox="1"/>
          <p:nvPr/>
        </p:nvSpPr>
        <p:spPr>
          <a:xfrm>
            <a:off x="4434840" y="4571999"/>
            <a:ext cx="3337560" cy="1280160"/>
          </a:xfrm>
          <a:prstGeom prst="rect">
            <a:avLst/>
          </a:prstGeom>
          <a:noFill/>
        </p:spPr>
        <p:txBody>
          <a:bodyPr wrap="square">
            <a:spAutoFit/>
          </a:bodyPr>
          <a:lstStyle/>
          <a:p>
            <a:pPr algn="l"/>
            <a:r>
              <a:rPr sz="1500" b="0">
                <a:solidFill>
                  <a:srgbClr val="1A2A36"/>
                </a:solidFill>
                <a:latin typeface="Apple SD Gothic Neo"/>
                <a:ea typeface="Apple SD Gothic Neo"/>
                <a:cs typeface="Apple SD Gothic Neo"/>
              </a:rPr>
              <a:t>유전자치료 CMC
임상·품질 문서</a:t>
            </a:r>
          </a:p>
        </p:txBody>
      </p:sp>
      <p:sp>
        <p:nvSpPr>
          <p:cNvPr id="21" name="Rounded Rectangle 20"/>
          <p:cNvSpPr/>
          <p:nvPr/>
        </p:nvSpPr>
        <p:spPr>
          <a:xfrm>
            <a:off x="8138160" y="3749039"/>
            <a:ext cx="3703320" cy="2377440"/>
          </a:xfrm>
          <a:prstGeom prst="roundRect">
            <a:avLst>
              <a:gd name="adj" fmla="val 6000"/>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977639"/>
            <a:ext cx="3337560" cy="411480"/>
          </a:xfrm>
          <a:prstGeom prst="rect">
            <a:avLst/>
          </a:prstGeom>
          <a:noFill/>
        </p:spPr>
        <p:txBody>
          <a:bodyPr wrap="square">
            <a:spAutoFit/>
          </a:bodyPr>
          <a:lstStyle/>
          <a:p>
            <a:pPr algn="l"/>
            <a:r>
              <a:rPr sz="1800" b="1">
                <a:solidFill>
                  <a:srgbClr val="0B1F33"/>
                </a:solidFill>
                <a:latin typeface="Apple SD Gothic Neo"/>
                <a:ea typeface="Apple SD Gothic Neo"/>
                <a:cs typeface="Apple SD Gothic Neo"/>
              </a:rPr>
              <a:t>C6 자본</a:t>
            </a:r>
          </a:p>
        </p:txBody>
      </p:sp>
      <p:sp>
        <p:nvSpPr>
          <p:cNvPr id="23" name="TextBox 22"/>
          <p:cNvSpPr txBox="1"/>
          <p:nvPr/>
        </p:nvSpPr>
        <p:spPr>
          <a:xfrm>
            <a:off x="8321040" y="4571999"/>
            <a:ext cx="3337560" cy="1280160"/>
          </a:xfrm>
          <a:prstGeom prst="rect">
            <a:avLst/>
          </a:prstGeom>
          <a:noFill/>
        </p:spPr>
        <p:txBody>
          <a:bodyPr wrap="square">
            <a:spAutoFit/>
          </a:bodyPr>
          <a:lstStyle/>
          <a:p>
            <a:pPr algn="l"/>
            <a:r>
              <a:rPr sz="1500" b="0">
                <a:solidFill>
                  <a:srgbClr val="1A2A36"/>
                </a:solidFill>
                <a:latin typeface="Apple SD Gothic Neo"/>
                <a:ea typeface="Apple SD Gothic Neo"/>
                <a:cs typeface="Apple SD Gothic Neo"/>
              </a:rPr>
              <a:t>시리즈B·국책 연계
플랫폼+파이프라인</a:t>
            </a:r>
          </a:p>
        </p:txBody>
      </p:sp>
      <p:sp>
        <p:nvSpPr>
          <p:cNvPr id="24" name="Rectangle 2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26" name="TextBox 25"/>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6/14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6 · IDSX가 이미 가진 것 (한 장 리콜)</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기업 언어로 재서술</a:t>
            </a:r>
          </a:p>
        </p:txBody>
      </p:sp>
      <p:sp>
        <p:nvSpPr>
          <p:cNvPr id="6" name="Rounded Rectangle 5"/>
          <p:cNvSpPr/>
          <p:nvPr/>
        </p:nvSpPr>
        <p:spPr>
          <a:xfrm>
            <a:off x="365760" y="1143000"/>
            <a:ext cx="3703320" cy="237744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3337560" cy="411480"/>
          </a:xfrm>
          <a:prstGeom prst="rect">
            <a:avLst/>
          </a:prstGeom>
          <a:noFill/>
        </p:spPr>
        <p:txBody>
          <a:bodyPr wrap="square">
            <a:spAutoFit/>
          </a:bodyPr>
          <a:lstStyle/>
          <a:p>
            <a:pPr algn="l"/>
            <a:r>
              <a:rPr sz="1600" b="1">
                <a:solidFill>
                  <a:srgbClr val="0A6B62"/>
                </a:solidFill>
                <a:latin typeface="Apple SD Gothic Neo"/>
                <a:ea typeface="Apple SD Gothic Neo"/>
                <a:cs typeface="Apple SD Gothic Neo"/>
              </a:rPr>
              <a:t>질환 공간</a:t>
            </a:r>
          </a:p>
        </p:txBody>
      </p:sp>
      <p:sp>
        <p:nvSpPr>
          <p:cNvPr id="8" name="TextBox 7"/>
          <p:cNvSpPr txBox="1"/>
          <p:nvPr/>
        </p:nvSpPr>
        <p:spPr>
          <a:xfrm>
            <a:off x="548640" y="2011680"/>
            <a:ext cx="3337560" cy="1280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Hunter / MPS II = LSD
리소좀 효소 IDS 결핍</a:t>
            </a:r>
          </a:p>
        </p:txBody>
      </p:sp>
      <p:sp>
        <p:nvSpPr>
          <p:cNvPr id="9" name="Rounded Rectangle 8"/>
          <p:cNvSpPr/>
          <p:nvPr/>
        </p:nvSpPr>
        <p:spPr>
          <a:xfrm>
            <a:off x="4251960" y="1143000"/>
            <a:ext cx="3703320" cy="237744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417320"/>
            <a:ext cx="3337560" cy="411480"/>
          </a:xfrm>
          <a:prstGeom prst="rect">
            <a:avLst/>
          </a:prstGeom>
          <a:noFill/>
        </p:spPr>
        <p:txBody>
          <a:bodyPr wrap="square">
            <a:spAutoFit/>
          </a:bodyPr>
          <a:lstStyle/>
          <a:p>
            <a:pPr algn="l"/>
            <a:r>
              <a:rPr sz="1600" b="1">
                <a:solidFill>
                  <a:srgbClr val="0A6B62"/>
                </a:solidFill>
                <a:latin typeface="Apple SD Gothic Neo"/>
                <a:ea typeface="Apple SD Gothic Neo"/>
                <a:cs typeface="Apple SD Gothic Neo"/>
              </a:rPr>
              <a:t>구조 층</a:t>
            </a:r>
          </a:p>
        </p:txBody>
      </p:sp>
      <p:sp>
        <p:nvSpPr>
          <p:cNvPr id="11" name="TextBox 10"/>
          <p:cNvSpPr txBox="1"/>
          <p:nvPr/>
        </p:nvSpPr>
        <p:spPr>
          <a:xfrm>
            <a:off x="4434840" y="2011680"/>
            <a:ext cx="3337560" cy="1280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5FQL · 797 변이 triage
amenability 규칙</a:t>
            </a:r>
          </a:p>
        </p:txBody>
      </p:sp>
      <p:sp>
        <p:nvSpPr>
          <p:cNvPr id="12" name="Rounded Rectangle 11"/>
          <p:cNvSpPr/>
          <p:nvPr/>
        </p:nvSpPr>
        <p:spPr>
          <a:xfrm>
            <a:off x="8138160" y="1143000"/>
            <a:ext cx="3703320" cy="237744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417320"/>
            <a:ext cx="3337560" cy="411480"/>
          </a:xfrm>
          <a:prstGeom prst="rect">
            <a:avLst/>
          </a:prstGeom>
          <a:noFill/>
        </p:spPr>
        <p:txBody>
          <a:bodyPr wrap="square">
            <a:spAutoFit/>
          </a:bodyPr>
          <a:lstStyle/>
          <a:p>
            <a:pPr algn="l"/>
            <a:r>
              <a:rPr sz="1600" b="1">
                <a:solidFill>
                  <a:srgbClr val="0A6B62"/>
                </a:solidFill>
                <a:latin typeface="Apple SD Gothic Neo"/>
                <a:ea typeface="Apple SD Gothic Neo"/>
                <a:cs typeface="Apple SD Gothic Neo"/>
              </a:rPr>
              <a:t>모달리티</a:t>
            </a:r>
          </a:p>
        </p:txBody>
      </p:sp>
      <p:sp>
        <p:nvSpPr>
          <p:cNvPr id="14" name="TextBox 13"/>
          <p:cNvSpPr txBox="1"/>
          <p:nvPr/>
        </p:nvSpPr>
        <p:spPr>
          <a:xfrm>
            <a:off x="8321040" y="2011680"/>
            <a:ext cx="3337560" cy="1280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샤페론·표면 안정화
(유전자치료와 직교)</a:t>
            </a:r>
          </a:p>
        </p:txBody>
      </p:sp>
      <p:sp>
        <p:nvSpPr>
          <p:cNvPr id="15" name="Rounded Rectangle 14"/>
          <p:cNvSpPr/>
          <p:nvPr/>
        </p:nvSpPr>
        <p:spPr>
          <a:xfrm>
            <a:off x="365760" y="3749039"/>
            <a:ext cx="3703320" cy="237744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23359"/>
            <a:ext cx="3337560" cy="411480"/>
          </a:xfrm>
          <a:prstGeom prst="rect">
            <a:avLst/>
          </a:prstGeom>
          <a:noFill/>
        </p:spPr>
        <p:txBody>
          <a:bodyPr wrap="square">
            <a:spAutoFit/>
          </a:bodyPr>
          <a:lstStyle/>
          <a:p>
            <a:pPr algn="l"/>
            <a:r>
              <a:rPr sz="1600" b="1">
                <a:solidFill>
                  <a:srgbClr val="0A6B62"/>
                </a:solidFill>
                <a:latin typeface="Apple SD Gothic Neo"/>
                <a:ea typeface="Apple SD Gothic Neo"/>
                <a:cs typeface="Apple SD Gothic Neo"/>
              </a:rPr>
              <a:t>다단 시뮬</a:t>
            </a:r>
          </a:p>
        </p:txBody>
      </p:sp>
      <p:sp>
        <p:nvSpPr>
          <p:cNvPr id="17" name="TextBox 16"/>
          <p:cNvSpPr txBox="1"/>
          <p:nvPr/>
        </p:nvSpPr>
        <p:spPr>
          <a:xfrm>
            <a:off x="548640" y="4617719"/>
            <a:ext cx="3337560" cy="1280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S1–S8 공정 맵
Θ 처리량 사고</a:t>
            </a:r>
          </a:p>
        </p:txBody>
      </p:sp>
      <p:sp>
        <p:nvSpPr>
          <p:cNvPr id="18" name="Rounded Rectangle 17"/>
          <p:cNvSpPr/>
          <p:nvPr/>
        </p:nvSpPr>
        <p:spPr>
          <a:xfrm>
            <a:off x="4251960" y="3749039"/>
            <a:ext cx="3703320" cy="237744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4023359"/>
            <a:ext cx="3337560" cy="411480"/>
          </a:xfrm>
          <a:prstGeom prst="rect">
            <a:avLst/>
          </a:prstGeom>
          <a:noFill/>
        </p:spPr>
        <p:txBody>
          <a:bodyPr wrap="square">
            <a:spAutoFit/>
          </a:bodyPr>
          <a:lstStyle/>
          <a:p>
            <a:pPr algn="l"/>
            <a:r>
              <a:rPr sz="1600" b="1">
                <a:solidFill>
                  <a:srgbClr val="0A6B62"/>
                </a:solidFill>
                <a:latin typeface="Apple SD Gothic Neo"/>
                <a:ea typeface="Apple SD Gothic Neo"/>
                <a:cs typeface="Apple SD Gothic Neo"/>
              </a:rPr>
              <a:t>화학공학</a:t>
            </a:r>
          </a:p>
        </p:txBody>
      </p:sp>
      <p:sp>
        <p:nvSpPr>
          <p:cNvPr id="20" name="TextBox 19"/>
          <p:cNvSpPr txBox="1"/>
          <p:nvPr/>
        </p:nvSpPr>
        <p:spPr>
          <a:xfrm>
            <a:off x="4434840" y="4617719"/>
            <a:ext cx="3337560" cy="1280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CMC적 사고: 수지·게이트
운전창·HAZOP</a:t>
            </a:r>
          </a:p>
        </p:txBody>
      </p:sp>
      <p:sp>
        <p:nvSpPr>
          <p:cNvPr id="21" name="Rounded Rectangle 20"/>
          <p:cNvSpPr/>
          <p:nvPr/>
        </p:nvSpPr>
        <p:spPr>
          <a:xfrm>
            <a:off x="8138160" y="3749039"/>
            <a:ext cx="3703320" cy="237744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4023359"/>
            <a:ext cx="3337560" cy="411480"/>
          </a:xfrm>
          <a:prstGeom prst="rect">
            <a:avLst/>
          </a:prstGeom>
          <a:noFill/>
        </p:spPr>
        <p:txBody>
          <a:bodyPr wrap="square">
            <a:spAutoFit/>
          </a:bodyPr>
          <a:lstStyle/>
          <a:p>
            <a:pPr algn="l"/>
            <a:r>
              <a:rPr sz="1600" b="1">
                <a:solidFill>
                  <a:srgbClr val="0A6B62"/>
                </a:solidFill>
                <a:latin typeface="Apple SD Gothic Neo"/>
                <a:ea typeface="Apple SD Gothic Neo"/>
                <a:cs typeface="Apple SD Gothic Neo"/>
              </a:rPr>
              <a:t>Non-claim</a:t>
            </a:r>
          </a:p>
        </p:txBody>
      </p:sp>
      <p:sp>
        <p:nvSpPr>
          <p:cNvPr id="23" name="TextBox 22"/>
          <p:cNvSpPr txBox="1"/>
          <p:nvPr/>
        </p:nvSpPr>
        <p:spPr>
          <a:xfrm>
            <a:off x="8321040" y="4617719"/>
            <a:ext cx="3337560" cy="1280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치료 미완성
의사결정 층 정직</a:t>
            </a:r>
          </a:p>
        </p:txBody>
      </p:sp>
      <p:sp>
        <p:nvSpPr>
          <p:cNvPr id="24" name="Rectangle 2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26" name="TextBox 25"/>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7/14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7 · 연결 매트릭스 — 어디에 붙일 것인가</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오버랩 · 직교 · 보완</a:t>
            </a:r>
          </a:p>
        </p:txBody>
      </p:sp>
      <p:sp>
        <p:nvSpPr>
          <p:cNvPr id="6" name="Rectangle 5"/>
          <p:cNvSpPr/>
          <p:nvPr/>
        </p:nvSpPr>
        <p:spPr>
          <a:xfrm>
            <a:off x="320040" y="1051560"/>
            <a:ext cx="1463040" cy="3657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 y="1124712"/>
            <a:ext cx="1371600" cy="274320"/>
          </a:xfrm>
          <a:prstGeom prst="rect">
            <a:avLst/>
          </a:prstGeom>
          <a:noFill/>
        </p:spPr>
        <p:txBody>
          <a:bodyPr wrap="square">
            <a:spAutoFit/>
          </a:bodyPr>
          <a:lstStyle/>
          <a:p>
            <a:pPr algn="l"/>
            <a:r>
              <a:rPr sz="1200" b="1">
                <a:solidFill>
                  <a:srgbClr val="5EE0C5"/>
                </a:solidFill>
                <a:latin typeface="Apple SD Gothic Neo"/>
                <a:ea typeface="Apple SD Gothic Neo"/>
                <a:cs typeface="Apple SD Gothic Neo"/>
              </a:rPr>
              <a:t>축</a:t>
            </a:r>
          </a:p>
        </p:txBody>
      </p:sp>
      <p:sp>
        <p:nvSpPr>
          <p:cNvPr id="8" name="Rectangle 7"/>
          <p:cNvSpPr/>
          <p:nvPr/>
        </p:nvSpPr>
        <p:spPr>
          <a:xfrm>
            <a:off x="1783080" y="1051560"/>
            <a:ext cx="2926080" cy="3657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56232" y="1124712"/>
            <a:ext cx="2834640" cy="274320"/>
          </a:xfrm>
          <a:prstGeom prst="rect">
            <a:avLst/>
          </a:prstGeom>
          <a:noFill/>
        </p:spPr>
        <p:txBody>
          <a:bodyPr wrap="square">
            <a:spAutoFit/>
          </a:bodyPr>
          <a:lstStyle/>
          <a:p>
            <a:pPr algn="l"/>
            <a:r>
              <a:rPr sz="1200" b="1">
                <a:solidFill>
                  <a:srgbClr val="5EE0C5"/>
                </a:solidFill>
                <a:latin typeface="Apple SD Gothic Neo"/>
                <a:ea typeface="Apple SD Gothic Neo"/>
                <a:cs typeface="Apple SD Gothic Neo"/>
              </a:rPr>
              <a:t>아바타</a:t>
            </a:r>
          </a:p>
        </p:txBody>
      </p:sp>
      <p:sp>
        <p:nvSpPr>
          <p:cNvPr id="10" name="Rectangle 9"/>
          <p:cNvSpPr/>
          <p:nvPr/>
        </p:nvSpPr>
        <p:spPr>
          <a:xfrm>
            <a:off x="4709160" y="1051560"/>
            <a:ext cx="2926080" cy="3657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2312" y="1124712"/>
            <a:ext cx="2834640" cy="274320"/>
          </a:xfrm>
          <a:prstGeom prst="rect">
            <a:avLst/>
          </a:prstGeom>
          <a:noFill/>
        </p:spPr>
        <p:txBody>
          <a:bodyPr wrap="square">
            <a:spAutoFit/>
          </a:bodyPr>
          <a:lstStyle/>
          <a:p>
            <a:pPr algn="l"/>
            <a:r>
              <a:rPr sz="1200" b="1">
                <a:solidFill>
                  <a:srgbClr val="5EE0C5"/>
                </a:solidFill>
                <a:latin typeface="Apple SD Gothic Neo"/>
                <a:ea typeface="Apple SD Gothic Neo"/>
                <a:cs typeface="Apple SD Gothic Neo"/>
              </a:rPr>
              <a:t>IDSX</a:t>
            </a:r>
          </a:p>
        </p:txBody>
      </p:sp>
      <p:sp>
        <p:nvSpPr>
          <p:cNvPr id="12" name="Rectangle 11"/>
          <p:cNvSpPr/>
          <p:nvPr/>
        </p:nvSpPr>
        <p:spPr>
          <a:xfrm>
            <a:off x="7635240" y="1051560"/>
            <a:ext cx="4114800" cy="3657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1124712"/>
            <a:ext cx="4023360" cy="274320"/>
          </a:xfrm>
          <a:prstGeom prst="rect">
            <a:avLst/>
          </a:prstGeom>
          <a:noFill/>
        </p:spPr>
        <p:txBody>
          <a:bodyPr wrap="square">
            <a:spAutoFit/>
          </a:bodyPr>
          <a:lstStyle/>
          <a:p>
            <a:pPr algn="l"/>
            <a:r>
              <a:rPr sz="1200" b="1">
                <a:solidFill>
                  <a:srgbClr val="5EE0C5"/>
                </a:solidFill>
                <a:latin typeface="Apple SD Gothic Neo"/>
                <a:ea typeface="Apple SD Gothic Neo"/>
                <a:cs typeface="Apple SD Gothic Neo"/>
              </a:rPr>
              <a:t>반영 포인트</a:t>
            </a:r>
          </a:p>
        </p:txBody>
      </p:sp>
      <p:sp>
        <p:nvSpPr>
          <p:cNvPr id="14" name="Rectangle 13"/>
          <p:cNvSpPr/>
          <p:nvPr/>
        </p:nvSpPr>
        <p:spPr>
          <a:xfrm>
            <a:off x="320040" y="1435608"/>
            <a:ext cx="146304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3192" y="1545336"/>
            <a:ext cx="1353312" cy="594360"/>
          </a:xfrm>
          <a:prstGeom prst="rect">
            <a:avLst/>
          </a:prstGeom>
          <a:noFill/>
        </p:spPr>
        <p:txBody>
          <a:bodyPr wrap="square">
            <a:spAutoFit/>
          </a:bodyPr>
          <a:lstStyle/>
          <a:p>
            <a:pPr algn="l"/>
            <a:r>
              <a:rPr sz="1100" b="1">
                <a:solidFill>
                  <a:srgbClr val="1A2A36"/>
                </a:solidFill>
                <a:latin typeface="Apple SD Gothic Neo"/>
                <a:ea typeface="Apple SD Gothic Neo"/>
                <a:cs typeface="Apple SD Gothic Neo"/>
              </a:rPr>
              <a:t>질환</a:t>
            </a:r>
          </a:p>
        </p:txBody>
      </p:sp>
      <p:sp>
        <p:nvSpPr>
          <p:cNvPr id="16" name="Rectangle 15"/>
          <p:cNvSpPr/>
          <p:nvPr/>
        </p:nvSpPr>
        <p:spPr>
          <a:xfrm>
            <a:off x="1783080" y="1435608"/>
            <a:ext cx="292608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56232" y="154533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LSD (Krabbe 등 CNS)</a:t>
            </a:r>
          </a:p>
        </p:txBody>
      </p:sp>
      <p:sp>
        <p:nvSpPr>
          <p:cNvPr id="18" name="Rectangle 17"/>
          <p:cNvSpPr/>
          <p:nvPr/>
        </p:nvSpPr>
        <p:spPr>
          <a:xfrm>
            <a:off x="4709160" y="1435608"/>
            <a:ext cx="292608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82312" y="154533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Hunter / IDS</a:t>
            </a:r>
          </a:p>
        </p:txBody>
      </p:sp>
      <p:sp>
        <p:nvSpPr>
          <p:cNvPr id="20" name="Rectangle 19"/>
          <p:cNvSpPr/>
          <p:nvPr/>
        </p:nvSpPr>
        <p:spPr>
          <a:xfrm>
            <a:off x="7635240" y="1435608"/>
            <a:ext cx="411480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08392" y="1545336"/>
            <a:ext cx="400507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동일 LSD 프레임 · CNS 전달 과제가 공통 화두</a:t>
            </a:r>
          </a:p>
        </p:txBody>
      </p:sp>
      <p:sp>
        <p:nvSpPr>
          <p:cNvPr id="22" name="Rectangle 21"/>
          <p:cNvSpPr/>
          <p:nvPr/>
        </p:nvSpPr>
        <p:spPr>
          <a:xfrm>
            <a:off x="320040" y="2258568"/>
            <a:ext cx="14630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3192" y="2368296"/>
            <a:ext cx="1353312" cy="594360"/>
          </a:xfrm>
          <a:prstGeom prst="rect">
            <a:avLst/>
          </a:prstGeom>
          <a:noFill/>
        </p:spPr>
        <p:txBody>
          <a:bodyPr wrap="square">
            <a:spAutoFit/>
          </a:bodyPr>
          <a:lstStyle/>
          <a:p>
            <a:pPr algn="l"/>
            <a:r>
              <a:rPr sz="1100" b="1">
                <a:solidFill>
                  <a:srgbClr val="1A2A36"/>
                </a:solidFill>
                <a:latin typeface="Apple SD Gothic Neo"/>
                <a:ea typeface="Apple SD Gothic Neo"/>
                <a:cs typeface="Apple SD Gothic Neo"/>
              </a:rPr>
              <a:t>모달리티</a:t>
            </a:r>
          </a:p>
        </p:txBody>
      </p:sp>
      <p:sp>
        <p:nvSpPr>
          <p:cNvPr id="24" name="Rectangle 23"/>
          <p:cNvSpPr/>
          <p:nvPr/>
        </p:nvSpPr>
        <p:spPr>
          <a:xfrm>
            <a:off x="1783080" y="2258568"/>
            <a:ext cx="29260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56232" y="236829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AAV gene therapy</a:t>
            </a:r>
          </a:p>
        </p:txBody>
      </p:sp>
      <p:sp>
        <p:nvSpPr>
          <p:cNvPr id="26" name="Rectangle 25"/>
          <p:cNvSpPr/>
          <p:nvPr/>
        </p:nvSpPr>
        <p:spPr>
          <a:xfrm>
            <a:off x="4709160" y="2258568"/>
            <a:ext cx="29260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236829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PC / binder triage</a:t>
            </a:r>
          </a:p>
        </p:txBody>
      </p:sp>
      <p:sp>
        <p:nvSpPr>
          <p:cNvPr id="28" name="Rectangle 27"/>
          <p:cNvSpPr/>
          <p:nvPr/>
        </p:nvSpPr>
        <p:spPr>
          <a:xfrm>
            <a:off x="7635240" y="2258568"/>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08392" y="2368296"/>
            <a:ext cx="400507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직교 치료 축 · 병용·환자 층위 논의 가능</a:t>
            </a:r>
          </a:p>
        </p:txBody>
      </p:sp>
      <p:sp>
        <p:nvSpPr>
          <p:cNvPr id="30" name="Rectangle 29"/>
          <p:cNvSpPr/>
          <p:nvPr/>
        </p:nvSpPr>
        <p:spPr>
          <a:xfrm>
            <a:off x="320040" y="3081528"/>
            <a:ext cx="146304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3192" y="3191256"/>
            <a:ext cx="1353312" cy="594360"/>
          </a:xfrm>
          <a:prstGeom prst="rect">
            <a:avLst/>
          </a:prstGeom>
          <a:noFill/>
        </p:spPr>
        <p:txBody>
          <a:bodyPr wrap="square">
            <a:spAutoFit/>
          </a:bodyPr>
          <a:lstStyle/>
          <a:p>
            <a:pPr algn="l"/>
            <a:r>
              <a:rPr sz="1100" b="1">
                <a:solidFill>
                  <a:srgbClr val="1A2A36"/>
                </a:solidFill>
                <a:latin typeface="Apple SD Gothic Neo"/>
                <a:ea typeface="Apple SD Gothic Neo"/>
                <a:cs typeface="Apple SD Gothic Neo"/>
              </a:rPr>
              <a:t>AI/계산</a:t>
            </a:r>
          </a:p>
        </p:txBody>
      </p:sp>
      <p:sp>
        <p:nvSpPr>
          <p:cNvPr id="32" name="Rectangle 31"/>
          <p:cNvSpPr/>
          <p:nvPr/>
        </p:nvSpPr>
        <p:spPr>
          <a:xfrm>
            <a:off x="1783080" y="3081528"/>
            <a:ext cx="292608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56232" y="319125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캡시드 ML·독성/내성</a:t>
            </a:r>
          </a:p>
        </p:txBody>
      </p:sp>
      <p:sp>
        <p:nvSpPr>
          <p:cNvPr id="34" name="Rectangle 33"/>
          <p:cNvSpPr/>
          <p:nvPr/>
        </p:nvSpPr>
        <p:spPr>
          <a:xfrm>
            <a:off x="4709160" y="3081528"/>
            <a:ext cx="292608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82312" y="319125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AF·ΔΔG·amenability</a:t>
            </a:r>
          </a:p>
        </p:txBody>
      </p:sp>
      <p:sp>
        <p:nvSpPr>
          <p:cNvPr id="36" name="Rectangle 35"/>
          <p:cNvSpPr/>
          <p:nvPr/>
        </p:nvSpPr>
        <p:spPr>
          <a:xfrm>
            <a:off x="7635240" y="3081528"/>
            <a:ext cx="411480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08392" y="3191256"/>
            <a:ext cx="400507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‘설계 전 필터’ 문화 공유</a:t>
            </a:r>
          </a:p>
        </p:txBody>
      </p:sp>
      <p:sp>
        <p:nvSpPr>
          <p:cNvPr id="38" name="Rectangle 37"/>
          <p:cNvSpPr/>
          <p:nvPr/>
        </p:nvSpPr>
        <p:spPr>
          <a:xfrm>
            <a:off x="320040" y="3904488"/>
            <a:ext cx="14630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3192" y="4014216"/>
            <a:ext cx="1353312" cy="594360"/>
          </a:xfrm>
          <a:prstGeom prst="rect">
            <a:avLst/>
          </a:prstGeom>
          <a:noFill/>
        </p:spPr>
        <p:txBody>
          <a:bodyPr wrap="square">
            <a:spAutoFit/>
          </a:bodyPr>
          <a:lstStyle/>
          <a:p>
            <a:pPr algn="l"/>
            <a:r>
              <a:rPr sz="1100" b="1">
                <a:solidFill>
                  <a:srgbClr val="1A2A36"/>
                </a:solidFill>
                <a:latin typeface="Apple SD Gothic Neo"/>
                <a:ea typeface="Apple SD Gothic Neo"/>
                <a:cs typeface="Apple SD Gothic Neo"/>
              </a:rPr>
              <a:t>공정</a:t>
            </a:r>
          </a:p>
        </p:txBody>
      </p:sp>
      <p:sp>
        <p:nvSpPr>
          <p:cNvPr id="40" name="Rectangle 39"/>
          <p:cNvSpPr/>
          <p:nvPr/>
        </p:nvSpPr>
        <p:spPr>
          <a:xfrm>
            <a:off x="1783080" y="3904488"/>
            <a:ext cx="29260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56232" y="401421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CMC·고수율 생산</a:t>
            </a:r>
          </a:p>
        </p:txBody>
      </p:sp>
      <p:sp>
        <p:nvSpPr>
          <p:cNvPr id="42" name="Rectangle 41"/>
          <p:cNvSpPr/>
          <p:nvPr/>
        </p:nvSpPr>
        <p:spPr>
          <a:xfrm>
            <a:off x="4709160" y="3904488"/>
            <a:ext cx="29260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82312" y="401421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S1–S8·PFI·게이트</a:t>
            </a:r>
          </a:p>
        </p:txBody>
      </p:sp>
      <p:sp>
        <p:nvSpPr>
          <p:cNvPr id="44" name="Rectangle 43"/>
          <p:cNvSpPr/>
          <p:nvPr/>
        </p:nvSpPr>
        <p:spPr>
          <a:xfrm>
            <a:off x="7635240" y="3904488"/>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08392" y="4014216"/>
            <a:ext cx="400507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화공 언어로 CMC 대화 가능</a:t>
            </a:r>
          </a:p>
        </p:txBody>
      </p:sp>
      <p:sp>
        <p:nvSpPr>
          <p:cNvPr id="46" name="Rectangle 45"/>
          <p:cNvSpPr/>
          <p:nvPr/>
        </p:nvSpPr>
        <p:spPr>
          <a:xfrm>
            <a:off x="320040" y="4727448"/>
            <a:ext cx="146304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3192" y="4837176"/>
            <a:ext cx="1353312" cy="594360"/>
          </a:xfrm>
          <a:prstGeom prst="rect">
            <a:avLst/>
          </a:prstGeom>
          <a:noFill/>
        </p:spPr>
        <p:txBody>
          <a:bodyPr wrap="square">
            <a:spAutoFit/>
          </a:bodyPr>
          <a:lstStyle/>
          <a:p>
            <a:pPr algn="l"/>
            <a:r>
              <a:rPr sz="1100" b="1">
                <a:solidFill>
                  <a:srgbClr val="1A2A36"/>
                </a:solidFill>
                <a:latin typeface="Apple SD Gothic Neo"/>
                <a:ea typeface="Apple SD Gothic Neo"/>
                <a:cs typeface="Apple SD Gothic Neo"/>
              </a:rPr>
              <a:t>환자 선별</a:t>
            </a:r>
          </a:p>
        </p:txBody>
      </p:sp>
      <p:sp>
        <p:nvSpPr>
          <p:cNvPr id="48" name="Rectangle 47"/>
          <p:cNvSpPr/>
          <p:nvPr/>
        </p:nvSpPr>
        <p:spPr>
          <a:xfrm>
            <a:off x="1783080" y="4727448"/>
            <a:ext cx="292608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56232" y="483717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희귀·유전자형 의존</a:t>
            </a:r>
          </a:p>
        </p:txBody>
      </p:sp>
      <p:sp>
        <p:nvSpPr>
          <p:cNvPr id="50" name="Rectangle 49"/>
          <p:cNvSpPr/>
          <p:nvPr/>
        </p:nvSpPr>
        <p:spPr>
          <a:xfrm>
            <a:off x="4709160" y="4727448"/>
            <a:ext cx="292608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82312" y="483717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TIER1 proxy 맵</a:t>
            </a:r>
          </a:p>
        </p:txBody>
      </p:sp>
      <p:sp>
        <p:nvSpPr>
          <p:cNvPr id="52" name="Rectangle 51"/>
          <p:cNvSpPr/>
          <p:nvPr/>
        </p:nvSpPr>
        <p:spPr>
          <a:xfrm>
            <a:off x="7635240" y="4727448"/>
            <a:ext cx="4114800" cy="777240"/>
          </a:xfrm>
          <a:prstGeom prst="rect">
            <a:avLst/>
          </a:prstGeom>
          <a:solidFill>
            <a:srgbClr val="E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08392" y="4837176"/>
            <a:ext cx="400507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genotype-informed 의사결정</a:t>
            </a:r>
          </a:p>
        </p:txBody>
      </p:sp>
      <p:sp>
        <p:nvSpPr>
          <p:cNvPr id="54" name="Rectangle 53"/>
          <p:cNvSpPr/>
          <p:nvPr/>
        </p:nvSpPr>
        <p:spPr>
          <a:xfrm>
            <a:off x="320040" y="5550408"/>
            <a:ext cx="14630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 y="5660136"/>
            <a:ext cx="1353312" cy="594360"/>
          </a:xfrm>
          <a:prstGeom prst="rect">
            <a:avLst/>
          </a:prstGeom>
          <a:noFill/>
        </p:spPr>
        <p:txBody>
          <a:bodyPr wrap="square">
            <a:spAutoFit/>
          </a:bodyPr>
          <a:lstStyle/>
          <a:p>
            <a:pPr algn="l"/>
            <a:r>
              <a:rPr sz="1100" b="1">
                <a:solidFill>
                  <a:srgbClr val="1A2A36"/>
                </a:solidFill>
                <a:latin typeface="Apple SD Gothic Neo"/>
                <a:ea typeface="Apple SD Gothic Neo"/>
                <a:cs typeface="Apple SD Gothic Neo"/>
              </a:rPr>
              <a:t>한계 인식</a:t>
            </a:r>
          </a:p>
        </p:txBody>
      </p:sp>
      <p:sp>
        <p:nvSpPr>
          <p:cNvPr id="56" name="Rectangle 55"/>
          <p:cNvSpPr/>
          <p:nvPr/>
        </p:nvSpPr>
        <p:spPr>
          <a:xfrm>
            <a:off x="1783080" y="5550408"/>
            <a:ext cx="29260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856232" y="566013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면역·용량·원가</a:t>
            </a:r>
          </a:p>
        </p:txBody>
      </p:sp>
      <p:sp>
        <p:nvSpPr>
          <p:cNvPr id="58" name="Rectangle 57"/>
          <p:cNvSpPr/>
          <p:nvPr/>
        </p:nvSpPr>
        <p:spPr>
          <a:xfrm>
            <a:off x="4709160" y="5550408"/>
            <a:ext cx="29260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82312" y="5660136"/>
            <a:ext cx="281635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residual UNKNOWN</a:t>
            </a:r>
          </a:p>
        </p:txBody>
      </p:sp>
      <p:sp>
        <p:nvSpPr>
          <p:cNvPr id="60" name="Rectangle 59"/>
          <p:cNvSpPr/>
          <p:nvPr/>
        </p:nvSpPr>
        <p:spPr>
          <a:xfrm>
            <a:off x="7635240" y="5550408"/>
            <a:ext cx="4114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08392" y="5660136"/>
            <a:ext cx="4005072" cy="594360"/>
          </a:xfrm>
          <a:prstGeom prst="rect">
            <a:avLst/>
          </a:prstGeom>
          <a:noFill/>
        </p:spPr>
        <p:txBody>
          <a:bodyPr wrap="square">
            <a:spAutoFit/>
          </a:bodyPr>
          <a:lstStyle/>
          <a:p>
            <a:pPr algn="l"/>
            <a:r>
              <a:rPr sz="1100" b="0">
                <a:solidFill>
                  <a:srgbClr val="1A2A36"/>
                </a:solidFill>
                <a:latin typeface="Apple SD Gothic Neo"/>
                <a:ea typeface="Apple SD Gothic Neo"/>
                <a:cs typeface="Apple SD Gothic Neo"/>
              </a:rPr>
              <a:t>정직한 non-claim = 신뢰 자산</a:t>
            </a:r>
          </a:p>
        </p:txBody>
      </p:sp>
      <p:sp>
        <p:nvSpPr>
          <p:cNvPr id="62" name="Rectangle 6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64" name="TextBox 63"/>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8/14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8 · IDSX에 반영할 구체 항목 (실행 체크리스트)</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연구·포트폴리오·국책 언어</a:t>
            </a:r>
          </a:p>
        </p:txBody>
      </p:sp>
      <p:sp>
        <p:nvSpPr>
          <p:cNvPr id="6" name="Rounded Rectangle 5"/>
          <p:cNvSpPr/>
          <p:nvPr/>
        </p:nvSpPr>
        <p:spPr>
          <a:xfrm>
            <a:off x="320040" y="1097280"/>
            <a:ext cx="3749039" cy="24688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3749039"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07008"/>
            <a:ext cx="3474720" cy="32004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R1  LSD 프레임 확장 문단</a:t>
            </a:r>
          </a:p>
        </p:txBody>
      </p:sp>
      <p:sp>
        <p:nvSpPr>
          <p:cNvPr id="9" name="TextBox 8"/>
          <p:cNvSpPr txBox="1"/>
          <p:nvPr/>
        </p:nvSpPr>
        <p:spPr>
          <a:xfrm>
            <a:off x="457200" y="1737360"/>
            <a:ext cx="3474720" cy="1645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Hunter만이 아니라 LSD 공통: 접힘·배달·CNS
아바타 파이프라인과 같은 ‘문제 군’임을 명시</a:t>
            </a:r>
          </a:p>
        </p:txBody>
      </p:sp>
      <p:sp>
        <p:nvSpPr>
          <p:cNvPr id="10" name="Rounded Rectangle 9"/>
          <p:cNvSpPr/>
          <p:nvPr/>
        </p:nvSpPr>
        <p:spPr>
          <a:xfrm>
            <a:off x="4251959" y="1097280"/>
            <a:ext cx="3749039" cy="24688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59" y="1097280"/>
            <a:ext cx="3749039"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19" y="1207008"/>
            <a:ext cx="3474720" cy="32004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R2  모달리티 직교 도표</a:t>
            </a:r>
          </a:p>
        </p:txBody>
      </p:sp>
      <p:sp>
        <p:nvSpPr>
          <p:cNvPr id="13" name="TextBox 12"/>
          <p:cNvSpPr txBox="1"/>
          <p:nvPr/>
        </p:nvSpPr>
        <p:spPr>
          <a:xfrm>
            <a:off x="4389119" y="1737360"/>
            <a:ext cx="3474720" cy="1645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AAV gene Tx vs PC/triage vs ERT
병용·환자 층위 가설 1장 (overclaim 금지)</a:t>
            </a:r>
          </a:p>
        </p:txBody>
      </p:sp>
      <p:sp>
        <p:nvSpPr>
          <p:cNvPr id="14" name="Rounded Rectangle 13"/>
          <p:cNvSpPr/>
          <p:nvPr/>
        </p:nvSpPr>
        <p:spPr>
          <a:xfrm>
            <a:off x="8183879" y="1097280"/>
            <a:ext cx="3749039" cy="24688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79" y="1097280"/>
            <a:ext cx="3749039"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39" y="1207008"/>
            <a:ext cx="3474720" cy="32004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R3  CNS 전달 non-claim 강화</a:t>
            </a:r>
          </a:p>
        </p:txBody>
      </p:sp>
      <p:sp>
        <p:nvSpPr>
          <p:cNvPr id="17" name="TextBox 16"/>
          <p:cNvSpPr txBox="1"/>
          <p:nvPr/>
        </p:nvSpPr>
        <p:spPr>
          <a:xfrm>
            <a:off x="8321039" y="1737360"/>
            <a:ext cx="3474720" cy="1645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아바타 핵심 과제=캡시드/CNS
IDSX는 구조 triage, 전달은 별 게이트</a:t>
            </a:r>
          </a:p>
        </p:txBody>
      </p:sp>
      <p:sp>
        <p:nvSpPr>
          <p:cNvPr id="18" name="Rounded Rectangle 17"/>
          <p:cNvSpPr/>
          <p:nvPr/>
        </p:nvSpPr>
        <p:spPr>
          <a:xfrm>
            <a:off x="320040" y="3749039"/>
            <a:ext cx="3749039" cy="24688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749039"/>
            <a:ext cx="3749039" cy="50292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58767"/>
            <a:ext cx="3474720" cy="32004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R4  CMC·화공 언어 정렬</a:t>
            </a:r>
          </a:p>
        </p:txBody>
      </p:sp>
      <p:sp>
        <p:nvSpPr>
          <p:cNvPr id="21" name="TextBox 20"/>
          <p:cNvSpPr txBox="1"/>
          <p:nvPr/>
        </p:nvSpPr>
        <p:spPr>
          <a:xfrm>
            <a:off x="457200" y="4389119"/>
            <a:ext cx="3474720" cy="1645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DOE·수율·품질 = 아바타 CMC
내 PFI·S1–S8·HAZOP을 ‘공정 동료 언어’로 제시</a:t>
            </a:r>
          </a:p>
        </p:txBody>
      </p:sp>
      <p:sp>
        <p:nvSpPr>
          <p:cNvPr id="22" name="Rounded Rectangle 21"/>
          <p:cNvSpPr/>
          <p:nvPr/>
        </p:nvSpPr>
        <p:spPr>
          <a:xfrm>
            <a:off x="4251959" y="3749039"/>
            <a:ext cx="3749039" cy="24688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59" y="3749039"/>
            <a:ext cx="3749039" cy="50292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19" y="3858767"/>
            <a:ext cx="3474720" cy="32004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R5  Genotype decision layer</a:t>
            </a:r>
          </a:p>
        </p:txBody>
      </p:sp>
      <p:sp>
        <p:nvSpPr>
          <p:cNvPr id="25" name="TextBox 24"/>
          <p:cNvSpPr txBox="1"/>
          <p:nvPr/>
        </p:nvSpPr>
        <p:spPr>
          <a:xfrm>
            <a:off x="4389119" y="4389119"/>
            <a:ext cx="3474720" cy="1645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희귀질환 = 소환자·이질 변이
amenability 맵을 ‘누구에게 어떤 논리’ 층으로 제안</a:t>
            </a:r>
          </a:p>
        </p:txBody>
      </p:sp>
      <p:sp>
        <p:nvSpPr>
          <p:cNvPr id="26" name="Rounded Rectangle 25"/>
          <p:cNvSpPr/>
          <p:nvPr/>
        </p:nvSpPr>
        <p:spPr>
          <a:xfrm>
            <a:off x="8183879" y="3749039"/>
            <a:ext cx="3749039" cy="24688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83879" y="3749039"/>
            <a:ext cx="3749039" cy="50292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39" y="3858767"/>
            <a:ext cx="3474720" cy="320040"/>
          </a:xfrm>
          <a:prstGeom prst="rect">
            <a:avLst/>
          </a:prstGeom>
          <a:noFill/>
        </p:spPr>
        <p:txBody>
          <a:bodyPr wrap="square">
            <a:spAutoFit/>
          </a:bodyPr>
          <a:lstStyle/>
          <a:p>
            <a:pPr algn="l"/>
            <a:r>
              <a:rPr sz="1300" b="1">
                <a:solidFill>
                  <a:srgbClr val="FFFFFF"/>
                </a:solidFill>
                <a:latin typeface="Apple SD Gothic Neo"/>
                <a:ea typeface="Apple SD Gothic Neo"/>
                <a:cs typeface="Apple SD Gothic Neo"/>
              </a:rPr>
              <a:t>R6  국책 키워드 매핑</a:t>
            </a:r>
          </a:p>
        </p:txBody>
      </p:sp>
      <p:sp>
        <p:nvSpPr>
          <p:cNvPr id="29" name="TextBox 28"/>
          <p:cNvSpPr txBox="1"/>
          <p:nvPr/>
        </p:nvSpPr>
        <p:spPr>
          <a:xfrm>
            <a:off x="8321039" y="4389119"/>
            <a:ext cx="3474720" cy="1645920"/>
          </a:xfrm>
          <a:prstGeom prst="rect">
            <a:avLst/>
          </a:prstGeom>
          <a:noFill/>
        </p:spPr>
        <p:txBody>
          <a:bodyPr wrap="square">
            <a:spAutoFit/>
          </a:bodyPr>
          <a:lstStyle/>
          <a:p>
            <a:pPr algn="l"/>
            <a:r>
              <a:rPr sz="1200" b="0">
                <a:solidFill>
                  <a:srgbClr val="1A2A36"/>
                </a:solidFill>
                <a:latin typeface="Apple SD Gothic Neo"/>
                <a:ea typeface="Apple SD Gothic Neo"/>
                <a:cs typeface="Apple SD Gothic Neo"/>
              </a:rPr>
              <a:t>AI·바이오공정·유전자치료·희귀질환
내 산출을 과제 키워드에 매핑한 1페이지</a:t>
            </a:r>
          </a:p>
        </p:txBody>
      </p:sp>
      <p:sp>
        <p:nvSpPr>
          <p:cNvPr id="30" name="Rectangle 29"/>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32" name="TextBox 31"/>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9/14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9 · 국책 과제 키워드 × IDSX 산출 매핑</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지원사업 제안서·포트폴리오용</a:t>
            </a:r>
          </a:p>
        </p:txBody>
      </p:sp>
      <p:sp>
        <p:nvSpPr>
          <p:cNvPr id="6" name="Rectangle 5"/>
          <p:cNvSpPr/>
          <p:nvPr/>
        </p:nvSpPr>
        <p:spPr>
          <a:xfrm>
            <a:off x="365760" y="1097280"/>
            <a:ext cx="3017520" cy="4114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88720"/>
            <a:ext cx="2880360" cy="274320"/>
          </a:xfrm>
          <a:prstGeom prst="rect">
            <a:avLst/>
          </a:prstGeom>
          <a:noFill/>
        </p:spPr>
        <p:txBody>
          <a:bodyPr wrap="square">
            <a:spAutoFit/>
          </a:bodyPr>
          <a:lstStyle/>
          <a:p>
            <a:pPr algn="l"/>
            <a:r>
              <a:rPr sz="1300" b="1">
                <a:solidFill>
                  <a:srgbClr val="5EE0C5"/>
                </a:solidFill>
                <a:latin typeface="Apple SD Gothic Neo"/>
                <a:ea typeface="Apple SD Gothic Neo"/>
                <a:cs typeface="Apple SD Gothic Neo"/>
              </a:rPr>
              <a:t>국책 키워드</a:t>
            </a:r>
          </a:p>
        </p:txBody>
      </p:sp>
      <p:sp>
        <p:nvSpPr>
          <p:cNvPr id="8" name="Rectangle 7"/>
          <p:cNvSpPr/>
          <p:nvPr/>
        </p:nvSpPr>
        <p:spPr>
          <a:xfrm>
            <a:off x="3383280" y="1097280"/>
            <a:ext cx="3200400" cy="4114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188720"/>
            <a:ext cx="3063240" cy="274320"/>
          </a:xfrm>
          <a:prstGeom prst="rect">
            <a:avLst/>
          </a:prstGeom>
          <a:noFill/>
        </p:spPr>
        <p:txBody>
          <a:bodyPr wrap="square">
            <a:spAutoFit/>
          </a:bodyPr>
          <a:lstStyle/>
          <a:p>
            <a:pPr algn="l"/>
            <a:r>
              <a:rPr sz="1300" b="1">
                <a:solidFill>
                  <a:srgbClr val="5EE0C5"/>
                </a:solidFill>
                <a:latin typeface="Apple SD Gothic Neo"/>
                <a:ea typeface="Apple SD Gothic Neo"/>
                <a:cs typeface="Apple SD Gothic Neo"/>
              </a:rPr>
              <a:t>아바타 쪽</a:t>
            </a:r>
          </a:p>
        </p:txBody>
      </p:sp>
      <p:sp>
        <p:nvSpPr>
          <p:cNvPr id="10" name="Rectangle 9"/>
          <p:cNvSpPr/>
          <p:nvPr/>
        </p:nvSpPr>
        <p:spPr>
          <a:xfrm>
            <a:off x="6583680" y="1097280"/>
            <a:ext cx="5029200" cy="4114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188720"/>
            <a:ext cx="4892040" cy="274320"/>
          </a:xfrm>
          <a:prstGeom prst="rect">
            <a:avLst/>
          </a:prstGeom>
          <a:noFill/>
        </p:spPr>
        <p:txBody>
          <a:bodyPr wrap="square">
            <a:spAutoFit/>
          </a:bodyPr>
          <a:lstStyle/>
          <a:p>
            <a:pPr algn="l"/>
            <a:r>
              <a:rPr sz="1300" b="1">
                <a:solidFill>
                  <a:srgbClr val="5EE0C5"/>
                </a:solidFill>
                <a:latin typeface="Apple SD Gothic Neo"/>
                <a:ea typeface="Apple SD Gothic Neo"/>
                <a:cs typeface="Apple SD Gothic Neo"/>
              </a:rPr>
              <a:t>IDSX 반영 산출</a:t>
            </a:r>
          </a:p>
        </p:txBody>
      </p:sp>
      <p:sp>
        <p:nvSpPr>
          <p:cNvPr id="12" name="Rectangle 11"/>
          <p:cNvSpPr/>
          <p:nvPr/>
        </p:nvSpPr>
        <p:spPr>
          <a:xfrm>
            <a:off x="365760" y="1554480"/>
            <a:ext cx="301752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691640"/>
            <a:ext cx="288036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AI·바이오 융복합</a:t>
            </a:r>
          </a:p>
        </p:txBody>
      </p:sp>
      <p:sp>
        <p:nvSpPr>
          <p:cNvPr id="14" name="Rectangle 13"/>
          <p:cNvSpPr/>
          <p:nvPr/>
        </p:nvSpPr>
        <p:spPr>
          <a:xfrm>
            <a:off x="3383280" y="1554480"/>
            <a:ext cx="320040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691640"/>
            <a:ext cx="30632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캡시드 ML</a:t>
            </a:r>
          </a:p>
        </p:txBody>
      </p:sp>
      <p:sp>
        <p:nvSpPr>
          <p:cNvPr id="16" name="Rectangle 15"/>
          <p:cNvSpPr/>
          <p:nvPr/>
        </p:nvSpPr>
        <p:spPr>
          <a:xfrm>
            <a:off x="6583680" y="1554480"/>
            <a:ext cx="502920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1691640"/>
            <a:ext cx="48920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AF 해석 규율·amenability 점수·CTSS/렌즈 분리</a:t>
            </a:r>
          </a:p>
        </p:txBody>
      </p:sp>
      <p:sp>
        <p:nvSpPr>
          <p:cNvPr id="18" name="Rectangle 17"/>
          <p:cNvSpPr/>
          <p:nvPr/>
        </p:nvSpPr>
        <p:spPr>
          <a:xfrm>
            <a:off x="365760" y="2468880"/>
            <a:ext cx="3017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606040"/>
            <a:ext cx="288036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바이오공정·CMC</a:t>
            </a:r>
          </a:p>
        </p:txBody>
      </p:sp>
      <p:sp>
        <p:nvSpPr>
          <p:cNvPr id="20" name="Rectangle 19"/>
          <p:cNvSpPr/>
          <p:nvPr/>
        </p:nvSpPr>
        <p:spPr>
          <a:xfrm>
            <a:off x="3383280" y="2468880"/>
            <a:ext cx="32004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0" y="2606040"/>
            <a:ext cx="30632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AAV 고수율 생산</a:t>
            </a:r>
          </a:p>
        </p:txBody>
      </p:sp>
      <p:sp>
        <p:nvSpPr>
          <p:cNvPr id="22" name="Rectangle 21"/>
          <p:cNvSpPr/>
          <p:nvPr/>
        </p:nvSpPr>
        <p:spPr>
          <a:xfrm>
            <a:off x="6583680" y="2468880"/>
            <a:ext cx="50292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2606040"/>
            <a:ext cx="48920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S1–S8·PFI·물질수지·게이트·DOE 사고</a:t>
            </a:r>
          </a:p>
        </p:txBody>
      </p:sp>
      <p:sp>
        <p:nvSpPr>
          <p:cNvPr id="24" name="Rectangle 23"/>
          <p:cNvSpPr/>
          <p:nvPr/>
        </p:nvSpPr>
        <p:spPr>
          <a:xfrm>
            <a:off x="365760" y="3383280"/>
            <a:ext cx="301752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520440"/>
            <a:ext cx="288036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유전자치료·재생의료</a:t>
            </a:r>
          </a:p>
        </p:txBody>
      </p:sp>
      <p:sp>
        <p:nvSpPr>
          <p:cNvPr id="26" name="Rectangle 25"/>
          <p:cNvSpPr/>
          <p:nvPr/>
        </p:nvSpPr>
        <p:spPr>
          <a:xfrm>
            <a:off x="3383280" y="3383280"/>
            <a:ext cx="320040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0" y="3520440"/>
            <a:ext cx="30632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벡터·임상 기반</a:t>
            </a:r>
          </a:p>
        </p:txBody>
      </p:sp>
      <p:sp>
        <p:nvSpPr>
          <p:cNvPr id="28" name="Rectangle 27"/>
          <p:cNvSpPr/>
          <p:nvPr/>
        </p:nvSpPr>
        <p:spPr>
          <a:xfrm>
            <a:off x="6583680" y="3383280"/>
            <a:ext cx="502920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3520440"/>
            <a:ext cx="48920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LSD 기전·genotype 층 (전달 비claim)</a:t>
            </a:r>
          </a:p>
        </p:txBody>
      </p:sp>
      <p:sp>
        <p:nvSpPr>
          <p:cNvPr id="30" name="Rectangle 29"/>
          <p:cNvSpPr/>
          <p:nvPr/>
        </p:nvSpPr>
        <p:spPr>
          <a:xfrm>
            <a:off x="365760" y="4297680"/>
            <a:ext cx="3017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434840"/>
            <a:ext cx="288036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희귀질환·신약(KDDF 등)</a:t>
            </a:r>
          </a:p>
        </p:txBody>
      </p:sp>
      <p:sp>
        <p:nvSpPr>
          <p:cNvPr id="32" name="Rectangle 31"/>
          <p:cNvSpPr/>
          <p:nvPr/>
        </p:nvSpPr>
        <p:spPr>
          <a:xfrm>
            <a:off x="3383280" y="4297680"/>
            <a:ext cx="32004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4720" y="4434840"/>
            <a:ext cx="30632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파이프라인 개발</a:t>
            </a:r>
          </a:p>
        </p:txBody>
      </p:sp>
      <p:sp>
        <p:nvSpPr>
          <p:cNvPr id="34" name="Rectangle 33"/>
          <p:cNvSpPr/>
          <p:nvPr/>
        </p:nvSpPr>
        <p:spPr>
          <a:xfrm>
            <a:off x="6583680" y="4297680"/>
            <a:ext cx="50292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4434840"/>
            <a:ext cx="48920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triage 맵 = 적응증·환자 층위 의사결정 보조</a:t>
            </a:r>
          </a:p>
        </p:txBody>
      </p:sp>
      <p:sp>
        <p:nvSpPr>
          <p:cNvPr id="36" name="Rectangle 35"/>
          <p:cNvSpPr/>
          <p:nvPr/>
        </p:nvSpPr>
        <p:spPr>
          <a:xfrm>
            <a:off x="365760" y="5212080"/>
            <a:ext cx="301752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349240"/>
            <a:ext cx="288036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지역·스케일업 팁스류</a:t>
            </a:r>
          </a:p>
        </p:txBody>
      </p:sp>
      <p:sp>
        <p:nvSpPr>
          <p:cNvPr id="38" name="Rectangle 37"/>
          <p:cNvSpPr/>
          <p:nvPr/>
        </p:nvSpPr>
        <p:spPr>
          <a:xfrm>
            <a:off x="3383280" y="5212080"/>
            <a:ext cx="320040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74720" y="5349240"/>
            <a:ext cx="30632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사업화·IP</a:t>
            </a:r>
          </a:p>
        </p:txBody>
      </p:sp>
      <p:sp>
        <p:nvSpPr>
          <p:cNvPr id="40" name="Rectangle 39"/>
          <p:cNvSpPr/>
          <p:nvPr/>
        </p:nvSpPr>
        <p:spPr>
          <a:xfrm>
            <a:off x="6583680" y="5212080"/>
            <a:ext cx="5029200" cy="82296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5349240"/>
            <a:ext cx="4892040" cy="594360"/>
          </a:xfrm>
          <a:prstGeom prst="rect">
            <a:avLst/>
          </a:prstGeom>
          <a:noFill/>
        </p:spPr>
        <p:txBody>
          <a:bodyPr wrap="square">
            <a:spAutoFit/>
          </a:bodyPr>
          <a:lstStyle/>
          <a:p>
            <a:pPr algn="l"/>
            <a:r>
              <a:rPr sz="1300" b="0">
                <a:solidFill>
                  <a:srgbClr val="1A2A36"/>
                </a:solidFill>
                <a:latin typeface="Apple SD Gothic Neo"/>
                <a:ea typeface="Apple SD Gothic Neo"/>
                <a:cs typeface="Apple SD Gothic Neo"/>
              </a:rPr>
              <a:t>공개 포털·재현 데이터·특허 가능 방법 문서</a:t>
            </a:r>
          </a:p>
        </p:txBody>
      </p:sp>
      <p:sp>
        <p:nvSpPr>
          <p:cNvPr id="42" name="Rectangle 4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44" name="TextBox 43"/>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10/14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10 · 포지셔닝 문장 (면담·메일·집중학기)</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과장 없이 맞추기</a:t>
            </a:r>
          </a:p>
        </p:txBody>
      </p:sp>
      <p:sp>
        <p:nvSpPr>
          <p:cNvPr id="6" name="Rounded Rectangle 5"/>
          <p:cNvSpPr/>
          <p:nvPr/>
        </p:nvSpPr>
        <p:spPr>
          <a:xfrm>
            <a:off x="411480" y="1188720"/>
            <a:ext cx="11338560" cy="2286000"/>
          </a:xfrm>
          <a:prstGeom prst="roundRect">
            <a:avLst>
              <a:gd name="adj" fmla="val 6000"/>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881360" cy="1920240"/>
          </a:xfrm>
          <a:prstGeom prst="rect">
            <a:avLst/>
          </a:prstGeom>
          <a:noFill/>
        </p:spPr>
        <p:txBody>
          <a:bodyPr wrap="square">
            <a:spAutoFit/>
          </a:bodyPr>
          <a:lstStyle/>
          <a:p>
            <a:pPr algn="l"/>
            <a:r>
              <a:rPr sz="1600" b="1">
                <a:solidFill>
                  <a:srgbClr val="0B1F33"/>
                </a:solidFill>
                <a:latin typeface="Apple SD Gothic Neo"/>
                <a:ea typeface="Apple SD Gothic Neo"/>
                <a:cs typeface="Apple SD Gothic Neo"/>
              </a:rPr>
              <a:t>아바타테라퓨틱스가 AAV로 ‘어떻게 전달·생산할 것인가’를 푸신다면,
저는 IDS(Hunter) 미스센스에 대해 ‘누구에게 어떤 논리의 안정화·구제 시도를
구조적으로 우선순위에 올릴 것인가’를 5FQL 위에서 triage 합니다.
LSD라는 같은 질병 공간에서, 모달리티는 직교하고 의사결정 층은 맞닿습니다.</a:t>
            </a:r>
          </a:p>
        </p:txBody>
      </p:sp>
      <p:sp>
        <p:nvSpPr>
          <p:cNvPr id="8" name="TextBox 7"/>
          <p:cNvSpPr txBox="1"/>
          <p:nvPr/>
        </p:nvSpPr>
        <p:spPr>
          <a:xfrm>
            <a:off x="640080" y="3749039"/>
            <a:ext cx="10881360" cy="2468880"/>
          </a:xfrm>
          <a:prstGeom prst="rect">
            <a:avLst/>
          </a:prstGeom>
          <a:noFill/>
        </p:spPr>
        <p:txBody>
          <a:bodyPr wrap="square">
            <a:spAutoFit/>
          </a:bodyPr>
          <a:lstStyle/>
          <a:p>
            <a:pPr>
              <a:spcAft>
                <a:spcPts val="1000"/>
              </a:spcAft>
            </a:pPr>
            <a:r>
              <a:rPr sz="1400" b="0">
                <a:solidFill>
                  <a:srgbClr val="1A2A36"/>
                </a:solidFill>
                <a:latin typeface="Apple SD Gothic Neo"/>
                <a:ea typeface="Apple SD Gothic Neo"/>
                <a:cs typeface="Apple SD Gothic Neo"/>
              </a:rPr>
              <a:t>짧은 킥 (30초): “Krabbe·LSD AAV를 설계하시듯, 저는 Hunter IDS의 구조 amenability 지도를 만들었습니다.”</a:t>
            </a:r>
          </a:p>
          <a:p>
            <a:pPr>
              <a:spcAft>
                <a:spcPts val="1000"/>
              </a:spcAft>
            </a:pPr>
            <a:r>
              <a:rPr sz="1400" b="0">
                <a:solidFill>
                  <a:srgbClr val="1A2A36"/>
                </a:solidFill>
                <a:latin typeface="Apple SD Gothic Neo"/>
                <a:ea typeface="Apple SD Gothic Neo"/>
                <a:cs typeface="Apple SD Gothic Neo"/>
              </a:rPr>
              <a:t>화학공학 킥: “캡시드 CMC의 DOE처럼, 저는 효소 공급 공정의 고장 모드를 S1–S8로 분해해 게이트를 겁니다.”</a:t>
            </a:r>
          </a:p>
          <a:p>
            <a:pPr>
              <a:spcAft>
                <a:spcPts val="1000"/>
              </a:spcAft>
            </a:pPr>
            <a:r>
              <a:rPr sz="1400" b="0">
                <a:solidFill>
                  <a:srgbClr val="1A2A36"/>
                </a:solidFill>
                <a:latin typeface="Apple SD Gothic Neo"/>
                <a:ea typeface="Apple SD Gothic Neo"/>
                <a:cs typeface="Apple SD Gothic Neo"/>
              </a:rPr>
              <a:t>정직 킥: “유전자치료를 대체한다고 말하지 않습니다. genotype 의사결정과 PC 적합성 프록시를 제공합니다.”</a:t>
            </a:r>
          </a:p>
        </p:txBody>
      </p:sp>
      <p:sp>
        <p:nvSpPr>
          <p:cNvPr id="9" name="Rectangle 8"/>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11" name="TextBox 10"/>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11/14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11 · 접근 시 Do / Don’t</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채용·멘토링·과제 제안 공통</a:t>
            </a:r>
          </a:p>
        </p:txBody>
      </p:sp>
      <p:sp>
        <p:nvSpPr>
          <p:cNvPr id="6" name="Rounded Rectangle 5"/>
          <p:cNvSpPr/>
          <p:nvPr/>
        </p:nvSpPr>
        <p:spPr>
          <a:xfrm>
            <a:off x="365760" y="1143000"/>
            <a:ext cx="5577840" cy="5029200"/>
          </a:xfrm>
          <a:prstGeom prst="roundRect">
            <a:avLst>
              <a:gd name="adj" fmla="val 6000"/>
            </a:avLst>
          </a:prstGeom>
          <a:solidFill>
            <a:srgbClr val="E0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25880"/>
            <a:ext cx="5120640" cy="365760"/>
          </a:xfrm>
          <a:prstGeom prst="rect">
            <a:avLst/>
          </a:prstGeom>
          <a:noFill/>
        </p:spPr>
        <p:txBody>
          <a:bodyPr wrap="square">
            <a:spAutoFit/>
          </a:bodyPr>
          <a:lstStyle/>
          <a:p>
            <a:pPr algn="l"/>
            <a:r>
              <a:rPr sz="1800" b="1">
                <a:solidFill>
                  <a:srgbClr val="1E8E5A"/>
                </a:solidFill>
                <a:latin typeface="Apple SD Gothic Neo"/>
                <a:ea typeface="Apple SD Gothic Neo"/>
                <a:cs typeface="Apple SD Gothic Neo"/>
              </a:rPr>
              <a:t>Do</a:t>
            </a:r>
          </a:p>
        </p:txBody>
      </p:sp>
      <p:sp>
        <p:nvSpPr>
          <p:cNvPr id="8" name="TextBox 7"/>
          <p:cNvSpPr txBox="1"/>
          <p:nvPr/>
        </p:nvSpPr>
        <p:spPr>
          <a:xfrm>
            <a:off x="594360" y="1874519"/>
            <a:ext cx="5120640" cy="4023360"/>
          </a:xfrm>
          <a:prstGeom prst="rect">
            <a:avLst/>
          </a:prstGeom>
          <a:noFill/>
        </p:spPr>
        <p:txBody>
          <a:bodyPr wrap="square">
            <a:spAutoFit/>
          </a:bodyPr>
          <a:lstStyle/>
          <a:p>
            <a:pPr>
              <a:spcAft>
                <a:spcPts val="600"/>
              </a:spcAft>
            </a:pPr>
            <a:r>
              <a:rPr sz="1400" b="0">
                <a:solidFill>
                  <a:srgbClr val="1A2A36"/>
                </a:solidFill>
                <a:latin typeface="Apple SD Gothic Neo"/>
                <a:ea typeface="Apple SD Gothic Neo"/>
                <a:cs typeface="Apple SD Gothic Neo"/>
              </a:rPr>
              <a:t>• LSD·CNS 공통 문제를 먼저 인정</a:t>
            </a:r>
          </a:p>
          <a:p>
            <a:pPr>
              <a:spcAft>
                <a:spcPts val="600"/>
              </a:spcAft>
            </a:pPr>
            <a:r>
              <a:rPr sz="1400" b="0">
                <a:solidFill>
                  <a:srgbClr val="1A2A36"/>
                </a:solidFill>
                <a:latin typeface="Apple SD Gothic Neo"/>
                <a:ea typeface="Apple SD Gothic Neo"/>
                <a:cs typeface="Apple SD Gothic Neo"/>
              </a:rPr>
              <a:t>• 내 산출물 링크 (idsx-lab, STEP 시뮬)</a:t>
            </a:r>
          </a:p>
          <a:p>
            <a:pPr>
              <a:spcAft>
                <a:spcPts val="600"/>
              </a:spcAft>
            </a:pPr>
            <a:r>
              <a:rPr sz="1400" b="0">
                <a:solidFill>
                  <a:srgbClr val="1A2A36"/>
                </a:solidFill>
                <a:latin typeface="Apple SD Gothic Neo"/>
                <a:ea typeface="Apple SD Gothic Neo"/>
                <a:cs typeface="Apple SD Gothic Neo"/>
              </a:rPr>
              <a:t>• CMC/공정 언어로 대화 (화공 전공)</a:t>
            </a:r>
          </a:p>
          <a:p>
            <a:pPr>
              <a:spcAft>
                <a:spcPts val="600"/>
              </a:spcAft>
            </a:pPr>
            <a:r>
              <a:rPr sz="1400" b="0">
                <a:solidFill>
                  <a:srgbClr val="1A2A36"/>
                </a:solidFill>
                <a:latin typeface="Apple SD Gothic Neo"/>
                <a:ea typeface="Apple SD Gothic Neo"/>
                <a:cs typeface="Apple SD Gothic Neo"/>
              </a:rPr>
              <a:t>• 직교 모달리티로 병용 가능성만 가설</a:t>
            </a:r>
          </a:p>
          <a:p>
            <a:pPr>
              <a:spcAft>
                <a:spcPts val="600"/>
              </a:spcAft>
            </a:pPr>
            <a:r>
              <a:rPr sz="1400" b="0">
                <a:solidFill>
                  <a:srgbClr val="1A2A36"/>
                </a:solidFill>
                <a:latin typeface="Apple SD Gothic Neo"/>
                <a:ea typeface="Apple SD Gothic Neo"/>
                <a:cs typeface="Apple SD Gothic Neo"/>
              </a:rPr>
              <a:t>• 국책 키워드 매핑 1장 첨부</a:t>
            </a:r>
          </a:p>
          <a:p>
            <a:pPr>
              <a:spcAft>
                <a:spcPts val="600"/>
              </a:spcAft>
            </a:pPr>
            <a:r>
              <a:rPr sz="1400" b="0">
                <a:solidFill>
                  <a:srgbClr val="1A2A36"/>
                </a:solidFill>
                <a:latin typeface="Apple SD Gothic Neo"/>
                <a:ea typeface="Apple SD Gothic Neo"/>
                <a:cs typeface="Apple SD Gothic Neo"/>
              </a:rPr>
              <a:t>• residual·전달 한계를 스스로 말함</a:t>
            </a:r>
          </a:p>
          <a:p>
            <a:pPr>
              <a:spcAft>
                <a:spcPts val="600"/>
              </a:spcAft>
            </a:pPr>
            <a:r>
              <a:rPr sz="1400" b="0">
                <a:solidFill>
                  <a:srgbClr val="1A2A36"/>
                </a:solidFill>
                <a:latin typeface="Apple SD Gothic Neo"/>
                <a:ea typeface="Apple SD Gothic Neo"/>
                <a:cs typeface="Apple SD Gothic Neo"/>
              </a:rPr>
              <a:t>• 질문: ‘구조 triage가 파이프라인
  의사결정에 쓸 만한가?’</a:t>
            </a:r>
          </a:p>
        </p:txBody>
      </p:sp>
      <p:sp>
        <p:nvSpPr>
          <p:cNvPr id="9" name="Rounded Rectangle 8"/>
          <p:cNvSpPr/>
          <p:nvPr/>
        </p:nvSpPr>
        <p:spPr>
          <a:xfrm>
            <a:off x="6217920" y="1143000"/>
            <a:ext cx="5577840" cy="5029200"/>
          </a:xfrm>
          <a:prstGeom prst="roundRect">
            <a:avLst>
              <a:gd name="adj" fmla="val 6000"/>
            </a:avLst>
          </a:prstGeom>
          <a:solidFill>
            <a:srgbClr val="FDE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325880"/>
            <a:ext cx="5120640" cy="365760"/>
          </a:xfrm>
          <a:prstGeom prst="rect">
            <a:avLst/>
          </a:prstGeom>
          <a:noFill/>
        </p:spPr>
        <p:txBody>
          <a:bodyPr wrap="square">
            <a:spAutoFit/>
          </a:bodyPr>
          <a:lstStyle/>
          <a:p>
            <a:pPr algn="l"/>
            <a:r>
              <a:rPr sz="1800" b="1">
                <a:solidFill>
                  <a:srgbClr val="E85D4C"/>
                </a:solidFill>
                <a:latin typeface="Apple SD Gothic Neo"/>
                <a:ea typeface="Apple SD Gothic Neo"/>
                <a:cs typeface="Apple SD Gothic Neo"/>
              </a:rPr>
              <a:t>Don’t</a:t>
            </a:r>
          </a:p>
        </p:txBody>
      </p:sp>
      <p:sp>
        <p:nvSpPr>
          <p:cNvPr id="11" name="TextBox 10"/>
          <p:cNvSpPr txBox="1"/>
          <p:nvPr/>
        </p:nvSpPr>
        <p:spPr>
          <a:xfrm>
            <a:off x="6446520" y="1874519"/>
            <a:ext cx="5120640" cy="4023360"/>
          </a:xfrm>
          <a:prstGeom prst="rect">
            <a:avLst/>
          </a:prstGeom>
          <a:noFill/>
        </p:spPr>
        <p:txBody>
          <a:bodyPr wrap="square">
            <a:spAutoFit/>
          </a:bodyPr>
          <a:lstStyle/>
          <a:p>
            <a:pPr>
              <a:spcAft>
                <a:spcPts val="600"/>
              </a:spcAft>
            </a:pPr>
            <a:r>
              <a:rPr sz="1400" b="0">
                <a:solidFill>
                  <a:srgbClr val="1A2A36"/>
                </a:solidFill>
                <a:latin typeface="Apple SD Gothic Neo"/>
                <a:ea typeface="Apple SD Gothic Neo"/>
                <a:cs typeface="Apple SD Gothic Neo"/>
              </a:rPr>
              <a:t>• “귀사 과제를 대신 하겠다” 과잉</a:t>
            </a:r>
          </a:p>
          <a:p>
            <a:pPr>
              <a:spcAft>
                <a:spcPts val="600"/>
              </a:spcAft>
            </a:pPr>
            <a:r>
              <a:rPr sz="1400" b="0">
                <a:solidFill>
                  <a:srgbClr val="1A2A36"/>
                </a:solidFill>
                <a:latin typeface="Apple SD Gothic Neo"/>
                <a:ea typeface="Apple SD Gothic Neo"/>
                <a:cs typeface="Apple SD Gothic Neo"/>
              </a:rPr>
              <a:t>• AAV 전문인 척 (캡시드 미경험 시)</a:t>
            </a:r>
          </a:p>
          <a:p>
            <a:pPr>
              <a:spcAft>
                <a:spcPts val="600"/>
              </a:spcAft>
            </a:pPr>
            <a:r>
              <a:rPr sz="1400" b="0">
                <a:solidFill>
                  <a:srgbClr val="1A2A36"/>
                </a:solidFill>
                <a:latin typeface="Apple SD Gothic Neo"/>
                <a:ea typeface="Apple SD Gothic Neo"/>
                <a:cs typeface="Apple SD Gothic Neo"/>
              </a:rPr>
              <a:t>• 치료 성공·환자 투여 암시</a:t>
            </a:r>
          </a:p>
          <a:p>
            <a:pPr>
              <a:spcAft>
                <a:spcPts val="600"/>
              </a:spcAft>
            </a:pPr>
            <a:r>
              <a:rPr sz="1400" b="0">
                <a:solidFill>
                  <a:srgbClr val="1A2A36"/>
                </a:solidFill>
                <a:latin typeface="Apple SD Gothic Neo"/>
                <a:ea typeface="Apple SD Gothic Neo"/>
                <a:cs typeface="Apple SD Gothic Neo"/>
              </a:rPr>
              <a:t>• 암브록솔 = Hunter 약 오해</a:t>
            </a:r>
          </a:p>
          <a:p>
            <a:pPr>
              <a:spcAft>
                <a:spcPts val="600"/>
              </a:spcAft>
            </a:pPr>
            <a:r>
              <a:rPr sz="1400" b="0">
                <a:solidFill>
                  <a:srgbClr val="1A2A36"/>
                </a:solidFill>
                <a:latin typeface="Apple SD Gothic Neo"/>
                <a:ea typeface="Apple SD Gothic Neo"/>
                <a:cs typeface="Apple SD Gothic Neo"/>
              </a:rPr>
              <a:t>• 대표 이름 오류 등 팩트 실수</a:t>
            </a:r>
          </a:p>
          <a:p>
            <a:pPr>
              <a:spcAft>
                <a:spcPts val="600"/>
              </a:spcAft>
            </a:pPr>
            <a:r>
              <a:rPr sz="1400" b="0">
                <a:solidFill>
                  <a:srgbClr val="1A2A36"/>
                </a:solidFill>
                <a:latin typeface="Apple SD Gothic Neo"/>
                <a:ea typeface="Apple SD Gothic Neo"/>
                <a:cs typeface="Apple SD Gothic Neo"/>
              </a:rPr>
              <a:t>• 비밀 파이프라인 추정 단정</a:t>
            </a:r>
          </a:p>
          <a:p>
            <a:pPr>
              <a:spcAft>
                <a:spcPts val="600"/>
              </a:spcAft>
            </a:pPr>
            <a:r>
              <a:rPr sz="1400" b="0">
                <a:solidFill>
                  <a:srgbClr val="1A2A36"/>
                </a:solidFill>
                <a:latin typeface="Apple SD Gothic Neo"/>
                <a:ea typeface="Apple SD Gothic Neo"/>
                <a:cs typeface="Apple SD Gothic Neo"/>
              </a:rPr>
              <a:t>• 국책 예산 규모 과장·왜곡</a:t>
            </a:r>
          </a:p>
        </p:txBody>
      </p:sp>
      <p:sp>
        <p:nvSpPr>
          <p:cNvPr id="12" name="Rectangle 1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14" name="TextBox 13"/>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12/14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12 · 90일 반영 액션 플랜</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아바타 맥락을 IDSX 산출에 심기</a:t>
            </a:r>
          </a:p>
        </p:txBody>
      </p:sp>
      <p:sp>
        <p:nvSpPr>
          <p:cNvPr id="6" name="Rounded Rectangle 5"/>
          <p:cNvSpPr/>
          <p:nvPr/>
        </p:nvSpPr>
        <p:spPr>
          <a:xfrm>
            <a:off x="320040" y="1188720"/>
            <a:ext cx="2834640" cy="50292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88720"/>
            <a:ext cx="2834640" cy="9144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80160"/>
            <a:ext cx="2560320" cy="320040"/>
          </a:xfrm>
          <a:prstGeom prst="rect">
            <a:avLst/>
          </a:prstGeom>
          <a:noFill/>
        </p:spPr>
        <p:txBody>
          <a:bodyPr wrap="square">
            <a:spAutoFit/>
          </a:bodyPr>
          <a:lstStyle/>
          <a:p>
            <a:pPr algn="l"/>
            <a:r>
              <a:rPr sz="1200" b="1">
                <a:solidFill>
                  <a:srgbClr val="FFFFFF"/>
                </a:solidFill>
                <a:latin typeface="Apple SD Gothic Neo"/>
                <a:ea typeface="Apple SD Gothic Neo"/>
                <a:cs typeface="Apple SD Gothic Neo"/>
              </a:rPr>
              <a:t>D0–14</a:t>
            </a:r>
          </a:p>
        </p:txBody>
      </p:sp>
      <p:sp>
        <p:nvSpPr>
          <p:cNvPr id="9" name="TextBox 8"/>
          <p:cNvSpPr txBox="1"/>
          <p:nvPr/>
        </p:nvSpPr>
        <p:spPr>
          <a:xfrm>
            <a:off x="457200" y="1600200"/>
            <a:ext cx="2560320" cy="365760"/>
          </a:xfrm>
          <a:prstGeom prst="rect">
            <a:avLst/>
          </a:prstGeom>
          <a:noFill/>
        </p:spPr>
        <p:txBody>
          <a:bodyPr wrap="square">
            <a:spAutoFit/>
          </a:bodyPr>
          <a:lstStyle/>
          <a:p>
            <a:pPr algn="l"/>
            <a:r>
              <a:rPr sz="1600" b="1">
                <a:solidFill>
                  <a:srgbClr val="FFFFFF"/>
                </a:solidFill>
                <a:latin typeface="Apple SD Gothic Neo"/>
                <a:ea typeface="Apple SD Gothic Neo"/>
                <a:cs typeface="Apple SD Gothic Neo"/>
              </a:rPr>
              <a:t>브리핑 고정</a:t>
            </a:r>
          </a:p>
        </p:txBody>
      </p:sp>
      <p:sp>
        <p:nvSpPr>
          <p:cNvPr id="10" name="TextBox 9"/>
          <p:cNvSpPr txBox="1"/>
          <p:nvPr/>
        </p:nvSpPr>
        <p:spPr>
          <a:xfrm>
            <a:off x="502920" y="2331720"/>
            <a:ext cx="2468880" cy="3566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본 덱 + 영문 1p
LSD 공통 서론 문단
포털 링크 QR</a:t>
            </a:r>
          </a:p>
        </p:txBody>
      </p:sp>
      <p:sp>
        <p:nvSpPr>
          <p:cNvPr id="11" name="Rounded Rectangle 10"/>
          <p:cNvSpPr/>
          <p:nvPr/>
        </p:nvSpPr>
        <p:spPr>
          <a:xfrm>
            <a:off x="3291840" y="1188720"/>
            <a:ext cx="2834640" cy="50292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188720"/>
            <a:ext cx="2834640"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280160"/>
            <a:ext cx="2560320" cy="320040"/>
          </a:xfrm>
          <a:prstGeom prst="rect">
            <a:avLst/>
          </a:prstGeom>
          <a:noFill/>
        </p:spPr>
        <p:txBody>
          <a:bodyPr wrap="square">
            <a:spAutoFit/>
          </a:bodyPr>
          <a:lstStyle/>
          <a:p>
            <a:pPr algn="l"/>
            <a:r>
              <a:rPr sz="1200" b="1">
                <a:solidFill>
                  <a:srgbClr val="FFFFFF"/>
                </a:solidFill>
                <a:latin typeface="Apple SD Gothic Neo"/>
                <a:ea typeface="Apple SD Gothic Neo"/>
                <a:cs typeface="Apple SD Gothic Neo"/>
              </a:rPr>
              <a:t>D15–45</a:t>
            </a:r>
          </a:p>
        </p:txBody>
      </p:sp>
      <p:sp>
        <p:nvSpPr>
          <p:cNvPr id="14" name="TextBox 13"/>
          <p:cNvSpPr txBox="1"/>
          <p:nvPr/>
        </p:nvSpPr>
        <p:spPr>
          <a:xfrm>
            <a:off x="3429000" y="1600200"/>
            <a:ext cx="2560320" cy="365760"/>
          </a:xfrm>
          <a:prstGeom prst="rect">
            <a:avLst/>
          </a:prstGeom>
          <a:noFill/>
        </p:spPr>
        <p:txBody>
          <a:bodyPr wrap="square">
            <a:spAutoFit/>
          </a:bodyPr>
          <a:lstStyle/>
          <a:p>
            <a:pPr algn="l"/>
            <a:r>
              <a:rPr sz="1600" b="1">
                <a:solidFill>
                  <a:srgbClr val="FFFFFF"/>
                </a:solidFill>
                <a:latin typeface="Apple SD Gothic Neo"/>
                <a:ea typeface="Apple SD Gothic Neo"/>
                <a:cs typeface="Apple SD Gothic Neo"/>
              </a:rPr>
              <a:t>산출 정렬</a:t>
            </a:r>
          </a:p>
        </p:txBody>
      </p:sp>
      <p:sp>
        <p:nvSpPr>
          <p:cNvPr id="15" name="TextBox 14"/>
          <p:cNvSpPr txBox="1"/>
          <p:nvPr/>
        </p:nvSpPr>
        <p:spPr>
          <a:xfrm>
            <a:off x="3474720" y="2331720"/>
            <a:ext cx="2468880" cy="3566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모달리티 직교 figure
국책 키워드 매핑표
CMC-S1–S8 1장</a:t>
            </a:r>
          </a:p>
        </p:txBody>
      </p:sp>
      <p:sp>
        <p:nvSpPr>
          <p:cNvPr id="16" name="Rounded Rectangle 15"/>
          <p:cNvSpPr/>
          <p:nvPr/>
        </p:nvSpPr>
        <p:spPr>
          <a:xfrm>
            <a:off x="6263640" y="1188720"/>
            <a:ext cx="2834640" cy="50292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188720"/>
            <a:ext cx="2834640" cy="914400"/>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280160"/>
            <a:ext cx="2560320" cy="320040"/>
          </a:xfrm>
          <a:prstGeom prst="rect">
            <a:avLst/>
          </a:prstGeom>
          <a:noFill/>
        </p:spPr>
        <p:txBody>
          <a:bodyPr wrap="square">
            <a:spAutoFit/>
          </a:bodyPr>
          <a:lstStyle/>
          <a:p>
            <a:pPr algn="l"/>
            <a:r>
              <a:rPr sz="1200" b="1">
                <a:solidFill>
                  <a:srgbClr val="FFFFFF"/>
                </a:solidFill>
                <a:latin typeface="Apple SD Gothic Neo"/>
                <a:ea typeface="Apple SD Gothic Neo"/>
                <a:cs typeface="Apple SD Gothic Neo"/>
              </a:rPr>
              <a:t>D46–70</a:t>
            </a:r>
          </a:p>
        </p:txBody>
      </p:sp>
      <p:sp>
        <p:nvSpPr>
          <p:cNvPr id="19" name="TextBox 18"/>
          <p:cNvSpPr txBox="1"/>
          <p:nvPr/>
        </p:nvSpPr>
        <p:spPr>
          <a:xfrm>
            <a:off x="6400800" y="1600200"/>
            <a:ext cx="2560320" cy="365760"/>
          </a:xfrm>
          <a:prstGeom prst="rect">
            <a:avLst/>
          </a:prstGeom>
          <a:noFill/>
        </p:spPr>
        <p:txBody>
          <a:bodyPr wrap="square">
            <a:spAutoFit/>
          </a:bodyPr>
          <a:lstStyle/>
          <a:p>
            <a:pPr algn="l"/>
            <a:r>
              <a:rPr sz="1600" b="1">
                <a:solidFill>
                  <a:srgbClr val="FFFFFF"/>
                </a:solidFill>
                <a:latin typeface="Apple SD Gothic Neo"/>
                <a:ea typeface="Apple SD Gothic Neo"/>
                <a:cs typeface="Apple SD Gothic Neo"/>
              </a:rPr>
              <a:t>근거 보강</a:t>
            </a:r>
          </a:p>
        </p:txBody>
      </p:sp>
      <p:sp>
        <p:nvSpPr>
          <p:cNvPr id="20" name="TextBox 19"/>
          <p:cNvSpPr txBox="1"/>
          <p:nvPr/>
        </p:nvSpPr>
        <p:spPr>
          <a:xfrm>
            <a:off x="6446520" y="2331720"/>
            <a:ext cx="2468880" cy="3566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잔존활성 문헌 표
Krabbe≠Hunter 차이 1p
CNS non-claim 강화</a:t>
            </a:r>
          </a:p>
        </p:txBody>
      </p:sp>
      <p:sp>
        <p:nvSpPr>
          <p:cNvPr id="21" name="Rounded Rectangle 20"/>
          <p:cNvSpPr/>
          <p:nvPr/>
        </p:nvSpPr>
        <p:spPr>
          <a:xfrm>
            <a:off x="9235440" y="1188720"/>
            <a:ext cx="2834640" cy="50292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188720"/>
            <a:ext cx="2834640"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1280160"/>
            <a:ext cx="2560320" cy="320040"/>
          </a:xfrm>
          <a:prstGeom prst="rect">
            <a:avLst/>
          </a:prstGeom>
          <a:noFill/>
        </p:spPr>
        <p:txBody>
          <a:bodyPr wrap="square">
            <a:spAutoFit/>
          </a:bodyPr>
          <a:lstStyle/>
          <a:p>
            <a:pPr algn="l"/>
            <a:r>
              <a:rPr sz="1200" b="1">
                <a:solidFill>
                  <a:srgbClr val="FFFFFF"/>
                </a:solidFill>
                <a:latin typeface="Apple SD Gothic Neo"/>
                <a:ea typeface="Apple SD Gothic Neo"/>
                <a:cs typeface="Apple SD Gothic Neo"/>
              </a:rPr>
              <a:t>D71–90</a:t>
            </a:r>
          </a:p>
        </p:txBody>
      </p:sp>
      <p:sp>
        <p:nvSpPr>
          <p:cNvPr id="24" name="TextBox 23"/>
          <p:cNvSpPr txBox="1"/>
          <p:nvPr/>
        </p:nvSpPr>
        <p:spPr>
          <a:xfrm>
            <a:off x="9372600" y="1600200"/>
            <a:ext cx="2560320" cy="365760"/>
          </a:xfrm>
          <a:prstGeom prst="rect">
            <a:avLst/>
          </a:prstGeom>
          <a:noFill/>
        </p:spPr>
        <p:txBody>
          <a:bodyPr wrap="square">
            <a:spAutoFit/>
          </a:bodyPr>
          <a:lstStyle/>
          <a:p>
            <a:pPr algn="l"/>
            <a:r>
              <a:rPr sz="1600" b="1">
                <a:solidFill>
                  <a:srgbClr val="FFFFFF"/>
                </a:solidFill>
                <a:latin typeface="Apple SD Gothic Neo"/>
                <a:ea typeface="Apple SD Gothic Neo"/>
                <a:cs typeface="Apple SD Gothic Neo"/>
              </a:rPr>
              <a:t>접촉 준비</a:t>
            </a:r>
          </a:p>
        </p:txBody>
      </p:sp>
      <p:sp>
        <p:nvSpPr>
          <p:cNvPr id="25" name="TextBox 24"/>
          <p:cNvSpPr txBox="1"/>
          <p:nvPr/>
        </p:nvSpPr>
        <p:spPr>
          <a:xfrm>
            <a:off x="9418320" y="2331720"/>
            <a:ext cx="2468880" cy="3566160"/>
          </a:xfrm>
          <a:prstGeom prst="rect">
            <a:avLst/>
          </a:prstGeom>
          <a:noFill/>
        </p:spPr>
        <p:txBody>
          <a:bodyPr wrap="square">
            <a:spAutoFit/>
          </a:bodyPr>
          <a:lstStyle/>
          <a:p>
            <a:pPr algn="l"/>
            <a:r>
              <a:rPr sz="1400" b="0">
                <a:solidFill>
                  <a:srgbClr val="1A2A36"/>
                </a:solidFill>
                <a:latin typeface="Apple SD Gothic Neo"/>
                <a:ea typeface="Apple SD Gothic Neo"/>
                <a:cs typeface="Apple SD Gothic Neo"/>
              </a:rPr>
              <a:t>면담 질문 5개
포트폴리오 PDF
(선택) 과제 제안 초안</a:t>
            </a:r>
          </a:p>
        </p:txBody>
      </p:sp>
      <p:sp>
        <p:nvSpPr>
          <p:cNvPr id="26" name="Rectangle 2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28" name="TextBox 27"/>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13/14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4C6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365760"/>
          </a:xfrm>
          <a:prstGeom prst="rect">
            <a:avLst/>
          </a:prstGeom>
          <a:noFill/>
        </p:spPr>
        <p:txBody>
          <a:bodyPr wrap="square">
            <a:spAutoFit/>
          </a:bodyPr>
          <a:lstStyle/>
          <a:p>
            <a:pPr algn="l"/>
            <a:r>
              <a:rPr sz="2000" b="1">
                <a:solidFill>
                  <a:srgbClr val="FFFFFF"/>
                </a:solidFill>
                <a:latin typeface="Apple SD Gothic Neo"/>
                <a:ea typeface="Apple SD Gothic Neo"/>
                <a:cs typeface="Apple SD Gothic Neo"/>
              </a:rPr>
              <a:t>13 · 출처 · 한계 · 다음</a:t>
            </a:r>
          </a:p>
        </p:txBody>
      </p:sp>
      <p:sp>
        <p:nvSpPr>
          <p:cNvPr id="5" name="TextBox 4"/>
          <p:cNvSpPr txBox="1"/>
          <p:nvPr/>
        </p:nvSpPr>
        <p:spPr>
          <a:xfrm>
            <a:off x="365760" y="502920"/>
            <a:ext cx="11430000" cy="274320"/>
          </a:xfrm>
          <a:prstGeom prst="rect">
            <a:avLst/>
          </a:prstGeom>
          <a:noFill/>
        </p:spPr>
        <p:txBody>
          <a:bodyPr wrap="square">
            <a:spAutoFit/>
          </a:bodyPr>
          <a:lstStyle/>
          <a:p>
            <a:pPr algn="l"/>
            <a:r>
              <a:rPr sz="1200" b="0">
                <a:solidFill>
                  <a:srgbClr val="5EE0C5"/>
                </a:solidFill>
                <a:latin typeface="Apple SD Gothic Neo"/>
                <a:ea typeface="Apple SD Gothic Neo"/>
                <a:cs typeface="Apple SD Gothic Neo"/>
              </a:rPr>
              <a:t>재검증 가능한 공개 정보만</a:t>
            </a:r>
          </a:p>
        </p:txBody>
      </p:sp>
      <p:sp>
        <p:nvSpPr>
          <p:cNvPr id="6" name="Rounded Rectangle 5"/>
          <p:cNvSpPr/>
          <p:nvPr/>
        </p:nvSpPr>
        <p:spPr>
          <a:xfrm>
            <a:off x="365760" y="1143000"/>
            <a:ext cx="11430000" cy="50292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881360" cy="4572000"/>
          </a:xfrm>
          <a:prstGeom prst="rect">
            <a:avLst/>
          </a:prstGeom>
          <a:noFill/>
        </p:spPr>
        <p:txBody>
          <a:bodyPr wrap="square">
            <a:spAutoFit/>
          </a:bodyPr>
          <a:lstStyle/>
          <a:p>
            <a:pPr>
              <a:spcAft>
                <a:spcPts val="500"/>
              </a:spcAft>
            </a:pPr>
            <a:r>
              <a:rPr sz="1400" b="0">
                <a:solidFill>
                  <a:srgbClr val="1A2A36"/>
                </a:solidFill>
                <a:latin typeface="Apple SD Gothic Neo"/>
                <a:ea typeface="Apple SD Gothic Neo"/>
                <a:cs typeface="Apple SD Gothic Neo"/>
              </a:rPr>
              <a:t>주요 출처</a:t>
            </a:r>
          </a:p>
          <a:p>
            <a:pPr>
              <a:spcAft>
                <a:spcPts val="500"/>
              </a:spcAft>
            </a:pPr>
            <a:r>
              <a:rPr sz="1400" b="0">
                <a:solidFill>
                  <a:srgbClr val="1A2A36"/>
                </a:solidFill>
                <a:latin typeface="Apple SD Gothic Neo"/>
                <a:ea typeface="Apple SD Gothic Neo"/>
                <a:cs typeface="Apple SD Gothic Neo"/>
              </a:rPr>
              <a:t>• https://aavatartps.com/  (About · History · Platform · Pipeline)</a:t>
            </a:r>
          </a:p>
          <a:p>
            <a:pPr>
              <a:spcAft>
                <a:spcPts val="500"/>
              </a:spcAft>
            </a:pPr>
            <a:r>
              <a:rPr sz="1400" b="0">
                <a:solidFill>
                  <a:srgbClr val="1A2A36"/>
                </a:solidFill>
                <a:latin typeface="Apple SD Gothic Neo"/>
                <a:ea typeface="Apple SD Gothic Neo"/>
                <a:cs typeface="Apple SD Gothic Neo"/>
              </a:rPr>
              <a:t>• THE VC: thevc.kr/aavatartherapeutics</a:t>
            </a:r>
          </a:p>
          <a:p>
            <a:pPr>
              <a:spcAft>
                <a:spcPts val="500"/>
              </a:spcAft>
            </a:pPr>
            <a:r>
              <a:rPr sz="1400" b="0">
                <a:solidFill>
                  <a:srgbClr val="1A2A36"/>
                </a:solidFill>
                <a:latin typeface="Apple SD Gothic Neo"/>
                <a:ea typeface="Apple SD Gothic Neo"/>
                <a:cs typeface="Apple SD Gothic Neo"/>
              </a:rPr>
              <a:t>• 보도: 바이오스펙테이터 시리즈A, 히트뉴스, 한국경제, 더벨(캡시드·AI 인터뷰 등)</a:t>
            </a:r>
          </a:p>
          <a:p>
            <a:pPr>
              <a:spcAft>
                <a:spcPts val="500"/>
              </a:spcAft>
            </a:pPr>
            <a:r>
              <a:rPr sz="1400" b="0">
                <a:solidFill>
                  <a:srgbClr val="1A2A36"/>
                </a:solidFill>
                <a:latin typeface="Apple SD Gothic Neo"/>
                <a:ea typeface="Apple SD Gothic Neo"/>
                <a:cs typeface="Apple SD Gothic Neo"/>
              </a:rPr>
              <a:t>• 기존 내부 노트: idsx-lab/docs/portfolio/Avatar_Therapeutics_Analysis.pptx (대표명 등 본 덱에서 공식 정보로 교정)</a:t>
            </a:r>
          </a:p>
          <a:p>
            <a:pPr>
              <a:spcAft>
                <a:spcPts val="500"/>
              </a:spcAft>
            </a:pPr>
            <a:r>
              <a:rPr sz="1400" b="0">
                <a:solidFill>
                  <a:srgbClr val="1A2A36"/>
                </a:solidFill>
                <a:latin typeface="Apple SD Gothic Neo"/>
                <a:ea typeface="Apple SD Gothic Neo"/>
                <a:cs typeface="Apple SD Gothic Neo"/>
              </a:rPr>
              <a:t/>
            </a:r>
          </a:p>
          <a:p>
            <a:pPr>
              <a:spcAft>
                <a:spcPts val="500"/>
              </a:spcAft>
            </a:pPr>
            <a:r>
              <a:rPr sz="1400" b="0">
                <a:solidFill>
                  <a:srgbClr val="1A2A36"/>
                </a:solidFill>
                <a:latin typeface="Apple SD Gothic Neo"/>
                <a:ea typeface="Apple SD Gothic Neo"/>
                <a:cs typeface="Apple SD Gothic Neo"/>
              </a:rPr>
              <a:t>한계: 비공개 파이프라인 상세·과제 전문·재무는 미확보. 예산 수치는 기업 공지 인용 수준.</a:t>
            </a:r>
          </a:p>
          <a:p>
            <a:pPr>
              <a:spcAft>
                <a:spcPts val="500"/>
              </a:spcAft>
            </a:pPr>
            <a:r>
              <a:rPr sz="1400" b="0">
                <a:solidFill>
                  <a:srgbClr val="1A2A36"/>
                </a:solidFill>
                <a:latin typeface="Apple SD Gothic Neo"/>
                <a:ea typeface="Apple SD Gothic Neo"/>
                <a:cs typeface="Apple SD Gothic Neo"/>
              </a:rPr>
              <a:t>다음: 과제 공고 원문·특허 전문 정독 후 버전 업. 회사 공식 미팅 전 팩트 재확인.</a:t>
            </a:r>
          </a:p>
          <a:p>
            <a:pPr>
              <a:spcAft>
                <a:spcPts val="500"/>
              </a:spcAft>
            </a:pPr>
            <a:r>
              <a:rPr sz="1400" b="0">
                <a:solidFill>
                  <a:srgbClr val="1A2A36"/>
                </a:solidFill>
                <a:latin typeface="Apple SD Gothic Neo"/>
                <a:ea typeface="Apple SD Gothic Neo"/>
                <a:cs typeface="Apple SD Gothic Neo"/>
              </a:rPr>
              <a:t/>
            </a:r>
          </a:p>
          <a:p>
            <a:pPr>
              <a:spcAft>
                <a:spcPts val="500"/>
              </a:spcAft>
            </a:pPr>
            <a:r>
              <a:rPr sz="1400" b="0">
                <a:solidFill>
                  <a:srgbClr val="1A2A36"/>
                </a:solidFill>
                <a:latin typeface="Apple SD Gothic Neo"/>
                <a:ea typeface="Apple SD Gothic Neo"/>
                <a:cs typeface="Apple SD Gothic Neo"/>
              </a:rPr>
              <a:t>한 줄: 아바타 = AAV로 LSD·희귀질환을 ‘전달·생산’하고, IDSX = IDS 미스센스를 ‘구조 triage’한다. 같은 전장, 다른 무기.</a:t>
            </a:r>
          </a:p>
        </p:txBody>
      </p:sp>
      <p:sp>
        <p:nvSpPr>
          <p:cNvPr id="8" name="Rectangle 7"/>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620256"/>
            <a:ext cx="9144000" cy="219456"/>
          </a:xfrm>
          <a:prstGeom prst="rect">
            <a:avLst/>
          </a:prstGeom>
          <a:noFill/>
        </p:spPr>
        <p:txBody>
          <a:bodyPr wrap="square">
            <a:spAutoFit/>
          </a:bodyPr>
          <a:lstStyle/>
          <a:p>
            <a:pPr algn="l"/>
            <a:r>
              <a:rPr sz="900" b="0">
                <a:solidFill>
                  <a:srgbClr val="5EE0C5"/>
                </a:solidFill>
                <a:latin typeface="Apple SD Gothic Neo"/>
                <a:ea typeface="Apple SD Gothic Neo"/>
                <a:cs typeface="Apple SD Gothic Neo"/>
              </a:rPr>
              <a:t>AAVATAR Therapeutics × IDSX bridge  ·  Public sources · Non-affiliation claim</a:t>
            </a:r>
          </a:p>
        </p:txBody>
      </p:sp>
      <p:sp>
        <p:nvSpPr>
          <p:cNvPr id="10" name="TextBox 9"/>
          <p:cNvSpPr txBox="1"/>
          <p:nvPr/>
        </p:nvSpPr>
        <p:spPr>
          <a:xfrm>
            <a:off x="10515600" y="6620256"/>
            <a:ext cx="1371600" cy="219456"/>
          </a:xfrm>
          <a:prstGeom prst="rect">
            <a:avLst/>
          </a:prstGeom>
          <a:noFill/>
        </p:spPr>
        <p:txBody>
          <a:bodyPr wrap="square">
            <a:spAutoFit/>
          </a:bodyPr>
          <a:lstStyle/>
          <a:p>
            <a:pPr algn="r"/>
            <a:r>
              <a:rPr sz="900" b="0">
                <a:solidFill>
                  <a:srgbClr val="FFFFFF"/>
                </a:solidFill>
                <a:latin typeface="Apple SD Gothic Neo"/>
                <a:ea typeface="Apple SD Gothic Neo"/>
                <a:cs typeface="Apple SD Gothic Neo"/>
              </a:rPr>
              <a:t>14/14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