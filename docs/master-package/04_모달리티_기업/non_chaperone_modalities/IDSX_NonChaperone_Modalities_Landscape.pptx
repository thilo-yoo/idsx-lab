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LANDSCAPE NOTE  ·  BEYOND PHARMACOLOGICAL CHAPERONES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샤페론 외 치료·개입 축
MPS II / LSD 모달리티 맵과
IDSX 반영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4F0EB"/>
                </a:solidFill>
                <a:latin typeface="Apple SD Gothic Neo"/>
                <a:ea typeface="Apple SD Gothic Neo"/>
                <a:cs typeface="Apple SD Gothic Neo"/>
              </a:rPr>
              <a:t>ERT · BBB-ERT · IT/ICV ERT · HSCT · AAV gene therapy · HSC-GT ·
genome editing · SRT · 지지요법 · 모달리티 선택 트리
목적: PC에 매몰되지 않는 의사결정 층 확보 · 직교·병용·제외 논리를 문서화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공개 문헌·파이프라인 개요 기반 · 임상 처방 아님 · 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 · 왜 샤페론 밖을 논의해야 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논리의 경계와 확장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114300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1. Hard EXCLUDE (null, 촉매 kill, 이황화 파괴 등) 환자는 PC 논리의 대상이 아니다 → 다른 모달리티가 본선.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2. 신경형 MPS II의 핵심 미충족은 BBB/CNS — 표준 IV ERT·소분자 PC만으로는 구조적으로 부족할 수 있다.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3. 유전자치료·BBB-ERT·HSCT 등이 임상·규제 현실에서 이미 움직이고 있다. triage 맵이 이 맥락을 무시하면 고립된다.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4. 아바타테라퓨틱스 등 기업 맥락도 AAV/LSD — PC와 직교 축을 알아야 대화가 성립한다.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5. 화학공학적으로: 같은 ‘효소 부족’ 고장이라도 공급원(r_syn)·전달·반응기 위치 해법이 다르다.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이 자료의 지위: 치료 권고가 아니라 모달리티 스펙트럼 맵 + IDSX 반영 체크리스트.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Non-chaperone modalities for MPS II / LSD  ·  Landscape note, not treatment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 · 모달리티 스펙트럼 (한눈)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왼쪽 = 표준/확립 · 오른쪽 = 탐색·후기개발 (시점 가변)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43000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지지요법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기도·심장·정형
다학제 케어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143000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IV 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05740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idursulfase
주 1회 표준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143000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BBB-ERT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TfR 셔틀 등
CNS 표적 ERT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143000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IT/ICV 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05740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척수강/뇌실
직접 CNS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749039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ED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2335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HSCT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63439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조혈모 이식
논쟁·선별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3749039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FD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402335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AAV-GT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663439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IDS 유전자
CNS/전신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749039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02335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HSC-GT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39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체외 유전자
변형 이식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3749039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402335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편집·기타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4663439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base edit
SRT·readthrough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Non-chaperone modalities for MPS II / LSD  ·  Landscape note, not treatment advice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 · ERT 계열 — 표준과 CNS 돌파 시도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효소를 밖에서 공급 (S1 r_syn 외부화)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3794760" cy="512064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IV 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idursulfase (Elaprase 등)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주 1회 IV — 현 SoC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체성 증상 개선에 기여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BBB 통과 제한 → 신경형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미충족 남음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평생 투여·비용·면역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IDSX: null/EXCLUDE도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ERT 대상 가능 (PC와 다름)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97280"/>
            <a:ext cx="3794760" cy="5120640"/>
          </a:xfrm>
          <a:prstGeom prst="roundRect">
            <a:avLst>
              <a:gd name="adj" fmla="val 6000"/>
            </a:avLst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8E5A"/>
                </a:solidFill>
                <a:latin typeface="Apple SD Gothic Neo"/>
                <a:ea typeface="Apple SD Gothic Neo"/>
                <a:cs typeface="Apple SD Gothic Neo"/>
              </a:rPr>
              <a:t>BBB-penetrant 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830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예: TfR 셔틀 융합 IDS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(tividenofusp alfa / DNL310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등 — 규제 상황 시점 확인)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CNS 바이오마커·임상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변화 보고 라인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‘효소 공급 + 전달 공학’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IDSX: 전달 문제와 구조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triage를 분리하는 사례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097280"/>
            <a:ext cx="3657600" cy="5120640"/>
          </a:xfrm>
          <a:prstGeom prst="roundRect">
            <a:avLst>
              <a:gd name="adj" fmla="val 6000"/>
            </a:avLst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4C9A"/>
                </a:solidFill>
                <a:latin typeface="Apple SD Gothic Neo"/>
                <a:ea typeface="Apple SD Gothic Neo"/>
                <a:cs typeface="Apple SD Gothic Neo"/>
              </a:rPr>
              <a:t>IT / ICV 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830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척수강·뇌실 투여로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CNS 직접 노출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시술 부담·감염·분포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이슈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IV ERT 보완 전략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IDSX S6–S7 비유: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현장 반응기에 직접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원료 주입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Non-chaperone modalities for MPS II / LSD  ·  Landscape note, not treatment advice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 · HSCT (조혈모세포이식)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세포를 ‘효소 공장’으로 심는 전략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566928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4C9A"/>
                </a:solidFill>
                <a:latin typeface="Apple SD Gothic Neo"/>
                <a:ea typeface="Apple SD Gothic Neo"/>
                <a:cs typeface="Apple SD Gothic Neo"/>
              </a:rPr>
              <a:t>논리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공여자 유래 단핵구/소교세포 전구체가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CNS에 정착 → I2S 분비 가설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MPS I 등에서 더 확립; MPS II는 효용·시기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논쟁이 있음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공여자 확보, GVHD, 전처치 독성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조기 시행이 신경 예후에 중요할 수 있음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(문헌·가이드 이질)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PC와 달리: 내인성 변이 효소를 고치지 않고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외부 세포 공급원을 심는다.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43000"/>
            <a:ext cx="5577840" cy="502920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9B0C"/>
                </a:solidFill>
                <a:latin typeface="Apple SD Gothic Neo"/>
                <a:ea typeface="Apple SD Gothic Neo"/>
                <a:cs typeface="Apple SD Gothic Neo"/>
              </a:rPr>
              <a:t>IDSX 반영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null / EXCLUDE 환자에게 의미 있는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‘대안 축’으로 맵에 병기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HSCT ≠ amenability TIER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시기·표현형 의존 — residual 문헌과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다른 임상 의사결정 축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화공: 공장 자체를 교체 (r_syn 소스 교체)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Non-chaperone modalities for MPS II / LSD  ·  Landscape note, not treatment advice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 · 유전자치료 축 — in vivo AAV / HSC-GT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기능 IDS 유전자 공급 (S1을 유전자 수준에서 재설정)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5669280" cy="5120640"/>
          </a:xfrm>
          <a:prstGeom prst="roundRect">
            <a:avLst>
              <a:gd name="adj" fmla="val 6000"/>
            </a:avLst>
          </a:prstGeom>
          <a:solidFill>
            <a:srgbClr val="FD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5D4C"/>
                </a:solidFill>
                <a:latin typeface="Apple SD Gothic Neo"/>
                <a:ea typeface="Apple SD Gothic Neo"/>
                <a:cs typeface="Apple SD Gothic Neo"/>
              </a:rPr>
              <a:t>In vivo AAV (예: RGX-121 계열)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AAV9 등으로 IDS 유전자를 CNS 경로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(cisterna magna 등) 전달 설계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1회 투여·지속 발현 목표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CSF 바이오마커·발달 지표 보고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규제: BLA 리뷰 연장·거부 등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시점별 변동 — 확정 치료 아님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면역·용량·장기 안전·제조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아바타 기업 맥락과 동일 모달리티 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97280"/>
            <a:ext cx="5669280" cy="5120640"/>
          </a:xfrm>
          <a:prstGeom prst="roundRect">
            <a:avLst>
              <a:gd name="adj" fmla="val 6000"/>
            </a:avLst>
          </a:prstGeom>
          <a:solidFill>
            <a:srgbClr val="ED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4C9A"/>
                </a:solidFill>
                <a:latin typeface="Apple SD Gothic Neo"/>
                <a:ea typeface="Apple SD Gothic Neo"/>
                <a:cs typeface="Apple SD Gothic Neo"/>
              </a:rPr>
              <a:t>HSC gene therapy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환자 HSC에 렌티 등으로 IDS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(뇌 표적 융합 태그 연구 포함)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이식 후 전신+신경 보정 목표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HSCT 리스크 + 벡터 리스크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전임상·초기 임상 단계 중심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공통 메시지: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유전자치료는 ‘변이 접힘 구제’가 아니라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‘정상 유전자 제품 공급’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→ PC amenability와 환자 풀이 다름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Non-chaperone modalities for MPS II / LSD  ·  Landscape note, not treatment advice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 · 기타 축 — SRT · readthrough · 편집 · 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짧게 그러나 맵에 남겨둘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283464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2834640" cy="6400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SRT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기질 감소 치료
합성↓로 축적 완화
MPS II 본선 아님
다른 LSD에서 더 확립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188720"/>
            <a:ext cx="283464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188720"/>
            <a:ext cx="2834640" cy="6400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325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Readthrough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0312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종결코돈 억제
nonsense 일부
MPS II 진행 중 연구 적음
EXCLUDE stop과 맞닿음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188720"/>
            <a:ext cx="283464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188720"/>
            <a:ext cx="2834640" cy="6400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25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Genome editing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0312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base/prime edit
원천 교정 잠재
전달·효율·안전
초기 단계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188720"/>
            <a:ext cx="283464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188720"/>
            <a:ext cx="2834640" cy="6400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325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지지·시술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10312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기도·심장·척추
수술·재활·모니터링
모든 모달리티와 병행
임상 현실의 바탕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Non-chaperone modalities for MPS II / LSD  ·  Landscape note, not treatment advice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 · 비교 매트릭스 (의사결정용)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✓ 상대적 강점 · △ 제한 · — 비주력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43000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null 구제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ERT·GT·HSCT ✓  /  PC 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143000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미스센스 접힘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659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PC △~✓  /  GT는 우회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143000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CNS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BBB-ERT·CNS-GT·HSCT △  /  IV ERT·경구PC ✗~△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143000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1회성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19659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GT ✓  /  ERT 평생  /  PC 지속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749039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면역·안전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1999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GT·HSCT 고위험 축  /  ERT 관리 경험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3749039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제조·CMC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571999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GT·ERT 모두 중  /  PC 소분자는 다른 트랙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749039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비용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571999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모두 고가 희귀약 논리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3749039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IDSX 맵 역할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4571999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PC·바인더 triage 본선  /  타 축은 라우팅 라벨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Non-chaperone modalities for MPS II / LSD  ·  Landscape note, not treatment advice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 · S1–S8 공정 맵에 모달리티 꽂기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화학공학 렌즈 — 어느 밸브를 여는가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공정 단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402336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170432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주 개입 모달리티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097280"/>
            <a:ext cx="438912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170432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메모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08760"/>
            <a:ext cx="2743200" cy="749808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4592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S1 합성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508760"/>
            <a:ext cx="4023360" cy="749808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64592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GT·편집 (유전자 공급)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508760"/>
            <a:ext cx="4389120" cy="749808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645920"/>
            <a:ext cx="4251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PC 무관 / null은 GT·ERT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331720"/>
            <a:ext cx="27432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46888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S2–S4 접힘·ER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2331720"/>
            <a:ext cx="40233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46888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PC·바인더 본진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331720"/>
            <a:ext cx="43891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468880"/>
            <a:ext cx="4251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GT는 우회(WT 산물)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154680"/>
            <a:ext cx="2743200" cy="749808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918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S5 M6P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154680"/>
            <a:ext cx="4023360" cy="749808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29184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재조합 효소 글리코 공학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3154680"/>
            <a:ext cx="4389120" cy="749808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3291840"/>
            <a:ext cx="4251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변이 부위 glyco null → GT/ERT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977640"/>
            <a:ext cx="27432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11480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S6 배달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3977640"/>
            <a:ext cx="40233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411480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BBB-ERT·CNS-GT·HSCT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3977640"/>
            <a:ext cx="43891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4114800"/>
            <a:ext cx="4251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IV ERT 약점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800600"/>
            <a:ext cx="2743200" cy="749808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93776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S7 리소좀 활성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4800600"/>
            <a:ext cx="4023360" cy="749808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0" y="493776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공급된 효소의 활성 유지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4800600"/>
            <a:ext cx="4389120" cy="749808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0" y="4937760"/>
            <a:ext cx="4251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PC pH창 / 억제 회피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623560"/>
            <a:ext cx="274320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76072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S8 GAG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0" y="5623560"/>
            <a:ext cx="40233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576072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모든 모달리티의 종점 KPI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0" y="5623560"/>
            <a:ext cx="43891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6640" y="5760720"/>
            <a:ext cx="4251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병용 시 모니터링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Non-chaperone modalities for MPS II / LSD  ·  Landscape note, not treatment advice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 ·  orthognal 모달리티 라우팅 트리 (스케치)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PC 전용이 아닌 상위 의사결정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114300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Q1. 단백질 산물 없음? (null/fs/stop 대다수) → ERT · GT · HSCT 축  (PC 비대상)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Q2. 촉매 기하 파괴? → ERT/GT (접힘 구제로 부족)  ·  PC 비권장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Q3. 신경형 우세? → CNS 전달 모달리티 필수 검토 (BBB-ERT / CNS-GT / HSCT 논쟁)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Q4. 체성 위주 + 미스센스 + residual 가능? → PC/triage 후보 + IV ERT 병행 현실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Q5. 글리코/트래픽 PTM 파괴? → 샤페론 단독 약 · ERT/GT 우선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Q6. 이미 ERT 중? → 증분 가치(CNS, 투여 부담, 1회성)로 차세대 축 평가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IDSX amenability 맵 = Q4 분기의 ‘구조 필터’이지, Q1–Q3를 대체하지 않음.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Non-chaperone modalities for MPS II / LSD  ·  Landscape note, not treatment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 · IDSX에 반영할 문서·연구 변경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샤페론 터널비전 방지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43000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D1  모달리티 스펙트럼 figure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논문 Fig5 / 포털 1페이지
PC는 한 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9" y="1143000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19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D2  EXCLUDE → 라우팅 라벨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19" y="18745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null → GT/ERT 추천 축
(치료 claim 없이)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143000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9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D3  CNS 미충족 박스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9" y="18745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IV ERT·PC 한계
명시적 non-claim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749039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3191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D4  직교 병용 가설 1단락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ERT+PC, GT 후 residual 등
과신 금지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59" y="3749039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19" y="393191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D5  기업·국책 대화 언어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448055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아바타=전달/생산
IDSX=genotype 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749039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9" y="393191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D6  문헌 표 확장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9" y="448055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모달리티별 대표 PMID
파이프라인 스냅샷 날짜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Non-chaperone modalities for MPS II / LSD  ·  Landscape note, not treatment advice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11 · 파이프라인 스냅샷 (시점 주의)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규제 상태는 자주 바뀜 — 확정 치료로 인용 금지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11430000" cy="502920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표준: IV idursulfase ERT — 확립 SoC (신경 미충족 공지).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BBB-ERT: TfR 셔틀 계열(예: tividenofusp alfa/DNL310) — 승인·적응증은 시점 재확인.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AAV CNS GT: RGX-121 (clemidsogene lanparvovec) 등 — BLA 리뷰 연장·거부 보도 혼재, 최신 라벨 필수.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HSC-GT / 편집: 전임상~초기 임상 중심.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HSCT: 가이드·센터 경험 이질 — 개별 임상 결정.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이 덱의 용도: ‘어떤 종류의 해법이 존재하는가’ 지도.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환자 치료 선택은 담당 의료진·공식 라벨·최신 가이드라인에만 따른다.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Non-chaperone modalities for MPS II / LSD  ·  Landscape note, not treatment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 · 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샤페론은 한 축 · 지도는 전체 지형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11338560" cy="210312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MPS II 해법은 ERT·CNS-ERT·HSCT·AAV/HSC 유전자치료·편집·지지요법 등
다축이다. IDSX 샤페론 triage는 그중 ‘접힘 결함 미스센스’ 분기의
구조 필터이며, 전 지형을 대체하지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EXCLUDE 환자 → 비-PC 축 라우팅 라벨을 맵에 병기할 것.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신경형 → 전달 모달리티를 상위 게이트로 둘 것.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기업(아바타 등)·국책 대화 → 직교 모달리티 언어 사용.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다음 문서 작업: 포털 modality page + 논문 Discussion 한 절.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Non-chaperone modalities for MPS II / LSD  ·  Landscape note, not treatment advice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