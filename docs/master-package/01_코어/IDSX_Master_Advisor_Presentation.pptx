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0A6B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36576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IDSX  RESEARCH  ARCHIVE  ·  ADVISOR  BRIEFING</a:t>
            </a:r>
          </a:p>
        </p:txBody>
      </p:sp>
      <p:sp>
        <p:nvSpPr>
          <p:cNvPr id="5" name="TextBox 4"/>
          <p:cNvSpPr txBox="1"/>
          <p:nvPr/>
        </p:nvSpPr>
        <p:spPr>
          <a:xfrm>
            <a:off x="548640" y="1691640"/>
            <a:ext cx="10972800" cy="1097280"/>
          </a:xfrm>
          <a:prstGeom prst="rect">
            <a:avLst/>
          </a:prstGeom>
          <a:noFill/>
        </p:spPr>
        <p:txBody>
          <a:bodyPr wrap="square" anchor="t"/>
          <a:lstStyle/>
          <a:p>
            <a:pPr algn="l"/>
            <a:r>
              <a:rPr sz="2800" b="1">
                <a:solidFill>
                  <a:srgbClr val="FFFFFF"/>
                </a:solidFill>
                <a:latin typeface="Apple SD Gothic Neo"/>
                <a:ea typeface="Apple SD Gothic Neo"/>
                <a:cs typeface="Apple SD Gothic Neo"/>
              </a:rPr>
              <a:t>헌터 증후군 효소 IDS에 대한
구조 기반 샤페론 적합성 triage와
안정화 개입 논리의 개발 과정·현황·계획</a:t>
            </a:r>
          </a:p>
        </p:txBody>
      </p:sp>
      <p:sp>
        <p:nvSpPr>
          <p:cNvPr id="6" name="TextBox 5"/>
          <p:cNvSpPr txBox="1"/>
          <p:nvPr/>
        </p:nvSpPr>
        <p:spPr>
          <a:xfrm>
            <a:off x="548640" y="4023360"/>
            <a:ext cx="10972800" cy="731520"/>
          </a:xfrm>
          <a:prstGeom prst="rect">
            <a:avLst/>
          </a:prstGeom>
          <a:noFill/>
        </p:spPr>
        <p:txBody>
          <a:bodyPr wrap="square" anchor="t"/>
          <a:lstStyle/>
          <a:p>
            <a:pPr algn="l"/>
            <a:r>
              <a:rPr sz="1300" b="0">
                <a:solidFill>
                  <a:srgbClr val="D4F0EB"/>
                </a:solidFill>
                <a:latin typeface="Apple SD Gothic Neo"/>
                <a:ea typeface="Apple SD Gothic Neo"/>
                <a:cs typeface="Apple SD Gothic Neo"/>
              </a:rPr>
              <a:t>Iduronate-2-sulfatase (P22304) · PDB 5FQL · MPS II
목표: catalytic competence 회복 가능성의 구조적 의사결정 층 구축
비목표: 치료 성공 claim · 암브록솔 = IDS 약 · AF RMSD = 병원성 순위</a:t>
            </a:r>
          </a:p>
        </p:txBody>
      </p:sp>
      <p:sp>
        <p:nvSpPr>
          <p:cNvPr id="7" name="TextBox 6"/>
          <p:cNvSpPr txBox="1"/>
          <p:nvPr/>
        </p:nvSpPr>
        <p:spPr>
          <a:xfrm>
            <a:off x="548640" y="5623560"/>
            <a:ext cx="7315200" cy="822960"/>
          </a:xfrm>
          <a:prstGeom prst="rect">
            <a:avLst/>
          </a:prstGeom>
          <a:noFill/>
        </p:spPr>
        <p:txBody>
          <a:bodyPr wrap="square" anchor="t"/>
          <a:lstStyle/>
          <a:p>
            <a:pPr algn="l"/>
            <a:r>
              <a:rPr sz="1200" b="0">
                <a:solidFill>
                  <a:srgbClr val="FFFFFF"/>
                </a:solidFill>
                <a:latin typeface="Apple SD Gothic Neo"/>
                <a:ea typeface="Apple SD Gothic Neo"/>
                <a:cs typeface="Apple SD Gothic Neo"/>
              </a:rPr>
              <a:t>화학공학 전공 연구자 관점의 사고 궤적 공개 자료
자문·기록·전달용 마스터 덱  ·  2026-07  ·  v2.0 Master</a:t>
            </a:r>
          </a:p>
        </p:txBody>
      </p:sp>
      <p:sp>
        <p:nvSpPr>
          <p:cNvPr id="8" name="TextBox 7"/>
          <p:cNvSpPr txBox="1"/>
          <p:nvPr/>
        </p:nvSpPr>
        <p:spPr>
          <a:xfrm>
            <a:off x="8686800" y="5760720"/>
            <a:ext cx="3017520" cy="64008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Professor / Expert
Consultation Grade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목차 — 이 덱이 다루는 것</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요약이 아니라 ‘개발 과정·논리·상태·계획’을 한 패키지로 고정</a:t>
            </a:r>
          </a:p>
        </p:txBody>
      </p:sp>
      <p:sp>
        <p:nvSpPr>
          <p:cNvPr id="6" name="Rounded Rectangle 5"/>
          <p:cNvSpPr/>
          <p:nvPr/>
        </p:nvSpPr>
        <p:spPr>
          <a:xfrm>
            <a:off x="365760" y="123444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01</a:t>
            </a:r>
          </a:p>
        </p:txBody>
      </p:sp>
      <p:sp>
        <p:nvSpPr>
          <p:cNvPr id="9" name="TextBox 8"/>
          <p:cNvSpPr txBox="1"/>
          <p:nvPr/>
        </p:nvSpPr>
        <p:spPr>
          <a:xfrm>
            <a:off x="640080" y="192024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왜 이 문제인가</a:t>
            </a:r>
          </a:p>
        </p:txBody>
      </p:sp>
      <p:sp>
        <p:nvSpPr>
          <p:cNvPr id="10" name="TextBox 9"/>
          <p:cNvSpPr txBox="1"/>
          <p:nvPr/>
        </p:nvSpPr>
        <p:spPr>
          <a:xfrm>
            <a:off x="640080" y="246888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MPS II · 효소 공급 실패 · 화학공학적 문제 정의</a:t>
            </a:r>
          </a:p>
        </p:txBody>
      </p:sp>
      <p:sp>
        <p:nvSpPr>
          <p:cNvPr id="11" name="Rounded Rectangle 10"/>
          <p:cNvSpPr/>
          <p:nvPr/>
        </p:nvSpPr>
        <p:spPr>
          <a:xfrm>
            <a:off x="3291840" y="123444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23444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46304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02</a:t>
            </a:r>
          </a:p>
        </p:txBody>
      </p:sp>
      <p:sp>
        <p:nvSpPr>
          <p:cNvPr id="14" name="TextBox 13"/>
          <p:cNvSpPr txBox="1"/>
          <p:nvPr/>
        </p:nvSpPr>
        <p:spPr>
          <a:xfrm>
            <a:off x="3566160" y="192024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사고의 궤적</a:t>
            </a:r>
          </a:p>
        </p:txBody>
      </p:sp>
      <p:sp>
        <p:nvSpPr>
          <p:cNvPr id="15" name="TextBox 14"/>
          <p:cNvSpPr txBox="1"/>
          <p:nvPr/>
        </p:nvSpPr>
        <p:spPr>
          <a:xfrm>
            <a:off x="3566160" y="246888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무엇을 버리고 무엇을 남겼는지 — 개발 연대기</a:t>
            </a:r>
          </a:p>
        </p:txBody>
      </p:sp>
      <p:sp>
        <p:nvSpPr>
          <p:cNvPr id="16" name="Rounded Rectangle 15"/>
          <p:cNvSpPr/>
          <p:nvPr/>
        </p:nvSpPr>
        <p:spPr>
          <a:xfrm>
            <a:off x="6217920" y="123444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23444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46304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03</a:t>
            </a:r>
          </a:p>
        </p:txBody>
      </p:sp>
      <p:sp>
        <p:nvSpPr>
          <p:cNvPr id="19" name="TextBox 18"/>
          <p:cNvSpPr txBox="1"/>
          <p:nvPr/>
        </p:nvSpPr>
        <p:spPr>
          <a:xfrm>
            <a:off x="6492240" y="192024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로직 프레임</a:t>
            </a:r>
          </a:p>
        </p:txBody>
      </p:sp>
      <p:sp>
        <p:nvSpPr>
          <p:cNvPr id="20" name="TextBox 19"/>
          <p:cNvSpPr txBox="1"/>
          <p:nvPr/>
        </p:nvSpPr>
        <p:spPr>
          <a:xfrm>
            <a:off x="6492240" y="246888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네트워크 · competence · ER · 열안정=온도계</a:t>
            </a:r>
          </a:p>
        </p:txBody>
      </p:sp>
      <p:sp>
        <p:nvSpPr>
          <p:cNvPr id="21" name="Rounded Rectangle 20"/>
          <p:cNvSpPr/>
          <p:nvPr/>
        </p:nvSpPr>
        <p:spPr>
          <a:xfrm>
            <a:off x="9144000" y="123444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23444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0" y="146304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04</a:t>
            </a:r>
          </a:p>
        </p:txBody>
      </p:sp>
      <p:sp>
        <p:nvSpPr>
          <p:cNvPr id="24" name="TextBox 23"/>
          <p:cNvSpPr txBox="1"/>
          <p:nvPr/>
        </p:nvSpPr>
        <p:spPr>
          <a:xfrm>
            <a:off x="9418320" y="192024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현재까지 구축물</a:t>
            </a:r>
          </a:p>
        </p:txBody>
      </p:sp>
      <p:sp>
        <p:nvSpPr>
          <p:cNvPr id="25" name="TextBox 24"/>
          <p:cNvSpPr txBox="1"/>
          <p:nvPr/>
        </p:nvSpPr>
        <p:spPr>
          <a:xfrm>
            <a:off x="9418320" y="246888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DB 797 · amenability · AF · ΔΔG · CTSS · 포털</a:t>
            </a:r>
          </a:p>
        </p:txBody>
      </p:sp>
      <p:sp>
        <p:nvSpPr>
          <p:cNvPr id="26" name="Rounded Rectangle 25"/>
          <p:cNvSpPr/>
          <p:nvPr/>
        </p:nvSpPr>
        <p:spPr>
          <a:xfrm>
            <a:off x="365760" y="370332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70332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93192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05</a:t>
            </a:r>
          </a:p>
        </p:txBody>
      </p:sp>
      <p:sp>
        <p:nvSpPr>
          <p:cNvPr id="29" name="TextBox 28"/>
          <p:cNvSpPr txBox="1"/>
          <p:nvPr/>
        </p:nvSpPr>
        <p:spPr>
          <a:xfrm>
            <a:off x="640080" y="438912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대표 케이스</a:t>
            </a:r>
          </a:p>
        </p:txBody>
      </p:sp>
      <p:sp>
        <p:nvSpPr>
          <p:cNvPr id="30" name="TextBox 29"/>
          <p:cNvSpPr txBox="1"/>
          <p:nvPr/>
        </p:nvSpPr>
        <p:spPr>
          <a:xfrm>
            <a:off x="640080" y="493776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Ser152 모듈 · Arg88 반례 · C422 트랙 긴장</a:t>
            </a:r>
          </a:p>
        </p:txBody>
      </p:sp>
      <p:sp>
        <p:nvSpPr>
          <p:cNvPr id="31" name="Rounded Rectangle 30"/>
          <p:cNvSpPr/>
          <p:nvPr/>
        </p:nvSpPr>
        <p:spPr>
          <a:xfrm>
            <a:off x="3291840" y="370332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370332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66160" y="393192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06</a:t>
            </a:r>
          </a:p>
        </p:txBody>
      </p:sp>
      <p:sp>
        <p:nvSpPr>
          <p:cNvPr id="34" name="TextBox 33"/>
          <p:cNvSpPr txBox="1"/>
          <p:nvPr/>
        </p:nvSpPr>
        <p:spPr>
          <a:xfrm>
            <a:off x="3566160" y="438912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유의미성·한계</a:t>
            </a:r>
          </a:p>
        </p:txBody>
      </p:sp>
      <p:sp>
        <p:nvSpPr>
          <p:cNvPr id="35" name="TextBox 34"/>
          <p:cNvSpPr txBox="1"/>
          <p:nvPr/>
        </p:nvSpPr>
        <p:spPr>
          <a:xfrm>
            <a:off x="3566160" y="493776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강한 층 / 열린 층 · non-claim 규율</a:t>
            </a:r>
          </a:p>
        </p:txBody>
      </p:sp>
      <p:sp>
        <p:nvSpPr>
          <p:cNvPr id="36" name="Rounded Rectangle 35"/>
          <p:cNvSpPr/>
          <p:nvPr/>
        </p:nvSpPr>
        <p:spPr>
          <a:xfrm>
            <a:off x="6217920" y="370332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0" y="370332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393192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07</a:t>
            </a:r>
          </a:p>
        </p:txBody>
      </p:sp>
      <p:sp>
        <p:nvSpPr>
          <p:cNvPr id="39" name="TextBox 38"/>
          <p:cNvSpPr txBox="1"/>
          <p:nvPr/>
        </p:nvSpPr>
        <p:spPr>
          <a:xfrm>
            <a:off x="6492240" y="438912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앞으로의 계획</a:t>
            </a:r>
          </a:p>
        </p:txBody>
      </p:sp>
      <p:sp>
        <p:nvSpPr>
          <p:cNvPr id="40" name="TextBox 39"/>
          <p:cNvSpPr txBox="1"/>
          <p:nvPr/>
        </p:nvSpPr>
        <p:spPr>
          <a:xfrm>
            <a:off x="6492240" y="493776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90일 · 12개월 · 게이트 · 자문 질문</a:t>
            </a:r>
          </a:p>
        </p:txBody>
      </p:sp>
      <p:sp>
        <p:nvSpPr>
          <p:cNvPr id="41" name="Rounded Rectangle 40"/>
          <p:cNvSpPr/>
          <p:nvPr/>
        </p:nvSpPr>
        <p:spPr>
          <a:xfrm>
            <a:off x="9144000" y="3703320"/>
            <a:ext cx="27432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44000" y="3703320"/>
            <a:ext cx="109728" cy="21945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18320" y="3931920"/>
            <a:ext cx="2286000" cy="365760"/>
          </a:xfrm>
          <a:prstGeom prst="rect">
            <a:avLst/>
          </a:prstGeom>
          <a:noFill/>
        </p:spPr>
        <p:txBody>
          <a:bodyPr wrap="square" anchor="t"/>
          <a:lstStyle/>
          <a:p>
            <a:pPr algn="l"/>
            <a:r>
              <a:rPr sz="2000" b="1">
                <a:solidFill>
                  <a:srgbClr val="0D9488"/>
                </a:solidFill>
                <a:latin typeface="Apple SD Gothic Neo"/>
                <a:ea typeface="Apple SD Gothic Neo"/>
                <a:cs typeface="Apple SD Gothic Neo"/>
              </a:rPr>
              <a:t>08</a:t>
            </a:r>
          </a:p>
        </p:txBody>
      </p:sp>
      <p:sp>
        <p:nvSpPr>
          <p:cNvPr id="44" name="TextBox 43"/>
          <p:cNvSpPr txBox="1"/>
          <p:nvPr/>
        </p:nvSpPr>
        <p:spPr>
          <a:xfrm>
            <a:off x="9418320" y="4389120"/>
            <a:ext cx="2286000" cy="457200"/>
          </a:xfrm>
          <a:prstGeom prst="rect">
            <a:avLst/>
          </a:prstGeom>
          <a:noFill/>
        </p:spPr>
        <p:txBody>
          <a:bodyPr wrap="square" anchor="t"/>
          <a:lstStyle/>
          <a:p>
            <a:pPr algn="l"/>
            <a:r>
              <a:rPr sz="1600" b="1">
                <a:solidFill>
                  <a:srgbClr val="0B1F33"/>
                </a:solidFill>
                <a:latin typeface="Apple SD Gothic Neo"/>
                <a:ea typeface="Apple SD Gothic Neo"/>
                <a:cs typeface="Apple SD Gothic Neo"/>
              </a:rPr>
              <a:t>전달 문장</a:t>
            </a:r>
          </a:p>
        </p:txBody>
      </p:sp>
      <p:sp>
        <p:nvSpPr>
          <p:cNvPr id="45" name="TextBox 44"/>
          <p:cNvSpPr txBox="1"/>
          <p:nvPr/>
        </p:nvSpPr>
        <p:spPr>
          <a:xfrm>
            <a:off x="9418320" y="4937760"/>
            <a:ext cx="2286000" cy="777240"/>
          </a:xfrm>
          <a:prstGeom prst="rect">
            <a:avLst/>
          </a:prstGeom>
          <a:noFill/>
        </p:spPr>
        <p:txBody>
          <a:bodyPr wrap="square" anchor="t"/>
          <a:lstStyle/>
          <a:p>
            <a:pPr algn="l"/>
            <a:r>
              <a:rPr sz="1100" b="0">
                <a:solidFill>
                  <a:srgbClr val="5A6A75"/>
                </a:solidFill>
                <a:latin typeface="Apple SD Gothic Neo"/>
                <a:ea typeface="Apple SD Gothic Neo"/>
                <a:cs typeface="Apple SD Gothic Neo"/>
              </a:rPr>
              <a:t>누구에게나 말할 수 있는 고정 스크립트</a:t>
            </a:r>
          </a:p>
        </p:txBody>
      </p:sp>
      <p:sp>
        <p:nvSpPr>
          <p:cNvPr id="46" name="Rectangle 4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Agenda</a:t>
            </a:r>
          </a:p>
        </p:txBody>
      </p:sp>
      <p:sp>
        <p:nvSpPr>
          <p:cNvPr id="48" name="TextBox 4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한 문장 정의 + Claim / Non-claim 경계</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이 경계를 어기면 전체 신뢰가 무너진다</a:t>
            </a:r>
          </a:p>
        </p:txBody>
      </p:sp>
      <p:sp>
        <p:nvSpPr>
          <p:cNvPr id="6" name="Rounded Rectangle 5"/>
          <p:cNvSpPr/>
          <p:nvPr/>
        </p:nvSpPr>
        <p:spPr>
          <a:xfrm>
            <a:off x="365760" y="1143000"/>
            <a:ext cx="11430000" cy="1371600"/>
          </a:xfrm>
          <a:prstGeom prst="roundRect">
            <a:avLst>
              <a:gd name="adj" fmla="val 6000"/>
            </a:avLst>
          </a:prstGeom>
          <a:solidFill>
            <a:srgbClr val="D4F0E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80160"/>
            <a:ext cx="10972800" cy="1097280"/>
          </a:xfrm>
          <a:prstGeom prst="rect">
            <a:avLst/>
          </a:prstGeom>
          <a:noFill/>
        </p:spPr>
        <p:txBody>
          <a:bodyPr wrap="square" anchor="t"/>
          <a:lstStyle/>
          <a:p>
            <a:pPr algn="l"/>
            <a:r>
              <a:rPr sz="1500" b="1">
                <a:solidFill>
                  <a:srgbClr val="0B1F33"/>
                </a:solidFill>
                <a:latin typeface="Apple SD Gothic Neo"/>
                <a:ea typeface="Apple SD Gothic Neo"/>
                <a:cs typeface="Apple SD Gothic Neo"/>
              </a:rPr>
              <a:t>공개 변이 데이터와 IDS 결정구조(5FQL)를 결합해, 미스센스 변이를
「샤페론·안정화 바인더로 접근할 가치가 있는 군」과 「구조적으로 배제·주의해야 할 군」으로 가르는
재현 가능한 triage 지도(의사결정 층)를 만든다.  치료 성공 주장이 아니다.</a:t>
            </a:r>
          </a:p>
        </p:txBody>
      </p:sp>
      <p:sp>
        <p:nvSpPr>
          <p:cNvPr id="8" name="Rounded Rectangle 7"/>
          <p:cNvSpPr/>
          <p:nvPr/>
        </p:nvSpPr>
        <p:spPr>
          <a:xfrm>
            <a:off x="365760" y="2743200"/>
            <a:ext cx="5577840" cy="356616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80360"/>
            <a:ext cx="5120640" cy="365760"/>
          </a:xfrm>
          <a:prstGeom prst="rect">
            <a:avLst/>
          </a:prstGeom>
          <a:noFill/>
        </p:spPr>
        <p:txBody>
          <a:bodyPr wrap="square" anchor="t"/>
          <a:lstStyle/>
          <a:p>
            <a:pPr algn="l"/>
            <a:r>
              <a:rPr sz="1500" b="1">
                <a:solidFill>
                  <a:srgbClr val="1E8E5A"/>
                </a:solidFill>
                <a:latin typeface="Apple SD Gothic Neo"/>
                <a:ea typeface="Apple SD Gothic Neo"/>
                <a:cs typeface="Apple SD Gothic Neo"/>
              </a:rPr>
              <a:t>CLAIM 가능 (방어 가능)</a:t>
            </a:r>
          </a:p>
        </p:txBody>
      </p:sp>
      <p:sp>
        <p:nvSpPr>
          <p:cNvPr id="10" name="TextBox 9"/>
          <p:cNvSpPr txBox="1"/>
          <p:nvPr/>
        </p:nvSpPr>
        <p:spPr>
          <a:xfrm>
            <a:off x="594360" y="3291840"/>
            <a:ext cx="5120640" cy="2834640"/>
          </a:xfrm>
          <a:prstGeom prst="rect">
            <a:avLst/>
          </a:prstGeom>
          <a:noFill/>
        </p:spPr>
        <p:txBody>
          <a:bodyPr wrap="square">
            <a:spAutoFit/>
          </a:bodyPr>
          <a:lstStyle/>
          <a:p>
            <a:pPr algn="l">
              <a:spcBef>
                <a:spcPts val="0"/>
              </a:spcBef>
              <a:spcAft>
                <a:spcPts val="500"/>
              </a:spcAft>
            </a:pPr>
            <a:r>
              <a:rPr sz="1200" b="0">
                <a:solidFill>
                  <a:srgbClr val="1A2A36"/>
                </a:solidFill>
                <a:latin typeface="Apple SD Gothic Neo"/>
                <a:ea typeface="Apple SD Gothic Neo"/>
                <a:cs typeface="Apple SD Gothic Neo"/>
              </a:rPr>
              <a:t>• 5FQL 실측 좌표 기반 RSA·촉매거리·이황화·Ca 주석을 전 변이셋에 일관 적용</a:t>
            </a:r>
          </a:p>
          <a:p>
            <a:pPr algn="l">
              <a:spcBef>
                <a:spcPts val="0"/>
              </a:spcBef>
              <a:spcAft>
                <a:spcPts val="500"/>
              </a:spcAft>
            </a:pPr>
            <a:r>
              <a:rPr sz="1200" b="0">
                <a:solidFill>
                  <a:srgbClr val="1A2A36"/>
                </a:solidFill>
                <a:latin typeface="Apple SD Gothic Neo"/>
                <a:ea typeface="Apple SD Gothic Neo"/>
                <a:cs typeface="Apple SD Gothic Neo"/>
              </a:rPr>
              <a:t>• 빈도 랭킹이 아닌 amenability proxy 규칙으로 재순위화</a:t>
            </a:r>
          </a:p>
          <a:p>
            <a:pPr algn="l">
              <a:spcBef>
                <a:spcPts val="0"/>
              </a:spcBef>
              <a:spcAft>
                <a:spcPts val="500"/>
              </a:spcAft>
            </a:pPr>
            <a:r>
              <a:rPr sz="1200" b="0">
                <a:solidFill>
                  <a:srgbClr val="1A2A36"/>
                </a:solidFill>
                <a:latin typeface="Apple SD Gothic Neo"/>
                <a:ea typeface="Apple SD Gothic Neo"/>
                <a:cs typeface="Apple SD Gothic Neo"/>
              </a:rPr>
              <a:t>• Hard EXCLUDE / CAUTION_POCKET / TIER1–3 분리</a:t>
            </a:r>
          </a:p>
          <a:p>
            <a:pPr algn="l">
              <a:spcBef>
                <a:spcPts val="0"/>
              </a:spcBef>
              <a:spcAft>
                <a:spcPts val="500"/>
              </a:spcAft>
            </a:pPr>
            <a:r>
              <a:rPr sz="1200" b="0">
                <a:solidFill>
                  <a:srgbClr val="1A2A36"/>
                </a:solidFill>
                <a:latin typeface="Apple SD Gothic Neo"/>
                <a:ea typeface="Apple SD Gothic Neo"/>
                <a:cs typeface="Apple SD Gothic Neo"/>
              </a:rPr>
              <a:t>• 변이 자리(core node) ≠ 결합 자리(surface epitope) 원칙</a:t>
            </a:r>
          </a:p>
          <a:p>
            <a:pPr algn="l">
              <a:spcBef>
                <a:spcPts val="0"/>
              </a:spcBef>
              <a:spcAft>
                <a:spcPts val="500"/>
              </a:spcAft>
            </a:pPr>
            <a:r>
              <a:rPr sz="1200" b="0">
                <a:solidFill>
                  <a:srgbClr val="1A2A36"/>
                </a:solidFill>
                <a:latin typeface="Apple SD Gothic Neo"/>
                <a:ea typeface="Apple SD Gothic Neo"/>
                <a:cs typeface="Apple SD Gothic Neo"/>
              </a:rPr>
              <a:t>• Ser152·Asp308을 구조 모듈 대표 케이스로 심화</a:t>
            </a:r>
          </a:p>
          <a:p>
            <a:pPr algn="l">
              <a:spcBef>
                <a:spcPts val="0"/>
              </a:spcBef>
              <a:spcAft>
                <a:spcPts val="500"/>
              </a:spcAft>
            </a:pPr>
            <a:r>
              <a:rPr sz="1200" b="0">
                <a:solidFill>
                  <a:srgbClr val="1A2A36"/>
                </a:solidFill>
                <a:latin typeface="Apple SD Gothic Neo"/>
                <a:ea typeface="Apple SD Gothic Neo"/>
                <a:cs typeface="Apple SD Gothic Neo"/>
              </a:rPr>
              <a:t>• AF 결과를 ‘좌표 유사 ≠ 안정·무해’ 규율로 해석</a:t>
            </a:r>
          </a:p>
          <a:p>
            <a:pPr algn="l">
              <a:spcBef>
                <a:spcPts val="0"/>
              </a:spcBef>
              <a:spcAft>
                <a:spcPts val="500"/>
              </a:spcAft>
            </a:pPr>
            <a:r>
              <a:rPr sz="1200" b="0">
                <a:solidFill>
                  <a:srgbClr val="1A2A36"/>
                </a:solidFill>
                <a:latin typeface="Apple SD Gothic Neo"/>
                <a:ea typeface="Apple SD Gothic Neo"/>
                <a:cs typeface="Apple SD Gothic Neo"/>
              </a:rPr>
              <a:t>• 암브록솔·미갈라스타트에서 성공 조건만 이식</a:t>
            </a:r>
          </a:p>
          <a:p>
            <a:pPr algn="l">
              <a:spcBef>
                <a:spcPts val="0"/>
              </a:spcBef>
              <a:spcAft>
                <a:spcPts val="500"/>
              </a:spcAft>
            </a:pPr>
            <a:r>
              <a:rPr sz="1200" b="0">
                <a:solidFill>
                  <a:srgbClr val="1A2A36"/>
                </a:solidFill>
                <a:latin typeface="Apple SD Gothic Neo"/>
                <a:ea typeface="Apple SD Gothic Neo"/>
                <a:cs typeface="Apple SD Gothic Neo"/>
              </a:rPr>
              <a:t>• 후속 PC·바인더 캠페인의 의사결정 층 제공</a:t>
            </a:r>
          </a:p>
        </p:txBody>
      </p:sp>
      <p:sp>
        <p:nvSpPr>
          <p:cNvPr id="11" name="Rounded Rectangle 10"/>
          <p:cNvSpPr/>
          <p:nvPr/>
        </p:nvSpPr>
        <p:spPr>
          <a:xfrm>
            <a:off x="6217920" y="2743200"/>
            <a:ext cx="5577840" cy="356616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880360"/>
            <a:ext cx="5120640" cy="365760"/>
          </a:xfrm>
          <a:prstGeom prst="rect">
            <a:avLst/>
          </a:prstGeom>
          <a:noFill/>
        </p:spPr>
        <p:txBody>
          <a:bodyPr wrap="square" anchor="t"/>
          <a:lstStyle/>
          <a:p>
            <a:pPr algn="l"/>
            <a:r>
              <a:rPr sz="1500" b="1">
                <a:solidFill>
                  <a:srgbClr val="E85D4C"/>
                </a:solidFill>
                <a:latin typeface="Apple SD Gothic Neo"/>
                <a:ea typeface="Apple SD Gothic Neo"/>
                <a:cs typeface="Apple SD Gothic Neo"/>
              </a:rPr>
              <a:t>NON-CLAIM (절대 말하지 않음)</a:t>
            </a:r>
          </a:p>
        </p:txBody>
      </p:sp>
      <p:sp>
        <p:nvSpPr>
          <p:cNvPr id="13" name="TextBox 12"/>
          <p:cNvSpPr txBox="1"/>
          <p:nvPr/>
        </p:nvSpPr>
        <p:spPr>
          <a:xfrm>
            <a:off x="6446520" y="3291840"/>
            <a:ext cx="5120640" cy="2834640"/>
          </a:xfrm>
          <a:prstGeom prst="rect">
            <a:avLst/>
          </a:prstGeom>
          <a:noFill/>
        </p:spPr>
        <p:txBody>
          <a:bodyPr wrap="square">
            <a:spAutoFit/>
          </a:bodyPr>
          <a:lstStyle/>
          <a:p>
            <a:pPr algn="l">
              <a:spcBef>
                <a:spcPts val="0"/>
              </a:spcBef>
              <a:spcAft>
                <a:spcPts val="500"/>
              </a:spcAft>
            </a:pPr>
            <a:r>
              <a:rPr sz="1200" b="0">
                <a:solidFill>
                  <a:srgbClr val="1A2A36"/>
                </a:solidFill>
                <a:latin typeface="Apple SD Gothic Neo"/>
                <a:ea typeface="Apple SD Gothic Neo"/>
                <a:cs typeface="Apple SD Gothic Neo"/>
              </a:rPr>
              <a:t>• 치료 바인더/약을 설계·검증했다</a:t>
            </a:r>
          </a:p>
          <a:p>
            <a:pPr algn="l">
              <a:spcBef>
                <a:spcPts val="0"/>
              </a:spcBef>
              <a:spcAft>
                <a:spcPts val="500"/>
              </a:spcAft>
            </a:pPr>
            <a:r>
              <a:rPr sz="1200" b="0">
                <a:solidFill>
                  <a:srgbClr val="1A2A36"/>
                </a:solidFill>
                <a:latin typeface="Apple SD Gothic Neo"/>
                <a:ea typeface="Apple SD Gothic Neo"/>
                <a:cs typeface="Apple SD Gothic Neo"/>
              </a:rPr>
              <a:t>• 잔존 활성·세포 트래픽킹을 실측했다</a:t>
            </a:r>
          </a:p>
          <a:p>
            <a:pPr algn="l">
              <a:spcBef>
                <a:spcPts val="0"/>
              </a:spcBef>
              <a:spcAft>
                <a:spcPts val="500"/>
              </a:spcAft>
            </a:pPr>
            <a:r>
              <a:rPr sz="1200" b="0">
                <a:solidFill>
                  <a:srgbClr val="1A2A36"/>
                </a:solidFill>
                <a:latin typeface="Apple SD Gothic Neo"/>
                <a:ea typeface="Apple SD Gothic Neo"/>
                <a:cs typeface="Apple SD Gothic Neo"/>
              </a:rPr>
              <a:t>• 암브록솔이 IDS에 직접 작용한다</a:t>
            </a:r>
          </a:p>
          <a:p>
            <a:pPr algn="l">
              <a:spcBef>
                <a:spcPts val="0"/>
              </a:spcBef>
              <a:spcAft>
                <a:spcPts val="500"/>
              </a:spcAft>
            </a:pPr>
            <a:r>
              <a:rPr sz="1200" b="0">
                <a:solidFill>
                  <a:srgbClr val="1A2A36"/>
                </a:solidFill>
                <a:latin typeface="Apple SD Gothic Neo"/>
                <a:ea typeface="Apple SD Gothic Neo"/>
                <a:cs typeface="Apple SD Gothic Neo"/>
              </a:rPr>
              <a:t>• AF RMSD / pLDDT만으로 병원성·구제 순위</a:t>
            </a:r>
          </a:p>
          <a:p>
            <a:pPr algn="l">
              <a:spcBef>
                <a:spcPts val="0"/>
              </a:spcBef>
              <a:spcAft>
                <a:spcPts val="500"/>
              </a:spcAft>
            </a:pPr>
            <a:r>
              <a:rPr sz="1200" b="0">
                <a:solidFill>
                  <a:srgbClr val="1A2A36"/>
                </a:solidFill>
                <a:latin typeface="Apple SD Gothic Neo"/>
                <a:ea typeface="Apple SD Gothic Neo"/>
                <a:cs typeface="Apple SD Gothic Neo"/>
              </a:rPr>
              <a:t>• docking 성공 = 기능 회복 (D2S0 교훈 반)</a:t>
            </a:r>
          </a:p>
          <a:p>
            <a:pPr algn="l">
              <a:spcBef>
                <a:spcPts val="0"/>
              </a:spcBef>
              <a:spcAft>
                <a:spcPts val="500"/>
              </a:spcAft>
            </a:pPr>
            <a:r>
              <a:rPr sz="1200" b="0">
                <a:solidFill>
                  <a:srgbClr val="1A2A36"/>
                </a:solidFill>
                <a:latin typeface="Apple SD Gothic Neo"/>
                <a:ea typeface="Apple SD Gothic Neo"/>
                <a:cs typeface="Apple SD Gothic Neo"/>
              </a:rPr>
              <a:t>• TIER1 = ‘약 된다’ 목록</a:t>
            </a:r>
          </a:p>
          <a:p>
            <a:pPr algn="l">
              <a:spcBef>
                <a:spcPts val="0"/>
              </a:spcBef>
              <a:spcAft>
                <a:spcPts val="500"/>
              </a:spcAft>
            </a:pPr>
            <a:r>
              <a:rPr sz="1200" b="0">
                <a:solidFill>
                  <a:srgbClr val="1A2A36"/>
                </a:solidFill>
                <a:latin typeface="Apple SD Gothic Neo"/>
                <a:ea typeface="Apple SD Gothic Neo"/>
                <a:cs typeface="Apple SD Gothic Neo"/>
              </a:rPr>
              <a:t>• 임상 처방용 amenable genotype 목록</a:t>
            </a:r>
          </a:p>
          <a:p>
            <a:pPr algn="l">
              <a:spcBef>
                <a:spcPts val="0"/>
              </a:spcBef>
              <a:spcAft>
                <a:spcPts val="500"/>
              </a:spcAft>
            </a:pPr>
            <a:r>
              <a:rPr sz="1200" b="0">
                <a:solidFill>
                  <a:srgbClr val="1A2A36"/>
                </a:solidFill>
                <a:latin typeface="Apple SD Gothic Neo"/>
                <a:ea typeface="Apple SD Gothic Neo"/>
                <a:cs typeface="Apple SD Gothic Neo"/>
              </a:rPr>
              <a:t>• 신경형 MPS II 전달 문제 해결</a:t>
            </a:r>
          </a:p>
        </p:txBody>
      </p:sp>
      <p:sp>
        <p:nvSpPr>
          <p:cNvPr id="14" name="Rectangle 1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Boundary</a:t>
            </a:r>
          </a:p>
        </p:txBody>
      </p:sp>
      <p:sp>
        <p:nvSpPr>
          <p:cNvPr id="16" name="TextBox 15"/>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01 · 왜 이 문제인가 — 화학공학자의 문제 정의</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기질 축적이 아니라 ‘기능 효소 분자 유량’의 붕괴</a:t>
            </a:r>
          </a:p>
        </p:txBody>
      </p:sp>
      <p:sp>
        <p:nvSpPr>
          <p:cNvPr id="6" name="Rounded Rectangle 5"/>
          <p:cNvSpPr/>
          <p:nvPr/>
        </p:nvSpPr>
        <p:spPr>
          <a:xfrm>
            <a:off x="365760" y="1188720"/>
            <a:ext cx="2148840" cy="1417320"/>
          </a:xfrm>
          <a:prstGeom prst="roundRect">
            <a:avLst>
              <a:gd name="adj" fmla="val 6000"/>
            </a:avLst>
          </a:prstGeom>
          <a:solidFill>
            <a:srgbClr val="EDE6F5"/>
          </a:solidFill>
          <a:ln w="12700">
            <a:solidFill>
              <a:srgbClr val="6B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874519" cy="411480"/>
          </a:xfrm>
          <a:prstGeom prst="rect">
            <a:avLst/>
          </a:prstGeom>
          <a:noFill/>
        </p:spPr>
        <p:txBody>
          <a:bodyPr wrap="square" anchor="t"/>
          <a:lstStyle/>
          <a:p>
            <a:pPr algn="ctr"/>
            <a:r>
              <a:rPr sz="1400" b="1">
                <a:solidFill>
                  <a:srgbClr val="6B4C9A"/>
                </a:solidFill>
                <a:latin typeface="Apple SD Gothic Neo"/>
                <a:ea typeface="Apple SD Gothic Neo"/>
                <a:cs typeface="Apple SD Gothic Neo"/>
              </a:rPr>
              <a:t>전사·번역</a:t>
            </a:r>
          </a:p>
        </p:txBody>
      </p:sp>
      <p:sp>
        <p:nvSpPr>
          <p:cNvPr id="8" name="TextBox 7"/>
          <p:cNvSpPr txBox="1"/>
          <p:nvPr/>
        </p:nvSpPr>
        <p:spPr>
          <a:xfrm>
            <a:off x="502920" y="1874519"/>
            <a:ext cx="1874519" cy="45720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서열 설계도</a:t>
            </a:r>
          </a:p>
        </p:txBody>
      </p:sp>
      <p:sp>
        <p:nvSpPr>
          <p:cNvPr id="9" name="TextBox 8"/>
          <p:cNvSpPr txBox="1"/>
          <p:nvPr/>
        </p:nvSpPr>
        <p:spPr>
          <a:xfrm>
            <a:off x="2331720" y="1600200"/>
            <a:ext cx="3657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a:t>
            </a:r>
          </a:p>
        </p:txBody>
      </p:sp>
      <p:sp>
        <p:nvSpPr>
          <p:cNvPr id="10" name="Rounded Rectangle 9"/>
          <p:cNvSpPr/>
          <p:nvPr/>
        </p:nvSpPr>
        <p:spPr>
          <a:xfrm>
            <a:off x="2697479" y="1188720"/>
            <a:ext cx="2148840" cy="1417320"/>
          </a:xfrm>
          <a:prstGeom prst="roundRect">
            <a:avLst>
              <a:gd name="adj" fmla="val 6000"/>
            </a:avLst>
          </a:prstGeom>
          <a:solidFill>
            <a:srgbClr val="D4F0E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39" y="1371600"/>
            <a:ext cx="1874519" cy="411480"/>
          </a:xfrm>
          <a:prstGeom prst="rect">
            <a:avLst/>
          </a:prstGeom>
          <a:noFill/>
        </p:spPr>
        <p:txBody>
          <a:bodyPr wrap="square" anchor="t"/>
          <a:lstStyle/>
          <a:p>
            <a:pPr algn="ctr"/>
            <a:r>
              <a:rPr sz="1400" b="1">
                <a:solidFill>
                  <a:srgbClr val="0D9488"/>
                </a:solidFill>
                <a:latin typeface="Apple SD Gothic Neo"/>
                <a:ea typeface="Apple SD Gothic Neo"/>
                <a:cs typeface="Apple SD Gothic Neo"/>
              </a:rPr>
              <a:t>ER 접힘</a:t>
            </a:r>
          </a:p>
        </p:txBody>
      </p:sp>
      <p:sp>
        <p:nvSpPr>
          <p:cNvPr id="12" name="TextBox 11"/>
          <p:cNvSpPr txBox="1"/>
          <p:nvPr/>
        </p:nvSpPr>
        <p:spPr>
          <a:xfrm>
            <a:off x="2834639" y="1874519"/>
            <a:ext cx="1874519" cy="45720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조립 라인</a:t>
            </a:r>
          </a:p>
        </p:txBody>
      </p:sp>
      <p:sp>
        <p:nvSpPr>
          <p:cNvPr id="13" name="TextBox 12"/>
          <p:cNvSpPr txBox="1"/>
          <p:nvPr/>
        </p:nvSpPr>
        <p:spPr>
          <a:xfrm>
            <a:off x="4663439" y="1600200"/>
            <a:ext cx="3657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a:t>
            </a:r>
          </a:p>
        </p:txBody>
      </p:sp>
      <p:sp>
        <p:nvSpPr>
          <p:cNvPr id="14" name="Rounded Rectangle 13"/>
          <p:cNvSpPr/>
          <p:nvPr/>
        </p:nvSpPr>
        <p:spPr>
          <a:xfrm>
            <a:off x="5029200" y="1188720"/>
            <a:ext cx="2148840" cy="1417320"/>
          </a:xfrm>
          <a:prstGeom prst="roundRect">
            <a:avLst>
              <a:gd name="adj" fmla="val 6000"/>
            </a:avLst>
          </a:prstGeom>
          <a:solidFill>
            <a:srgbClr val="FEF3D6"/>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1371600"/>
            <a:ext cx="1874519" cy="411480"/>
          </a:xfrm>
          <a:prstGeom prst="rect">
            <a:avLst/>
          </a:prstGeom>
          <a:noFill/>
        </p:spPr>
        <p:txBody>
          <a:bodyPr wrap="square" anchor="t"/>
          <a:lstStyle/>
          <a:p>
            <a:pPr algn="ctr"/>
            <a:r>
              <a:rPr sz="1400" b="1">
                <a:solidFill>
                  <a:srgbClr val="E89B0C"/>
                </a:solidFill>
                <a:latin typeface="Apple SD Gothic Neo"/>
                <a:ea typeface="Apple SD Gothic Neo"/>
                <a:cs typeface="Apple SD Gothic Neo"/>
              </a:rPr>
              <a:t>ERQC</a:t>
            </a:r>
          </a:p>
        </p:txBody>
      </p:sp>
      <p:sp>
        <p:nvSpPr>
          <p:cNvPr id="16" name="TextBox 15"/>
          <p:cNvSpPr txBox="1"/>
          <p:nvPr/>
        </p:nvSpPr>
        <p:spPr>
          <a:xfrm>
            <a:off x="5166360" y="1874519"/>
            <a:ext cx="1874519" cy="45720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품질관리</a:t>
            </a:r>
          </a:p>
        </p:txBody>
      </p:sp>
      <p:sp>
        <p:nvSpPr>
          <p:cNvPr id="17" name="TextBox 16"/>
          <p:cNvSpPr txBox="1"/>
          <p:nvPr/>
        </p:nvSpPr>
        <p:spPr>
          <a:xfrm>
            <a:off x="6995160" y="1600200"/>
            <a:ext cx="3657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a:t>
            </a:r>
          </a:p>
        </p:txBody>
      </p:sp>
      <p:sp>
        <p:nvSpPr>
          <p:cNvPr id="18" name="Rounded Rectangle 17"/>
          <p:cNvSpPr/>
          <p:nvPr/>
        </p:nvSpPr>
        <p:spPr>
          <a:xfrm>
            <a:off x="7360919" y="1188720"/>
            <a:ext cx="2148840" cy="14173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79" y="1371600"/>
            <a:ext cx="1874519" cy="411480"/>
          </a:xfrm>
          <a:prstGeom prst="rect">
            <a:avLst/>
          </a:prstGeom>
          <a:noFill/>
        </p:spPr>
        <p:txBody>
          <a:bodyPr wrap="square" anchor="t"/>
          <a:lstStyle/>
          <a:p>
            <a:pPr algn="ctr"/>
            <a:r>
              <a:rPr sz="1400" b="1">
                <a:solidFill>
                  <a:srgbClr val="1E8E5A"/>
                </a:solidFill>
                <a:latin typeface="Apple SD Gothic Neo"/>
                <a:ea typeface="Apple SD Gothic Neo"/>
                <a:cs typeface="Apple SD Gothic Neo"/>
              </a:rPr>
              <a:t>골지·M6P</a:t>
            </a:r>
          </a:p>
        </p:txBody>
      </p:sp>
      <p:sp>
        <p:nvSpPr>
          <p:cNvPr id="20" name="TextBox 19"/>
          <p:cNvSpPr txBox="1"/>
          <p:nvPr/>
        </p:nvSpPr>
        <p:spPr>
          <a:xfrm>
            <a:off x="7498079" y="1874519"/>
            <a:ext cx="1874519" cy="45720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표지·출하</a:t>
            </a:r>
          </a:p>
        </p:txBody>
      </p:sp>
      <p:sp>
        <p:nvSpPr>
          <p:cNvPr id="21" name="TextBox 20"/>
          <p:cNvSpPr txBox="1"/>
          <p:nvPr/>
        </p:nvSpPr>
        <p:spPr>
          <a:xfrm>
            <a:off x="9326879" y="1600200"/>
            <a:ext cx="3657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a:t>
            </a:r>
          </a:p>
        </p:txBody>
      </p:sp>
      <p:sp>
        <p:nvSpPr>
          <p:cNvPr id="22" name="Rounded Rectangle 21"/>
          <p:cNvSpPr/>
          <p:nvPr/>
        </p:nvSpPr>
        <p:spPr>
          <a:xfrm>
            <a:off x="9692640" y="1188720"/>
            <a:ext cx="2148840" cy="14173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1371600"/>
            <a:ext cx="1874519" cy="411480"/>
          </a:xfrm>
          <a:prstGeom prst="rect">
            <a:avLst/>
          </a:prstGeom>
          <a:noFill/>
        </p:spPr>
        <p:txBody>
          <a:bodyPr wrap="square" anchor="t"/>
          <a:lstStyle/>
          <a:p>
            <a:pPr algn="ctr"/>
            <a:r>
              <a:rPr sz="1400" b="1">
                <a:solidFill>
                  <a:srgbClr val="E85D4C"/>
                </a:solidFill>
                <a:latin typeface="Apple SD Gothic Neo"/>
                <a:ea typeface="Apple SD Gothic Neo"/>
                <a:cs typeface="Apple SD Gothic Neo"/>
              </a:rPr>
              <a:t>리소좀</a:t>
            </a:r>
          </a:p>
        </p:txBody>
      </p:sp>
      <p:sp>
        <p:nvSpPr>
          <p:cNvPr id="24" name="TextBox 23"/>
          <p:cNvSpPr txBox="1"/>
          <p:nvPr/>
        </p:nvSpPr>
        <p:spPr>
          <a:xfrm>
            <a:off x="9829800" y="1874519"/>
            <a:ext cx="1874519" cy="45720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현장 반응기</a:t>
            </a:r>
          </a:p>
        </p:txBody>
      </p:sp>
      <p:sp>
        <p:nvSpPr>
          <p:cNvPr id="25" name="Rounded Rectangle 24"/>
          <p:cNvSpPr/>
          <p:nvPr/>
        </p:nvSpPr>
        <p:spPr>
          <a:xfrm>
            <a:off x="365760" y="2880360"/>
            <a:ext cx="11430000" cy="338328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017520"/>
            <a:ext cx="109728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공정 사고(Process thinking)로 다시 쓰면</a:t>
            </a:r>
          </a:p>
        </p:txBody>
      </p:sp>
      <p:sp>
        <p:nvSpPr>
          <p:cNvPr id="27" name="TextBox 26"/>
          <p:cNvSpPr txBox="1"/>
          <p:nvPr/>
        </p:nvSpPr>
        <p:spPr>
          <a:xfrm>
            <a:off x="594360" y="3429000"/>
            <a:ext cx="10972800" cy="2651760"/>
          </a:xfrm>
          <a:prstGeom prst="rect">
            <a:avLst/>
          </a:prstGeom>
          <a:noFill/>
        </p:spPr>
        <p:txBody>
          <a:bodyPr wrap="square">
            <a:spAutoFit/>
          </a:bodyPr>
          <a:lstStyle/>
          <a:p>
            <a:pPr algn="l">
              <a:spcBef>
                <a:spcPts val="0"/>
              </a:spcBef>
              <a:spcAft>
                <a:spcPts val="600"/>
              </a:spcAft>
            </a:pPr>
            <a:r>
              <a:rPr sz="1300" b="0">
                <a:solidFill>
                  <a:srgbClr val="1A2A36"/>
                </a:solidFill>
                <a:latin typeface="Apple SD Gothic Neo"/>
                <a:ea typeface="Apple SD Gothic Neo"/>
                <a:cs typeface="Apple SD Gothic Neo"/>
              </a:rPr>
              <a:t>• 최종 생산량(throughput) = 리소좀에서 작동하는 IDS 분자 수 × 분자당 활성  —  측정 활성 저하는 k_cat=0만이 아님</a:t>
            </a:r>
          </a:p>
          <a:p>
            <a:pPr algn="l">
              <a:spcBef>
                <a:spcPts val="0"/>
              </a:spcBef>
              <a:spcAft>
                <a:spcPts val="600"/>
              </a:spcAft>
            </a:pPr>
            <a:r>
              <a:rPr sz="1300" b="0">
                <a:solidFill>
                  <a:srgbClr val="1A2A36"/>
                </a:solidFill>
                <a:latin typeface="Apple SD Gothic Neo"/>
                <a:ea typeface="Apple SD Gothic Neo"/>
                <a:cs typeface="Apple SD Gothic Neo"/>
              </a:rPr>
              <a:t>• 미스센스 중 일부는 ‘반응기(활성부위) 파괴’가 아니라 ‘조립 수율↓ · QC 불합격 · 출하 실패’ 유형일 수 있음</a:t>
            </a:r>
          </a:p>
          <a:p>
            <a:pPr algn="l">
              <a:spcBef>
                <a:spcPts val="0"/>
              </a:spcBef>
              <a:spcAft>
                <a:spcPts val="600"/>
              </a:spcAft>
            </a:pPr>
            <a:r>
              <a:rPr sz="1300" b="0">
                <a:solidFill>
                  <a:srgbClr val="1A2A36"/>
                </a:solidFill>
                <a:latin typeface="Apple SD Gothic Neo"/>
                <a:ea typeface="Apple SD Gothic Neo"/>
                <a:cs typeface="Apple SD Gothic Neo"/>
              </a:rPr>
              <a:t>• 약리 샤페론(PC) = 조립 단계에서 접힘 평형을 유리하게 밀어 출하량을 올리는 공정 보조제 가설</a:t>
            </a:r>
          </a:p>
          <a:p>
            <a:pPr algn="l">
              <a:spcBef>
                <a:spcPts val="0"/>
              </a:spcBef>
              <a:spcAft>
                <a:spcPts val="600"/>
              </a:spcAft>
            </a:pPr>
            <a:r>
              <a:rPr sz="1300" b="0">
                <a:solidFill>
                  <a:srgbClr val="1A2A36"/>
                </a:solidFill>
                <a:latin typeface="Apple SD Gothic Neo"/>
                <a:ea typeface="Apple SD Gothic Neo"/>
                <a:cs typeface="Apple SD Gothic Neo"/>
              </a:rPr>
              <a:t>• 그러나 모든 결함이 같은 공정 처방으로 고쳐지지 않음 → 결함 모드(fault mode) 분류가 선행되어야 함</a:t>
            </a:r>
          </a:p>
          <a:p>
            <a:pPr algn="l">
              <a:spcBef>
                <a:spcPts val="0"/>
              </a:spcBef>
              <a:spcAft>
                <a:spcPts val="600"/>
              </a:spcAft>
            </a:pPr>
            <a:r>
              <a:rPr sz="1300" b="0">
                <a:solidFill>
                  <a:srgbClr val="1A2A36"/>
                </a:solidFill>
                <a:latin typeface="Apple SD Gothic Neo"/>
                <a:ea typeface="Apple SD Gothic Neo"/>
                <a:cs typeface="Apple SD Gothic Neo"/>
              </a:rPr>
              <a:t>• docking 성공 ≠ 기능 회복 (D2S0 등): 결합 occupancy는 공정 KPI가 아님. KPI는 catalytic competence</a:t>
            </a:r>
          </a:p>
          <a:p>
            <a:pPr algn="l">
              <a:spcBef>
                <a:spcPts val="0"/>
              </a:spcBef>
              <a:spcAft>
                <a:spcPts val="600"/>
              </a:spcAft>
            </a:pPr>
            <a:r>
              <a:rPr sz="1300" b="0">
                <a:solidFill>
                  <a:srgbClr val="1A2A36"/>
                </a:solidFill>
                <a:latin typeface="Apple SD Gothic Neo"/>
                <a:ea typeface="Apple SD Gothic Neo"/>
                <a:cs typeface="Apple SD Gothic Neo"/>
              </a:rPr>
              <a:t>• 화학공학 비유: 원료 스펙 시트(서열)만 보지 말고, 단위공정 흐름도 + 열역학 + 품질규격을 동시에 읽는다</a:t>
            </a:r>
          </a:p>
          <a:p>
            <a:pPr algn="l">
              <a:spcBef>
                <a:spcPts val="0"/>
              </a:spcBef>
              <a:spcAft>
                <a:spcPts val="600"/>
              </a:spcAft>
            </a:pPr>
            <a:r>
              <a:rPr sz="1300" b="0">
                <a:solidFill>
                  <a:srgbClr val="1A2A36"/>
                </a:solidFill>
                <a:latin typeface="Apple SD Gothic Neo"/>
                <a:ea typeface="Apple SD Gothic Neo"/>
                <a:cs typeface="Apple SD Gothic Neo"/>
              </a:rPr>
              <a:t>• 이 프로젝트의 1차 산출물 = 치료제가 아니라  ‘어느 결함 모드에 어떤 개입 논리를 시도할 가치가 있는가’ 의 공정 triage 맵</a:t>
            </a:r>
          </a:p>
        </p:txBody>
      </p:sp>
      <p:sp>
        <p:nvSpPr>
          <p:cNvPr id="28" name="Rectangle 27"/>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01 Why</a:t>
            </a:r>
          </a:p>
        </p:txBody>
      </p:sp>
      <p:sp>
        <p:nvSpPr>
          <p:cNvPr id="30" name="TextBox 29"/>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01 · 임상·과학 맥락 (사실 앵커)</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과장 없이 고정할 수 있는 외부 사실</a:t>
            </a:r>
          </a:p>
        </p:txBody>
      </p:sp>
      <p:sp>
        <p:nvSpPr>
          <p:cNvPr id="6" name="Rounded Rectangle 5"/>
          <p:cNvSpPr/>
          <p:nvPr/>
        </p:nvSpPr>
        <p:spPr>
          <a:xfrm>
            <a:off x="365760" y="118872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18872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8016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질병</a:t>
            </a:r>
          </a:p>
        </p:txBody>
      </p:sp>
      <p:sp>
        <p:nvSpPr>
          <p:cNvPr id="9" name="TextBox 8"/>
          <p:cNvSpPr txBox="1"/>
          <p:nvPr/>
        </p:nvSpPr>
        <p:spPr>
          <a:xfrm>
            <a:off x="594360" y="187452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MPS II (Hunter)
IDS 결핍 → GAG 축적</a:t>
            </a:r>
          </a:p>
        </p:txBody>
      </p:sp>
      <p:sp>
        <p:nvSpPr>
          <p:cNvPr id="10" name="Rounded Rectangle 9"/>
          <p:cNvSpPr/>
          <p:nvPr/>
        </p:nvSpPr>
        <p:spPr>
          <a:xfrm>
            <a:off x="4251960" y="118872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18872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28016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표적 효소</a:t>
            </a:r>
          </a:p>
        </p:txBody>
      </p:sp>
      <p:sp>
        <p:nvSpPr>
          <p:cNvPr id="13" name="TextBox 12"/>
          <p:cNvSpPr txBox="1"/>
          <p:nvPr/>
        </p:nvSpPr>
        <p:spPr>
          <a:xfrm>
            <a:off x="4480560" y="187452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Iduronate-2-sulfatase
P22304 · sulfatase family</a:t>
            </a:r>
          </a:p>
        </p:txBody>
      </p:sp>
      <p:sp>
        <p:nvSpPr>
          <p:cNvPr id="14" name="Rounded Rectangle 13"/>
          <p:cNvSpPr/>
          <p:nvPr/>
        </p:nvSpPr>
        <p:spPr>
          <a:xfrm>
            <a:off x="8138160" y="118872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18872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28016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실측 구조</a:t>
            </a:r>
          </a:p>
        </p:txBody>
      </p:sp>
      <p:sp>
        <p:nvSpPr>
          <p:cNvPr id="17" name="TextBox 16"/>
          <p:cNvSpPr txBox="1"/>
          <p:nvPr/>
        </p:nvSpPr>
        <p:spPr>
          <a:xfrm>
            <a:off x="8366760" y="187452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PDB 5FQL · 2.3 Å
Demydchuk 2017</a:t>
            </a:r>
          </a:p>
        </p:txBody>
      </p:sp>
      <p:sp>
        <p:nvSpPr>
          <p:cNvPr id="18" name="Rounded Rectangle 17"/>
          <p:cNvSpPr/>
          <p:nvPr/>
        </p:nvSpPr>
        <p:spPr>
          <a:xfrm>
            <a:off x="365760" y="365760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5760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4904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변이 원천</a:t>
            </a:r>
          </a:p>
        </p:txBody>
      </p:sp>
      <p:sp>
        <p:nvSpPr>
          <p:cNvPr id="21" name="TextBox 20"/>
          <p:cNvSpPr txBox="1"/>
          <p:nvPr/>
        </p:nvSpPr>
        <p:spPr>
          <a:xfrm>
            <a:off x="594360" y="434340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공개 ClinVar/UniProt
프로젝트 병합 797건</a:t>
            </a:r>
          </a:p>
        </p:txBody>
      </p:sp>
      <p:sp>
        <p:nvSpPr>
          <p:cNvPr id="22" name="Rounded Rectangle 21"/>
          <p:cNvSpPr/>
          <p:nvPr/>
        </p:nvSpPr>
        <p:spPr>
          <a:xfrm>
            <a:off x="4251960" y="365760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65760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74904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PC 선례</a:t>
            </a:r>
          </a:p>
        </p:txBody>
      </p:sp>
      <p:sp>
        <p:nvSpPr>
          <p:cNvPr id="25" name="TextBox 24"/>
          <p:cNvSpPr txBox="1"/>
          <p:nvPr/>
        </p:nvSpPr>
        <p:spPr>
          <a:xfrm>
            <a:off x="4480560" y="434340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migalastat (α-Gal A)
ambroxol–GCase 연구</a:t>
            </a:r>
          </a:p>
        </p:txBody>
      </p:sp>
      <p:sp>
        <p:nvSpPr>
          <p:cNvPr id="26" name="Rounded Rectangle 25"/>
          <p:cNvSpPr/>
          <p:nvPr/>
        </p:nvSpPr>
        <p:spPr>
          <a:xfrm>
            <a:off x="8138160" y="3657600"/>
            <a:ext cx="3657600" cy="2194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3657600"/>
            <a:ext cx="3657600"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3749040"/>
            <a:ext cx="329184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IDS PC 단서</a:t>
            </a:r>
          </a:p>
        </p:txBody>
      </p:sp>
      <p:sp>
        <p:nvSpPr>
          <p:cNvPr id="29" name="TextBox 28"/>
          <p:cNvSpPr txBox="1"/>
          <p:nvPr/>
        </p:nvSpPr>
        <p:spPr>
          <a:xfrm>
            <a:off x="8366760" y="4343400"/>
            <a:ext cx="3200400" cy="1280160"/>
          </a:xfrm>
          <a:prstGeom prst="rect">
            <a:avLst/>
          </a:prstGeom>
          <a:noFill/>
        </p:spPr>
        <p:txBody>
          <a:bodyPr wrap="square" anchor="t"/>
          <a:lstStyle/>
          <a:p>
            <a:pPr algn="l"/>
            <a:r>
              <a:rPr sz="1500" b="0">
                <a:solidFill>
                  <a:srgbClr val="1A2A36"/>
                </a:solidFill>
                <a:latin typeface="Apple SD Gothic Neo"/>
                <a:ea typeface="Apple SD Gothic Neo"/>
                <a:cs typeface="Apple SD Gothic Neo"/>
              </a:rPr>
              <a:t>Hoshina 2018 등
헤파린 유도체 계열</a:t>
            </a:r>
          </a:p>
        </p:txBody>
      </p:sp>
      <p:sp>
        <p:nvSpPr>
          <p:cNvPr id="30" name="Rectangle 29"/>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01 Context</a:t>
            </a:r>
          </a:p>
        </p:txBody>
      </p:sp>
      <p:sp>
        <p:nvSpPr>
          <p:cNvPr id="32" name="TextBox 31"/>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02 · 개발 연대기 — 실제로 무엇이 쌓였는가</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시간순 · 산출물 중심 (요약을 과도하게 압축하지 않음)</a:t>
            </a:r>
          </a:p>
        </p:txBody>
      </p:sp>
      <p:sp>
        <p:nvSpPr>
          <p:cNvPr id="6" name="Rounded Rectangle 5"/>
          <p:cNvSpPr/>
          <p:nvPr/>
        </p:nvSpPr>
        <p:spPr>
          <a:xfrm>
            <a:off x="3200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83464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52728"/>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0</a:t>
            </a:r>
          </a:p>
        </p:txBody>
      </p:sp>
      <p:sp>
        <p:nvSpPr>
          <p:cNvPr id="9" name="TextBox 8"/>
          <p:cNvSpPr txBox="1"/>
          <p:nvPr/>
        </p:nvSpPr>
        <p:spPr>
          <a:xfrm>
            <a:off x="2057400" y="1252728"/>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고정</a:t>
            </a:r>
          </a:p>
        </p:txBody>
      </p:sp>
      <p:sp>
        <p:nvSpPr>
          <p:cNvPr id="10" name="TextBox 9"/>
          <p:cNvSpPr txBox="1"/>
          <p:nvPr/>
        </p:nvSpPr>
        <p:spPr>
          <a:xfrm>
            <a:off x="502920" y="1828800"/>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5FQL.pdb 확보
P22304 표적 고정
‘도구 모음’ 유혹 거부</a:t>
            </a:r>
          </a:p>
        </p:txBody>
      </p:sp>
      <p:sp>
        <p:nvSpPr>
          <p:cNvPr id="11" name="Rounded Rectangle 10"/>
          <p:cNvSpPr/>
          <p:nvPr/>
        </p:nvSpPr>
        <p:spPr>
          <a:xfrm>
            <a:off x="32918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143000"/>
            <a:ext cx="283464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252728"/>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1</a:t>
            </a:r>
          </a:p>
        </p:txBody>
      </p:sp>
      <p:sp>
        <p:nvSpPr>
          <p:cNvPr id="14" name="TextBox 13"/>
          <p:cNvSpPr txBox="1"/>
          <p:nvPr/>
        </p:nvSpPr>
        <p:spPr>
          <a:xfrm>
            <a:off x="5029200" y="1252728"/>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DB</a:t>
            </a:r>
          </a:p>
        </p:txBody>
      </p:sp>
      <p:sp>
        <p:nvSpPr>
          <p:cNvPr id="15" name="TextBox 14"/>
          <p:cNvSpPr txBox="1"/>
          <p:nvPr/>
        </p:nvSpPr>
        <p:spPr>
          <a:xfrm>
            <a:off x="3474720" y="1828800"/>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797 변이 병합
RSA·촉매거리·Ca
이황화·글리코 주석</a:t>
            </a:r>
          </a:p>
        </p:txBody>
      </p:sp>
      <p:sp>
        <p:nvSpPr>
          <p:cNvPr id="16" name="Rounded Rectangle 15"/>
          <p:cNvSpPr/>
          <p:nvPr/>
        </p:nvSpPr>
        <p:spPr>
          <a:xfrm>
            <a:off x="62636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143000"/>
            <a:ext cx="283464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252728"/>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2</a:t>
            </a:r>
          </a:p>
        </p:txBody>
      </p:sp>
      <p:sp>
        <p:nvSpPr>
          <p:cNvPr id="19" name="TextBox 18"/>
          <p:cNvSpPr txBox="1"/>
          <p:nvPr/>
        </p:nvSpPr>
        <p:spPr>
          <a:xfrm>
            <a:off x="8001000" y="1252728"/>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Shortlist</a:t>
            </a:r>
          </a:p>
        </p:txBody>
      </p:sp>
      <p:sp>
        <p:nvSpPr>
          <p:cNvPr id="20" name="TextBox 19"/>
          <p:cNvSpPr txBox="1"/>
          <p:nvPr/>
        </p:nvSpPr>
        <p:spPr>
          <a:xfrm>
            <a:off x="6446520" y="1828800"/>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코어 불안정 필터
안전권≥6.5Å
Ser152 등 hotspot</a:t>
            </a:r>
          </a:p>
        </p:txBody>
      </p:sp>
      <p:sp>
        <p:nvSpPr>
          <p:cNvPr id="21" name="Rounded Rectangle 20"/>
          <p:cNvSpPr/>
          <p:nvPr/>
        </p:nvSpPr>
        <p:spPr>
          <a:xfrm>
            <a:off x="92354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143000"/>
            <a:ext cx="283464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1252728"/>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3</a:t>
            </a:r>
          </a:p>
        </p:txBody>
      </p:sp>
      <p:sp>
        <p:nvSpPr>
          <p:cNvPr id="24" name="TextBox 23"/>
          <p:cNvSpPr txBox="1"/>
          <p:nvPr/>
        </p:nvSpPr>
        <p:spPr>
          <a:xfrm>
            <a:off x="10972800" y="1252728"/>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규칙 v1</a:t>
            </a:r>
          </a:p>
        </p:txBody>
      </p:sp>
      <p:sp>
        <p:nvSpPr>
          <p:cNvPr id="25" name="TextBox 24"/>
          <p:cNvSpPr txBox="1"/>
          <p:nvPr/>
        </p:nvSpPr>
        <p:spPr>
          <a:xfrm>
            <a:off x="9418320" y="1828800"/>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빈도→amenability
Hard EXCLUDE
TIER1 proxy 점수</a:t>
            </a:r>
          </a:p>
        </p:txBody>
      </p:sp>
      <p:sp>
        <p:nvSpPr>
          <p:cNvPr id="26" name="Rounded Rectangle 25"/>
          <p:cNvSpPr/>
          <p:nvPr/>
        </p:nvSpPr>
        <p:spPr>
          <a:xfrm>
            <a:off x="3200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749039"/>
            <a:ext cx="2834640" cy="5029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858767"/>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4</a:t>
            </a:r>
          </a:p>
        </p:txBody>
      </p:sp>
      <p:sp>
        <p:nvSpPr>
          <p:cNvPr id="29" name="TextBox 28"/>
          <p:cNvSpPr txBox="1"/>
          <p:nvPr/>
        </p:nvSpPr>
        <p:spPr>
          <a:xfrm>
            <a:off x="2057400" y="3858767"/>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기전 심화</a:t>
            </a:r>
          </a:p>
        </p:txBody>
      </p:sp>
      <p:sp>
        <p:nvSpPr>
          <p:cNvPr id="30" name="TextBox 29"/>
          <p:cNvSpPr txBox="1"/>
          <p:nvPr/>
        </p:nvSpPr>
        <p:spPr>
          <a:xfrm>
            <a:off x="502920" y="4434839"/>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Ser152 모듈 전수
H-bond·패킹 순위
환자용 파이프라인</a:t>
            </a:r>
          </a:p>
        </p:txBody>
      </p:sp>
      <p:sp>
        <p:nvSpPr>
          <p:cNvPr id="31" name="Rounded Rectangle 30"/>
          <p:cNvSpPr/>
          <p:nvPr/>
        </p:nvSpPr>
        <p:spPr>
          <a:xfrm>
            <a:off x="32918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3749039"/>
            <a:ext cx="2834640" cy="5029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3858767"/>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5</a:t>
            </a:r>
          </a:p>
        </p:txBody>
      </p:sp>
      <p:sp>
        <p:nvSpPr>
          <p:cNvPr id="34" name="TextBox 33"/>
          <p:cNvSpPr txBox="1"/>
          <p:nvPr/>
        </p:nvSpPr>
        <p:spPr>
          <a:xfrm>
            <a:off x="5029200" y="3858767"/>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AF Server</a:t>
            </a:r>
          </a:p>
        </p:txBody>
      </p:sp>
      <p:sp>
        <p:nvSpPr>
          <p:cNvPr id="35" name="TextBox 34"/>
          <p:cNvSpPr txBox="1"/>
          <p:nvPr/>
        </p:nvSpPr>
        <p:spPr>
          <a:xfrm>
            <a:off x="3474720" y="4434839"/>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WT vs S152I
RMSD≈0.37Å
pLDDT 모듈↓</a:t>
            </a:r>
          </a:p>
        </p:txBody>
      </p:sp>
      <p:sp>
        <p:nvSpPr>
          <p:cNvPr id="36" name="Rounded Rectangle 35"/>
          <p:cNvSpPr/>
          <p:nvPr/>
        </p:nvSpPr>
        <p:spPr>
          <a:xfrm>
            <a:off x="62636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3749039"/>
            <a:ext cx="2834640" cy="5029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3858767"/>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6</a:t>
            </a:r>
          </a:p>
        </p:txBody>
      </p:sp>
      <p:sp>
        <p:nvSpPr>
          <p:cNvPr id="39" name="TextBox 38"/>
          <p:cNvSpPr txBox="1"/>
          <p:nvPr/>
        </p:nvSpPr>
        <p:spPr>
          <a:xfrm>
            <a:off x="8001000" y="3858767"/>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열역학</a:t>
            </a:r>
          </a:p>
        </p:txBody>
      </p:sp>
      <p:sp>
        <p:nvSpPr>
          <p:cNvPr id="40" name="TextBox 39"/>
          <p:cNvSpPr txBox="1"/>
          <p:nvPr/>
        </p:nvSpPr>
        <p:spPr>
          <a:xfrm>
            <a:off x="6446520" y="4434839"/>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EvoEF2 ΔΔG
C422F·C184W
CTSS·neo-pocket</a:t>
            </a:r>
          </a:p>
        </p:txBody>
      </p:sp>
      <p:sp>
        <p:nvSpPr>
          <p:cNvPr id="41" name="Rounded Rectangle 40"/>
          <p:cNvSpPr/>
          <p:nvPr/>
        </p:nvSpPr>
        <p:spPr>
          <a:xfrm>
            <a:off x="92354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35440" y="3749039"/>
            <a:ext cx="2834640" cy="5029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72600" y="3858767"/>
            <a:ext cx="16459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Phase 7</a:t>
            </a:r>
          </a:p>
        </p:txBody>
      </p:sp>
      <p:sp>
        <p:nvSpPr>
          <p:cNvPr id="44" name="TextBox 43"/>
          <p:cNvSpPr txBox="1"/>
          <p:nvPr/>
        </p:nvSpPr>
        <p:spPr>
          <a:xfrm>
            <a:off x="10972800" y="3858767"/>
            <a:ext cx="914400" cy="320040"/>
          </a:xfrm>
          <a:prstGeom prst="rect">
            <a:avLst/>
          </a:prstGeom>
          <a:noFill/>
        </p:spPr>
        <p:txBody>
          <a:bodyPr wrap="square" anchor="t"/>
          <a:lstStyle/>
          <a:p>
            <a:pPr algn="r"/>
            <a:r>
              <a:rPr sz="1200" b="1">
                <a:solidFill>
                  <a:srgbClr val="5EE0C5"/>
                </a:solidFill>
                <a:latin typeface="Apple SD Gothic Neo"/>
                <a:ea typeface="Apple SD Gothic Neo"/>
                <a:cs typeface="Apple SD Gothic Neo"/>
              </a:rPr>
              <a:t>공개층</a:t>
            </a:r>
          </a:p>
        </p:txBody>
      </p:sp>
      <p:sp>
        <p:nvSpPr>
          <p:cNvPr id="45" name="TextBox 44"/>
          <p:cNvSpPr txBox="1"/>
          <p:nvPr/>
        </p:nvSpPr>
        <p:spPr>
          <a:xfrm>
            <a:off x="9418320" y="4434839"/>
            <a:ext cx="2468880" cy="155448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idsx-lab 포털
자문 패키지
claim/non-claim</a:t>
            </a:r>
          </a:p>
        </p:txBody>
      </p:sp>
      <p:sp>
        <p:nvSpPr>
          <p:cNvPr id="46" name="Rectangle 4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02 Timeline</a:t>
            </a:r>
          </a:p>
        </p:txBody>
      </p:sp>
      <p:sp>
        <p:nvSpPr>
          <p:cNvPr id="48" name="TextBox 4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02 · 초기에 피하려고 한 함정 (사고의 선택)</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버린 길이 이 프로젝트의 정체성</a:t>
            </a:r>
          </a:p>
        </p:txBody>
      </p:sp>
      <p:sp>
        <p:nvSpPr>
          <p:cNvPr id="6" name="Rectangle 5"/>
          <p:cNvSpPr/>
          <p:nvPr/>
        </p:nvSpPr>
        <p:spPr>
          <a:xfrm>
            <a:off x="365760" y="1097280"/>
            <a:ext cx="320040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3063240" cy="274320"/>
          </a:xfrm>
          <a:prstGeom prst="rect">
            <a:avLst/>
          </a:prstGeom>
          <a:noFill/>
        </p:spPr>
        <p:txBody>
          <a:bodyPr wrap="square" anchor="t"/>
          <a:lstStyle/>
          <a:p>
            <a:pPr algn="l"/>
            <a:r>
              <a:rPr sz="1200" b="1">
                <a:solidFill>
                  <a:srgbClr val="5EE0C5"/>
                </a:solidFill>
                <a:latin typeface="Apple SD Gothic Neo"/>
                <a:ea typeface="Apple SD Gothic Neo"/>
                <a:cs typeface="Apple SD Gothic Neo"/>
              </a:rPr>
              <a:t>유혹</a:t>
            </a:r>
          </a:p>
        </p:txBody>
      </p:sp>
      <p:sp>
        <p:nvSpPr>
          <p:cNvPr id="8" name="Rectangle 7"/>
          <p:cNvSpPr/>
          <p:nvPr/>
        </p:nvSpPr>
        <p:spPr>
          <a:xfrm>
            <a:off x="3566160" y="1097280"/>
            <a:ext cx="393192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143000"/>
            <a:ext cx="3794760" cy="274320"/>
          </a:xfrm>
          <a:prstGeom prst="rect">
            <a:avLst/>
          </a:prstGeom>
          <a:noFill/>
        </p:spPr>
        <p:txBody>
          <a:bodyPr wrap="square" anchor="t"/>
          <a:lstStyle/>
          <a:p>
            <a:pPr algn="l"/>
            <a:r>
              <a:rPr sz="1200" b="1">
                <a:solidFill>
                  <a:srgbClr val="5EE0C5"/>
                </a:solidFill>
                <a:latin typeface="Apple SD Gothic Neo"/>
                <a:ea typeface="Apple SD Gothic Neo"/>
                <a:cs typeface="Apple SD Gothic Neo"/>
              </a:rPr>
              <a:t>왜 위험한가</a:t>
            </a:r>
          </a:p>
        </p:txBody>
      </p:sp>
      <p:sp>
        <p:nvSpPr>
          <p:cNvPr id="10" name="Rectangle 9"/>
          <p:cNvSpPr/>
          <p:nvPr/>
        </p:nvSpPr>
        <p:spPr>
          <a:xfrm>
            <a:off x="7498079" y="1097280"/>
            <a:ext cx="4114800" cy="3657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19" y="1143000"/>
            <a:ext cx="3977640" cy="274320"/>
          </a:xfrm>
          <a:prstGeom prst="rect">
            <a:avLst/>
          </a:prstGeom>
          <a:noFill/>
        </p:spPr>
        <p:txBody>
          <a:bodyPr wrap="square" anchor="t"/>
          <a:lstStyle/>
          <a:p>
            <a:pPr algn="l"/>
            <a:r>
              <a:rPr sz="1200" b="1">
                <a:solidFill>
                  <a:srgbClr val="5EE0C5"/>
                </a:solidFill>
                <a:latin typeface="Apple SD Gothic Neo"/>
                <a:ea typeface="Apple SD Gothic Neo"/>
                <a:cs typeface="Apple SD Gothic Neo"/>
              </a:rPr>
              <a:t>택한 대안</a:t>
            </a:r>
          </a:p>
        </p:txBody>
      </p:sp>
      <p:sp>
        <p:nvSpPr>
          <p:cNvPr id="12" name="Rectangle 11"/>
          <p:cNvSpPr/>
          <p:nvPr/>
        </p:nvSpPr>
        <p:spPr>
          <a:xfrm>
            <a:off x="365760" y="1508760"/>
            <a:ext cx="32004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645920"/>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AI 설계 플랫폼부터</a:t>
            </a:r>
          </a:p>
        </p:txBody>
      </p:sp>
      <p:sp>
        <p:nvSpPr>
          <p:cNvPr id="14" name="Rectangle 13"/>
          <p:cNvSpPr/>
          <p:nvPr/>
        </p:nvSpPr>
        <p:spPr>
          <a:xfrm>
            <a:off x="3566160" y="1508760"/>
            <a:ext cx="393192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645920"/>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질문 없는 도구 수집</a:t>
            </a:r>
          </a:p>
        </p:txBody>
      </p:sp>
      <p:sp>
        <p:nvSpPr>
          <p:cNvPr id="16" name="Rectangle 15"/>
          <p:cNvSpPr/>
          <p:nvPr/>
        </p:nvSpPr>
        <p:spPr>
          <a:xfrm>
            <a:off x="7498079" y="1508760"/>
            <a:ext cx="41148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19" y="1645920"/>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단일 단백질·단일 질병 고정</a:t>
            </a:r>
          </a:p>
        </p:txBody>
      </p:sp>
      <p:sp>
        <p:nvSpPr>
          <p:cNvPr id="18" name="Rectangle 17"/>
          <p:cNvSpPr/>
          <p:nvPr/>
        </p:nvSpPr>
        <p:spPr>
          <a:xfrm>
            <a:off x="365760" y="2167128"/>
            <a:ext cx="32004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304288"/>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RFdiffusion 먼저</a:t>
            </a:r>
          </a:p>
        </p:txBody>
      </p:sp>
      <p:sp>
        <p:nvSpPr>
          <p:cNvPr id="20" name="Rectangle 19"/>
          <p:cNvSpPr/>
          <p:nvPr/>
        </p:nvSpPr>
        <p:spPr>
          <a:xfrm>
            <a:off x="3566160" y="2167128"/>
            <a:ext cx="393192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2304288"/>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예쁜 복합체 ≠ 생물학</a:t>
            </a:r>
          </a:p>
        </p:txBody>
      </p:sp>
      <p:sp>
        <p:nvSpPr>
          <p:cNvPr id="22" name="Rectangle 21"/>
          <p:cNvSpPr/>
          <p:nvPr/>
        </p:nvSpPr>
        <p:spPr>
          <a:xfrm>
            <a:off x="7498079" y="2167128"/>
            <a:ext cx="41148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19" y="2304288"/>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변이–구조 분류·규칙 선행</a:t>
            </a:r>
          </a:p>
        </p:txBody>
      </p:sp>
      <p:sp>
        <p:nvSpPr>
          <p:cNvPr id="24" name="Rectangle 23"/>
          <p:cNvSpPr/>
          <p:nvPr/>
        </p:nvSpPr>
        <p:spPr>
          <a:xfrm>
            <a:off x="365760" y="2825496"/>
            <a:ext cx="32004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962656"/>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암브록솔 IDS 직적용</a:t>
            </a:r>
          </a:p>
        </p:txBody>
      </p:sp>
      <p:sp>
        <p:nvSpPr>
          <p:cNvPr id="26" name="Rectangle 25"/>
          <p:cNvSpPr/>
          <p:nvPr/>
        </p:nvSpPr>
        <p:spPr>
          <a:xfrm>
            <a:off x="3566160" y="2825496"/>
            <a:ext cx="393192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2962656"/>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표적 효소가 다름</a:t>
            </a:r>
          </a:p>
        </p:txBody>
      </p:sp>
      <p:sp>
        <p:nvSpPr>
          <p:cNvPr id="28" name="Rectangle 27"/>
          <p:cNvSpPr/>
          <p:nvPr/>
        </p:nvSpPr>
        <p:spPr>
          <a:xfrm>
            <a:off x="7498079" y="2825496"/>
            <a:ext cx="41148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19" y="2962656"/>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성공 조건만 이식(레퍼런스)</a:t>
            </a:r>
          </a:p>
        </p:txBody>
      </p:sp>
      <p:sp>
        <p:nvSpPr>
          <p:cNvPr id="30" name="Rectangle 29"/>
          <p:cNvSpPr/>
          <p:nvPr/>
        </p:nvSpPr>
        <p:spPr>
          <a:xfrm>
            <a:off x="365760" y="3483864"/>
            <a:ext cx="32004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21024"/>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병원성 빈도=우선순위</a:t>
            </a:r>
          </a:p>
        </p:txBody>
      </p:sp>
      <p:sp>
        <p:nvSpPr>
          <p:cNvPr id="32" name="Rectangle 31"/>
          <p:cNvSpPr/>
          <p:nvPr/>
        </p:nvSpPr>
        <p:spPr>
          <a:xfrm>
            <a:off x="3566160" y="3483864"/>
            <a:ext cx="393192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0" y="3621024"/>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null·촉매파괴도 빈도↑</a:t>
            </a:r>
          </a:p>
        </p:txBody>
      </p:sp>
      <p:sp>
        <p:nvSpPr>
          <p:cNvPr id="34" name="Rectangle 33"/>
          <p:cNvSpPr/>
          <p:nvPr/>
        </p:nvSpPr>
        <p:spPr>
          <a:xfrm>
            <a:off x="7498079" y="3483864"/>
            <a:ext cx="41148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19" y="3621024"/>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Hard EXCLUDE + 점수</a:t>
            </a:r>
          </a:p>
        </p:txBody>
      </p:sp>
      <p:sp>
        <p:nvSpPr>
          <p:cNvPr id="36" name="Rectangle 35"/>
          <p:cNvSpPr/>
          <p:nvPr/>
        </p:nvSpPr>
        <p:spPr>
          <a:xfrm>
            <a:off x="365760" y="4142232"/>
            <a:ext cx="32004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279392"/>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Ser152에 바인더 부착</a:t>
            </a:r>
          </a:p>
        </p:txBody>
      </p:sp>
      <p:sp>
        <p:nvSpPr>
          <p:cNvPr id="38" name="Rectangle 37"/>
          <p:cNvSpPr/>
          <p:nvPr/>
        </p:nvSpPr>
        <p:spPr>
          <a:xfrm>
            <a:off x="3566160" y="4142232"/>
            <a:ext cx="393192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0" y="4279392"/>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RSA 0% = 결합면 아님</a:t>
            </a:r>
          </a:p>
        </p:txBody>
      </p:sp>
      <p:sp>
        <p:nvSpPr>
          <p:cNvPr id="40" name="Rectangle 39"/>
          <p:cNvSpPr/>
          <p:nvPr/>
        </p:nvSpPr>
        <p:spPr>
          <a:xfrm>
            <a:off x="7498079" y="4142232"/>
            <a:ext cx="41148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19" y="4279392"/>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인접 표면 에피토프 원칙</a:t>
            </a:r>
          </a:p>
        </p:txBody>
      </p:sp>
      <p:sp>
        <p:nvSpPr>
          <p:cNvPr id="42" name="Rectangle 41"/>
          <p:cNvSpPr/>
          <p:nvPr/>
        </p:nvSpPr>
        <p:spPr>
          <a:xfrm>
            <a:off x="365760" y="4800600"/>
            <a:ext cx="32004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937760"/>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AF RMSD로 순위</a:t>
            </a:r>
          </a:p>
        </p:txBody>
      </p:sp>
      <p:sp>
        <p:nvSpPr>
          <p:cNvPr id="44" name="Rectangle 43"/>
          <p:cNvSpPr/>
          <p:nvPr/>
        </p:nvSpPr>
        <p:spPr>
          <a:xfrm>
            <a:off x="3566160" y="4800600"/>
            <a:ext cx="393192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0" y="4937760"/>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MSA 합의 fold 착시</a:t>
            </a:r>
          </a:p>
        </p:txBody>
      </p:sp>
      <p:sp>
        <p:nvSpPr>
          <p:cNvPr id="46" name="Rectangle 45"/>
          <p:cNvSpPr/>
          <p:nvPr/>
        </p:nvSpPr>
        <p:spPr>
          <a:xfrm>
            <a:off x="7498079" y="4800600"/>
            <a:ext cx="4114800" cy="621792"/>
          </a:xfrm>
          <a:prstGeom prst="rect">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89519" y="4937760"/>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ΔΔG·구조 주석·실험 축</a:t>
            </a:r>
          </a:p>
        </p:txBody>
      </p:sp>
      <p:sp>
        <p:nvSpPr>
          <p:cNvPr id="48" name="Rectangle 47"/>
          <p:cNvSpPr/>
          <p:nvPr/>
        </p:nvSpPr>
        <p:spPr>
          <a:xfrm>
            <a:off x="365760" y="5458968"/>
            <a:ext cx="32004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5596128"/>
            <a:ext cx="3063240" cy="4114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열안정=프로젝트 제목</a:t>
            </a:r>
          </a:p>
        </p:txBody>
      </p:sp>
      <p:sp>
        <p:nvSpPr>
          <p:cNvPr id="50" name="Rectangle 49"/>
          <p:cNvSpPr/>
          <p:nvPr/>
        </p:nvSpPr>
        <p:spPr>
          <a:xfrm>
            <a:off x="3566160" y="5458968"/>
            <a:ext cx="393192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0" y="5596128"/>
            <a:ext cx="379476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온도계≠최종 KPI</a:t>
            </a:r>
          </a:p>
        </p:txBody>
      </p:sp>
      <p:sp>
        <p:nvSpPr>
          <p:cNvPr id="52" name="Rectangle 51"/>
          <p:cNvSpPr/>
          <p:nvPr/>
        </p:nvSpPr>
        <p:spPr>
          <a:xfrm>
            <a:off x="7498079" y="5458968"/>
            <a:ext cx="4114800" cy="621792"/>
          </a:xfrm>
          <a:prstGeom prst="rect">
            <a:avLst/>
          </a:prstGeom>
          <a:solidFill>
            <a:srgbClr val="F7F9FB"/>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89519" y="5596128"/>
            <a:ext cx="3977640" cy="41148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competence · ER 통과</a:t>
            </a:r>
          </a:p>
        </p:txBody>
      </p:sp>
      <p:sp>
        <p:nvSpPr>
          <p:cNvPr id="54" name="Rectangle 5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02 Traps</a:t>
            </a:r>
          </a:p>
        </p:txBody>
      </p:sp>
      <p:sp>
        <p:nvSpPr>
          <p:cNvPr id="56" name="TextBox 55"/>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03 · 로직의 뼈대 — 4단 추론</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이 네 문장이 프로젝트 전체를 지탱한다</a:t>
            </a:r>
          </a:p>
        </p:txBody>
      </p:sp>
      <p:sp>
        <p:nvSpPr>
          <p:cNvPr id="6" name="Rounded Rectangle 5"/>
          <p:cNvSpPr/>
          <p:nvPr/>
        </p:nvSpPr>
        <p:spPr>
          <a:xfrm>
            <a:off x="365760" y="1143000"/>
            <a:ext cx="1005840" cy="1051560"/>
          </a:xfrm>
          <a:prstGeom prst="roundRect">
            <a:avLst>
              <a:gd name="adj" fmla="val 6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63040"/>
            <a:ext cx="1005840" cy="411480"/>
          </a:xfrm>
          <a:prstGeom prst="rect">
            <a:avLst/>
          </a:prstGeom>
          <a:noFill/>
        </p:spPr>
        <p:txBody>
          <a:bodyPr wrap="square" anchor="t"/>
          <a:lstStyle/>
          <a:p>
            <a:pPr algn="ctr"/>
            <a:r>
              <a:rPr sz="2200" b="1">
                <a:solidFill>
                  <a:srgbClr val="FFFFFF"/>
                </a:solidFill>
                <a:latin typeface="Apple SD Gothic Neo"/>
                <a:ea typeface="Apple SD Gothic Neo"/>
                <a:cs typeface="Apple SD Gothic Neo"/>
              </a:rPr>
              <a:t>①</a:t>
            </a:r>
          </a:p>
        </p:txBody>
      </p:sp>
      <p:sp>
        <p:nvSpPr>
          <p:cNvPr id="8" name="Rounded Rectangle 7"/>
          <p:cNvSpPr/>
          <p:nvPr/>
        </p:nvSpPr>
        <p:spPr>
          <a:xfrm>
            <a:off x="1554480" y="1143000"/>
            <a:ext cx="10241280" cy="1051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83080" y="1280160"/>
            <a:ext cx="2011680" cy="320040"/>
          </a:xfrm>
          <a:prstGeom prst="rect">
            <a:avLst/>
          </a:prstGeom>
          <a:noFill/>
        </p:spPr>
        <p:txBody>
          <a:bodyPr wrap="square" anchor="t"/>
          <a:lstStyle/>
          <a:p>
            <a:pPr algn="l"/>
            <a:r>
              <a:rPr sz="1600" b="1">
                <a:solidFill>
                  <a:srgbClr val="0D9488"/>
                </a:solidFill>
                <a:latin typeface="Apple SD Gothic Neo"/>
                <a:ea typeface="Apple SD Gothic Neo"/>
                <a:cs typeface="Apple SD Gothic Neo"/>
              </a:rPr>
              <a:t>네트워크</a:t>
            </a:r>
          </a:p>
        </p:txBody>
      </p:sp>
      <p:sp>
        <p:nvSpPr>
          <p:cNvPr id="10" name="TextBox 9"/>
          <p:cNvSpPr txBox="1"/>
          <p:nvPr/>
        </p:nvSpPr>
        <p:spPr>
          <a:xfrm>
            <a:off x="3931920" y="1325880"/>
            <a:ext cx="7589520" cy="7315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효소는 잔기 집합이 아니라
구조 상호작용 네트워크 위에서 기능한다</a:t>
            </a:r>
          </a:p>
        </p:txBody>
      </p:sp>
      <p:sp>
        <p:nvSpPr>
          <p:cNvPr id="11" name="Rounded Rectangle 10"/>
          <p:cNvSpPr/>
          <p:nvPr/>
        </p:nvSpPr>
        <p:spPr>
          <a:xfrm>
            <a:off x="365760" y="2377440"/>
            <a:ext cx="1005840" cy="1051560"/>
          </a:xfrm>
          <a:prstGeom prst="roundRect">
            <a:avLst>
              <a:gd name="adj" fmla="val 6000"/>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697480"/>
            <a:ext cx="1005840" cy="411480"/>
          </a:xfrm>
          <a:prstGeom prst="rect">
            <a:avLst/>
          </a:prstGeom>
          <a:noFill/>
        </p:spPr>
        <p:txBody>
          <a:bodyPr wrap="square" anchor="t"/>
          <a:lstStyle/>
          <a:p>
            <a:pPr algn="ctr"/>
            <a:r>
              <a:rPr sz="2200" b="1">
                <a:solidFill>
                  <a:srgbClr val="FFFFFF"/>
                </a:solidFill>
                <a:latin typeface="Apple SD Gothic Neo"/>
                <a:ea typeface="Apple SD Gothic Neo"/>
                <a:cs typeface="Apple SD Gothic Neo"/>
              </a:rPr>
              <a:t>②</a:t>
            </a:r>
          </a:p>
        </p:txBody>
      </p:sp>
      <p:sp>
        <p:nvSpPr>
          <p:cNvPr id="13" name="Rounded Rectangle 12"/>
          <p:cNvSpPr/>
          <p:nvPr/>
        </p:nvSpPr>
        <p:spPr>
          <a:xfrm>
            <a:off x="1554480" y="2377440"/>
            <a:ext cx="10241280" cy="1051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2514600"/>
            <a:ext cx="2011680" cy="320040"/>
          </a:xfrm>
          <a:prstGeom prst="rect">
            <a:avLst/>
          </a:prstGeom>
          <a:noFill/>
        </p:spPr>
        <p:txBody>
          <a:bodyPr wrap="square" anchor="t"/>
          <a:lstStyle/>
          <a:p>
            <a:pPr algn="l"/>
            <a:r>
              <a:rPr sz="1600" b="1">
                <a:solidFill>
                  <a:srgbClr val="6B4C9A"/>
                </a:solidFill>
                <a:latin typeface="Apple SD Gothic Neo"/>
                <a:ea typeface="Apple SD Gothic Neo"/>
                <a:cs typeface="Apple SD Gothic Neo"/>
              </a:rPr>
              <a:t>결함 모드</a:t>
            </a:r>
          </a:p>
        </p:txBody>
      </p:sp>
      <p:sp>
        <p:nvSpPr>
          <p:cNvPr id="15" name="TextBox 14"/>
          <p:cNvSpPr txBox="1"/>
          <p:nvPr/>
        </p:nvSpPr>
        <p:spPr>
          <a:xfrm>
            <a:off x="3931920" y="2560320"/>
            <a:ext cx="7589520" cy="7315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일부 미스센스는 활성부위를 부수기보다
코어 패킹·H-bond 네트워크를 흔든다</a:t>
            </a:r>
          </a:p>
        </p:txBody>
      </p:sp>
      <p:sp>
        <p:nvSpPr>
          <p:cNvPr id="16" name="Rounded Rectangle 15"/>
          <p:cNvSpPr/>
          <p:nvPr/>
        </p:nvSpPr>
        <p:spPr>
          <a:xfrm>
            <a:off x="365760" y="3611880"/>
            <a:ext cx="1005840" cy="1051560"/>
          </a:xfrm>
          <a:prstGeom prst="roundRect">
            <a:avLst>
              <a:gd name="adj" fmla="val 6000"/>
            </a:avLst>
          </a:prstGeom>
          <a:solidFill>
            <a:srgbClr val="E89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931920"/>
            <a:ext cx="1005840" cy="411480"/>
          </a:xfrm>
          <a:prstGeom prst="rect">
            <a:avLst/>
          </a:prstGeom>
          <a:noFill/>
        </p:spPr>
        <p:txBody>
          <a:bodyPr wrap="square" anchor="t"/>
          <a:lstStyle/>
          <a:p>
            <a:pPr algn="ctr"/>
            <a:r>
              <a:rPr sz="2200" b="1">
                <a:solidFill>
                  <a:srgbClr val="FFFFFF"/>
                </a:solidFill>
                <a:latin typeface="Apple SD Gothic Neo"/>
                <a:ea typeface="Apple SD Gothic Neo"/>
                <a:cs typeface="Apple SD Gothic Neo"/>
              </a:rPr>
              <a:t>③</a:t>
            </a:r>
          </a:p>
        </p:txBody>
      </p:sp>
      <p:sp>
        <p:nvSpPr>
          <p:cNvPr id="18" name="Rounded Rectangle 17"/>
          <p:cNvSpPr/>
          <p:nvPr/>
        </p:nvSpPr>
        <p:spPr>
          <a:xfrm>
            <a:off x="1554480" y="3611880"/>
            <a:ext cx="10241280" cy="1051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83080" y="3749040"/>
            <a:ext cx="2011680" cy="320040"/>
          </a:xfrm>
          <a:prstGeom prst="rect">
            <a:avLst/>
          </a:prstGeom>
          <a:noFill/>
        </p:spPr>
        <p:txBody>
          <a:bodyPr wrap="square" anchor="t"/>
          <a:lstStyle/>
          <a:p>
            <a:pPr algn="l"/>
            <a:r>
              <a:rPr sz="1600" b="1">
                <a:solidFill>
                  <a:srgbClr val="E89B0C"/>
                </a:solidFill>
                <a:latin typeface="Apple SD Gothic Neo"/>
                <a:ea typeface="Apple SD Gothic Neo"/>
                <a:cs typeface="Apple SD Gothic Neo"/>
              </a:rPr>
              <a:t>세포 경로</a:t>
            </a:r>
          </a:p>
        </p:txBody>
      </p:sp>
      <p:sp>
        <p:nvSpPr>
          <p:cNvPr id="20" name="TextBox 19"/>
          <p:cNvSpPr txBox="1"/>
          <p:nvPr/>
        </p:nvSpPr>
        <p:spPr>
          <a:xfrm>
            <a:off x="3931920" y="3794760"/>
            <a:ext cx="7589520" cy="7315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접힘·ERQC·배달이 깨지면
측정 활성은 분자 수 손실만으로도 급감</a:t>
            </a:r>
          </a:p>
        </p:txBody>
      </p:sp>
      <p:sp>
        <p:nvSpPr>
          <p:cNvPr id="21" name="Rounded Rectangle 20"/>
          <p:cNvSpPr/>
          <p:nvPr/>
        </p:nvSpPr>
        <p:spPr>
          <a:xfrm>
            <a:off x="365760" y="4846320"/>
            <a:ext cx="1005840" cy="10515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5166360"/>
            <a:ext cx="1005840" cy="411480"/>
          </a:xfrm>
          <a:prstGeom prst="rect">
            <a:avLst/>
          </a:prstGeom>
          <a:noFill/>
        </p:spPr>
        <p:txBody>
          <a:bodyPr wrap="square" anchor="t"/>
          <a:lstStyle/>
          <a:p>
            <a:pPr algn="ctr"/>
            <a:r>
              <a:rPr sz="2200" b="1">
                <a:solidFill>
                  <a:srgbClr val="FFFFFF"/>
                </a:solidFill>
                <a:latin typeface="Apple SD Gothic Neo"/>
                <a:ea typeface="Apple SD Gothic Neo"/>
                <a:cs typeface="Apple SD Gothic Neo"/>
              </a:rPr>
              <a:t>④</a:t>
            </a:r>
          </a:p>
        </p:txBody>
      </p:sp>
      <p:sp>
        <p:nvSpPr>
          <p:cNvPr id="23" name="Rounded Rectangle 22"/>
          <p:cNvSpPr/>
          <p:nvPr/>
        </p:nvSpPr>
        <p:spPr>
          <a:xfrm>
            <a:off x="1554480" y="4846320"/>
            <a:ext cx="10241280" cy="10515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4983480"/>
            <a:ext cx="2011680" cy="320040"/>
          </a:xfrm>
          <a:prstGeom prst="rect">
            <a:avLst/>
          </a:prstGeom>
          <a:noFill/>
        </p:spPr>
        <p:txBody>
          <a:bodyPr wrap="square" anchor="t"/>
          <a:lstStyle/>
          <a:p>
            <a:pPr algn="l"/>
            <a:r>
              <a:rPr sz="1600" b="1">
                <a:solidFill>
                  <a:srgbClr val="E85D4C"/>
                </a:solidFill>
                <a:latin typeface="Apple SD Gothic Neo"/>
                <a:ea typeface="Apple SD Gothic Neo"/>
                <a:cs typeface="Apple SD Gothic Neo"/>
              </a:rPr>
              <a:t>개입 논리</a:t>
            </a:r>
          </a:p>
        </p:txBody>
      </p:sp>
      <p:sp>
        <p:nvSpPr>
          <p:cNvPr id="25" name="TextBox 24"/>
          <p:cNvSpPr txBox="1"/>
          <p:nvPr/>
        </p:nvSpPr>
        <p:spPr>
          <a:xfrm>
            <a:off x="3931920" y="5029200"/>
            <a:ext cx="7589520" cy="7315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고장 노드에 직접 붙이지 말고
연결된 표면을 안정화해 competence를 본다</a:t>
            </a:r>
          </a:p>
        </p:txBody>
      </p:sp>
      <p:sp>
        <p:nvSpPr>
          <p:cNvPr id="26" name="Rectangle 2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03 Logic</a:t>
            </a:r>
          </a:p>
        </p:txBody>
      </p:sp>
      <p:sp>
        <p:nvSpPr>
          <p:cNvPr id="28" name="TextBox 2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03 · 용어 규율 — 여기서 헷갈리면 전체가 무너짐</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Hotspot · Module · Epitope · Amenability · Competence</a:t>
            </a:r>
          </a:p>
        </p:txBody>
      </p:sp>
      <p:sp>
        <p:nvSpPr>
          <p:cNvPr id="6" name="Rectangle 5"/>
          <p:cNvSpPr/>
          <p:nvPr/>
        </p:nvSpPr>
        <p:spPr>
          <a:xfrm>
            <a:off x="320040" y="109728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29844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Hotspot / TIER1</a:t>
            </a:r>
          </a:p>
        </p:txBody>
      </p:sp>
      <p:sp>
        <p:nvSpPr>
          <p:cNvPr id="8" name="Rounded Rectangle 7"/>
          <p:cNvSpPr/>
          <p:nvPr/>
        </p:nvSpPr>
        <p:spPr>
          <a:xfrm>
            <a:off x="2971800" y="109728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17043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10" name="TextBox 9"/>
          <p:cNvSpPr txBox="1"/>
          <p:nvPr/>
        </p:nvSpPr>
        <p:spPr>
          <a:xfrm>
            <a:off x="3108960" y="141732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구조적으로 아프고 구제 논리를 시도할 가치가 있는 변이 노드</a:t>
            </a:r>
          </a:p>
        </p:txBody>
      </p:sp>
      <p:sp>
        <p:nvSpPr>
          <p:cNvPr id="11" name="Rounded Rectangle 10"/>
          <p:cNvSpPr/>
          <p:nvPr/>
        </p:nvSpPr>
        <p:spPr>
          <a:xfrm>
            <a:off x="7680960" y="109728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117043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13" name="TextBox 12"/>
          <p:cNvSpPr txBox="1"/>
          <p:nvPr/>
        </p:nvSpPr>
        <p:spPr>
          <a:xfrm>
            <a:off x="7818120" y="141732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결합 자리 · ‘약 된다’ 증명</a:t>
            </a:r>
          </a:p>
        </p:txBody>
      </p:sp>
      <p:sp>
        <p:nvSpPr>
          <p:cNvPr id="14" name="Rectangle 13"/>
          <p:cNvSpPr/>
          <p:nvPr/>
        </p:nvSpPr>
        <p:spPr>
          <a:xfrm>
            <a:off x="320040" y="192024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12140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Structural module</a:t>
            </a:r>
          </a:p>
        </p:txBody>
      </p:sp>
      <p:sp>
        <p:nvSpPr>
          <p:cNvPr id="16" name="Rounded Rectangle 15"/>
          <p:cNvSpPr/>
          <p:nvPr/>
        </p:nvSpPr>
        <p:spPr>
          <a:xfrm>
            <a:off x="2971800" y="192024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199339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18" name="TextBox 17"/>
          <p:cNvSpPr txBox="1"/>
          <p:nvPr/>
        </p:nvSpPr>
        <p:spPr>
          <a:xfrm>
            <a:off x="3108960" y="224028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그 노드 + H-bond·패킹으로 묶인 이웃 집합</a:t>
            </a:r>
          </a:p>
        </p:txBody>
      </p:sp>
      <p:sp>
        <p:nvSpPr>
          <p:cNvPr id="19" name="Rounded Rectangle 18"/>
          <p:cNvSpPr/>
          <p:nvPr/>
        </p:nvSpPr>
        <p:spPr>
          <a:xfrm>
            <a:off x="7680960" y="192024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199339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21" name="TextBox 20"/>
          <p:cNvSpPr txBox="1"/>
          <p:nvPr/>
        </p:nvSpPr>
        <p:spPr>
          <a:xfrm>
            <a:off x="7818120" y="224028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단일 아미노산 숭배</a:t>
            </a:r>
          </a:p>
        </p:txBody>
      </p:sp>
      <p:sp>
        <p:nvSpPr>
          <p:cNvPr id="22" name="Rectangle 21"/>
          <p:cNvSpPr/>
          <p:nvPr/>
        </p:nvSpPr>
        <p:spPr>
          <a:xfrm>
            <a:off x="320040" y="274320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94436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Epitope / 표면 패치</a:t>
            </a:r>
          </a:p>
        </p:txBody>
      </p:sp>
      <p:sp>
        <p:nvSpPr>
          <p:cNvPr id="24" name="Rounded Rectangle 23"/>
          <p:cNvSpPr/>
          <p:nvPr/>
        </p:nvSpPr>
        <p:spPr>
          <a:xfrm>
            <a:off x="2971800" y="274320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0" y="281635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26" name="TextBox 25"/>
          <p:cNvSpPr txBox="1"/>
          <p:nvPr/>
        </p:nvSpPr>
        <p:spPr>
          <a:xfrm>
            <a:off x="3108960" y="306324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바인더가 닿을 후보 표면(모듈의 손잡이)</a:t>
            </a:r>
          </a:p>
        </p:txBody>
      </p:sp>
      <p:sp>
        <p:nvSpPr>
          <p:cNvPr id="27" name="Rounded Rectangle 26"/>
          <p:cNvSpPr/>
          <p:nvPr/>
        </p:nvSpPr>
        <p:spPr>
          <a:xfrm>
            <a:off x="7680960" y="274320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18120" y="281635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29" name="TextBox 28"/>
          <p:cNvSpPr txBox="1"/>
          <p:nvPr/>
        </p:nvSpPr>
        <p:spPr>
          <a:xfrm>
            <a:off x="7818120" y="306324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변이 잔기 자체 · 임상 항원 필수 의미</a:t>
            </a:r>
          </a:p>
        </p:txBody>
      </p:sp>
      <p:sp>
        <p:nvSpPr>
          <p:cNvPr id="30" name="Rectangle 29"/>
          <p:cNvSpPr/>
          <p:nvPr/>
        </p:nvSpPr>
        <p:spPr>
          <a:xfrm>
            <a:off x="320040" y="356616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76732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Amenability proxy</a:t>
            </a:r>
          </a:p>
        </p:txBody>
      </p:sp>
      <p:sp>
        <p:nvSpPr>
          <p:cNvPr id="32" name="Rounded Rectangle 31"/>
          <p:cNvSpPr/>
          <p:nvPr/>
        </p:nvSpPr>
        <p:spPr>
          <a:xfrm>
            <a:off x="2971800" y="356616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0" y="363931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34" name="TextBox 33"/>
          <p:cNvSpPr txBox="1"/>
          <p:nvPr/>
        </p:nvSpPr>
        <p:spPr>
          <a:xfrm>
            <a:off x="3108960" y="388620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구조 규칙 점수 (사전 등록 필터)</a:t>
            </a:r>
          </a:p>
        </p:txBody>
      </p:sp>
      <p:sp>
        <p:nvSpPr>
          <p:cNvPr id="35" name="Rounded Rectangle 34"/>
          <p:cNvSpPr/>
          <p:nvPr/>
        </p:nvSpPr>
        <p:spPr>
          <a:xfrm>
            <a:off x="7680960" y="356616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8120" y="363931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37" name="TextBox 36"/>
          <p:cNvSpPr txBox="1"/>
          <p:nvPr/>
        </p:nvSpPr>
        <p:spPr>
          <a:xfrm>
            <a:off x="7818120" y="388620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잔존 활성 · 임상 반응</a:t>
            </a:r>
          </a:p>
        </p:txBody>
      </p:sp>
      <p:sp>
        <p:nvSpPr>
          <p:cNvPr id="38" name="Rectangle 37"/>
          <p:cNvSpPr/>
          <p:nvPr/>
        </p:nvSpPr>
        <p:spPr>
          <a:xfrm>
            <a:off x="320040" y="438912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459028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Catalytic competence</a:t>
            </a:r>
          </a:p>
        </p:txBody>
      </p:sp>
      <p:sp>
        <p:nvSpPr>
          <p:cNvPr id="40" name="Rounded Rectangle 39"/>
          <p:cNvSpPr/>
          <p:nvPr/>
        </p:nvSpPr>
        <p:spPr>
          <a:xfrm>
            <a:off x="2971800" y="438912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08960" y="446227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42" name="TextBox 41"/>
          <p:cNvSpPr txBox="1"/>
          <p:nvPr/>
        </p:nvSpPr>
        <p:spPr>
          <a:xfrm>
            <a:off x="3108960" y="470916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기능 구조 회복 후 실제 촉매 능력</a:t>
            </a:r>
          </a:p>
        </p:txBody>
      </p:sp>
      <p:sp>
        <p:nvSpPr>
          <p:cNvPr id="43" name="Rounded Rectangle 42"/>
          <p:cNvSpPr/>
          <p:nvPr/>
        </p:nvSpPr>
        <p:spPr>
          <a:xfrm>
            <a:off x="7680960" y="438912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18120" y="446227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45" name="TextBox 44"/>
          <p:cNvSpPr txBox="1"/>
          <p:nvPr/>
        </p:nvSpPr>
        <p:spPr>
          <a:xfrm>
            <a:off x="7818120" y="470916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결합 occupancy · 예쁜 docking</a:t>
            </a:r>
          </a:p>
        </p:txBody>
      </p:sp>
      <p:sp>
        <p:nvSpPr>
          <p:cNvPr id="46" name="Rectangle 45"/>
          <p:cNvSpPr/>
          <p:nvPr/>
        </p:nvSpPr>
        <p:spPr>
          <a:xfrm>
            <a:off x="320040" y="5212080"/>
            <a:ext cx="2560320" cy="7315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5413248"/>
            <a:ext cx="2377440" cy="41148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열적 안정성 (Tm)</a:t>
            </a:r>
          </a:p>
        </p:txBody>
      </p:sp>
      <p:sp>
        <p:nvSpPr>
          <p:cNvPr id="48" name="Rounded Rectangle 47"/>
          <p:cNvSpPr/>
          <p:nvPr/>
        </p:nvSpPr>
        <p:spPr>
          <a:xfrm>
            <a:off x="2971800" y="5212080"/>
            <a:ext cx="4572000" cy="73152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08960" y="5285232"/>
            <a:ext cx="4297680" cy="228600"/>
          </a:xfrm>
          <a:prstGeom prst="rect">
            <a:avLst/>
          </a:prstGeom>
          <a:noFill/>
        </p:spPr>
        <p:txBody>
          <a:bodyPr wrap="square" anchor="t"/>
          <a:lstStyle/>
          <a:p>
            <a:pPr algn="l"/>
            <a:r>
              <a:rPr sz="1000" b="1">
                <a:solidFill>
                  <a:srgbClr val="1E8E5A"/>
                </a:solidFill>
                <a:latin typeface="Apple SD Gothic Neo"/>
                <a:ea typeface="Apple SD Gothic Neo"/>
                <a:cs typeface="Apple SD Gothic Neo"/>
              </a:rPr>
              <a:t>의미 (IDSX)</a:t>
            </a:r>
          </a:p>
        </p:txBody>
      </p:sp>
      <p:sp>
        <p:nvSpPr>
          <p:cNvPr id="50" name="TextBox 49"/>
          <p:cNvSpPr txBox="1"/>
          <p:nvPr/>
        </p:nvSpPr>
        <p:spPr>
          <a:xfrm>
            <a:off x="3108960" y="5532120"/>
            <a:ext cx="42976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네트워크 유지의 대리 지표(온도계)</a:t>
            </a:r>
          </a:p>
        </p:txBody>
      </p:sp>
      <p:sp>
        <p:nvSpPr>
          <p:cNvPr id="51" name="Rounded Rectangle 50"/>
          <p:cNvSpPr/>
          <p:nvPr/>
        </p:nvSpPr>
        <p:spPr>
          <a:xfrm>
            <a:off x="7680960" y="5212080"/>
            <a:ext cx="4114800" cy="73152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18120" y="5285232"/>
            <a:ext cx="3840480" cy="228600"/>
          </a:xfrm>
          <a:prstGeom prst="rect">
            <a:avLst/>
          </a:prstGeom>
          <a:noFill/>
        </p:spPr>
        <p:txBody>
          <a:bodyPr wrap="square" anchor="t"/>
          <a:lstStyle/>
          <a:p>
            <a:pPr algn="l"/>
            <a:r>
              <a:rPr sz="1000" b="1">
                <a:solidFill>
                  <a:srgbClr val="E85D4C"/>
                </a:solidFill>
                <a:latin typeface="Apple SD Gothic Neo"/>
                <a:ea typeface="Apple SD Gothic Neo"/>
                <a:cs typeface="Apple SD Gothic Neo"/>
              </a:rPr>
              <a:t>아닌 것</a:t>
            </a:r>
          </a:p>
        </p:txBody>
      </p:sp>
      <p:sp>
        <p:nvSpPr>
          <p:cNvPr id="53" name="TextBox 52"/>
          <p:cNvSpPr txBox="1"/>
          <p:nvPr/>
        </p:nvSpPr>
        <p:spPr>
          <a:xfrm>
            <a:off x="7818120" y="553212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프로젝트 제목 · 최종 목표</a:t>
            </a:r>
          </a:p>
        </p:txBody>
      </p:sp>
      <p:sp>
        <p:nvSpPr>
          <p:cNvPr id="54" name="Rectangle 5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03 Terms</a:t>
            </a:r>
          </a:p>
        </p:txBody>
      </p:sp>
      <p:sp>
        <p:nvSpPr>
          <p:cNvPr id="56" name="TextBox 55"/>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03 · 목표 계층도 — 무엇이 목표이고 무엇이 온도계인가</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암브록솔 논의에서 확정한 구분</a:t>
            </a:r>
          </a:p>
        </p:txBody>
      </p:sp>
      <p:sp>
        <p:nvSpPr>
          <p:cNvPr id="6" name="Rounded Rectangle 5"/>
          <p:cNvSpPr/>
          <p:nvPr/>
        </p:nvSpPr>
        <p:spPr>
          <a:xfrm>
            <a:off x="1371600" y="457200"/>
            <a:ext cx="9418320" cy="114300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594360"/>
            <a:ext cx="8961120" cy="320040"/>
          </a:xfrm>
          <a:prstGeom prst="rect">
            <a:avLst/>
          </a:prstGeom>
          <a:noFill/>
        </p:spPr>
        <p:txBody>
          <a:bodyPr wrap="square" anchor="t"/>
          <a:lstStyle/>
          <a:p>
            <a:pPr algn="l"/>
            <a:r>
              <a:rPr sz="1500" b="1">
                <a:solidFill>
                  <a:srgbClr val="E85D4C"/>
                </a:solidFill>
                <a:latin typeface="Apple SD Gothic Neo"/>
                <a:ea typeface="Apple SD Gothic Neo"/>
                <a:cs typeface="Apple SD Gothic Neo"/>
              </a:rPr>
              <a:t>최종 목표 (Biology)</a:t>
            </a:r>
          </a:p>
        </p:txBody>
      </p:sp>
      <p:sp>
        <p:nvSpPr>
          <p:cNvPr id="8" name="TextBox 7"/>
          <p:cNvSpPr txBox="1"/>
          <p:nvPr/>
        </p:nvSpPr>
        <p:spPr>
          <a:xfrm>
            <a:off x="1600200" y="960120"/>
            <a:ext cx="8961120" cy="5029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리소좀에서 작동하는 IDS 분자 수 · 활성
= catalytic competence</a:t>
            </a:r>
          </a:p>
        </p:txBody>
      </p:sp>
      <p:sp>
        <p:nvSpPr>
          <p:cNvPr id="9" name="TextBox 8"/>
          <p:cNvSpPr txBox="1"/>
          <p:nvPr/>
        </p:nvSpPr>
        <p:spPr>
          <a:xfrm>
            <a:off x="5760720" y="1508760"/>
            <a:ext cx="457200" cy="274320"/>
          </a:xfrm>
          <a:prstGeom prst="rect">
            <a:avLst/>
          </a:prstGeom>
          <a:noFill/>
        </p:spPr>
        <p:txBody>
          <a:bodyPr wrap="square" anchor="t"/>
          <a:lstStyle/>
          <a:p>
            <a:pPr algn="ctr"/>
            <a:r>
              <a:rPr sz="1600" b="1">
                <a:solidFill>
                  <a:srgbClr val="0B1F33"/>
                </a:solidFill>
                <a:latin typeface="Apple SD Gothic Neo"/>
                <a:ea typeface="Apple SD Gothic Neo"/>
                <a:cs typeface="Apple SD Gothic Neo"/>
              </a:rPr>
              <a:t>↑</a:t>
            </a:r>
          </a:p>
        </p:txBody>
      </p:sp>
      <p:sp>
        <p:nvSpPr>
          <p:cNvPr id="10" name="Rounded Rectangle 9"/>
          <p:cNvSpPr/>
          <p:nvPr/>
        </p:nvSpPr>
        <p:spPr>
          <a:xfrm>
            <a:off x="1371600" y="1828800"/>
            <a:ext cx="9418320" cy="1143000"/>
          </a:xfrm>
          <a:prstGeom prst="roundRect">
            <a:avLst>
              <a:gd name="adj" fmla="val 6000"/>
            </a:avLst>
          </a:prstGeom>
          <a:solidFill>
            <a:srgbClr val="FEF3D6"/>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1965960"/>
            <a:ext cx="8961120" cy="320040"/>
          </a:xfrm>
          <a:prstGeom prst="rect">
            <a:avLst/>
          </a:prstGeom>
          <a:noFill/>
        </p:spPr>
        <p:txBody>
          <a:bodyPr wrap="square" anchor="t"/>
          <a:lstStyle/>
          <a:p>
            <a:pPr algn="l"/>
            <a:r>
              <a:rPr sz="1500" b="1">
                <a:solidFill>
                  <a:srgbClr val="E89B0C"/>
                </a:solidFill>
                <a:latin typeface="Apple SD Gothic Neo"/>
                <a:ea typeface="Apple SD Gothic Neo"/>
                <a:cs typeface="Apple SD Gothic Neo"/>
              </a:rPr>
              <a:t>세포 중간 목표</a:t>
            </a:r>
          </a:p>
        </p:txBody>
      </p:sp>
      <p:sp>
        <p:nvSpPr>
          <p:cNvPr id="12" name="TextBox 11"/>
          <p:cNvSpPr txBox="1"/>
          <p:nvPr/>
        </p:nvSpPr>
        <p:spPr>
          <a:xfrm>
            <a:off x="1600200" y="2331720"/>
            <a:ext cx="8961120" cy="5029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ERQC 통과 · 골지 성숙 · 리소좀 배달 ↑  /  ERAD ↓</a:t>
            </a:r>
          </a:p>
        </p:txBody>
      </p:sp>
      <p:sp>
        <p:nvSpPr>
          <p:cNvPr id="13" name="TextBox 12"/>
          <p:cNvSpPr txBox="1"/>
          <p:nvPr/>
        </p:nvSpPr>
        <p:spPr>
          <a:xfrm>
            <a:off x="5760720" y="2880360"/>
            <a:ext cx="457200" cy="274320"/>
          </a:xfrm>
          <a:prstGeom prst="rect">
            <a:avLst/>
          </a:prstGeom>
          <a:noFill/>
        </p:spPr>
        <p:txBody>
          <a:bodyPr wrap="square" anchor="t"/>
          <a:lstStyle/>
          <a:p>
            <a:pPr algn="ctr"/>
            <a:r>
              <a:rPr sz="1600" b="1">
                <a:solidFill>
                  <a:srgbClr val="0B1F33"/>
                </a:solidFill>
                <a:latin typeface="Apple SD Gothic Neo"/>
                <a:ea typeface="Apple SD Gothic Neo"/>
                <a:cs typeface="Apple SD Gothic Neo"/>
              </a:rPr>
              <a:t>↑</a:t>
            </a:r>
          </a:p>
        </p:txBody>
      </p:sp>
      <p:sp>
        <p:nvSpPr>
          <p:cNvPr id="14" name="Rounded Rectangle 13"/>
          <p:cNvSpPr/>
          <p:nvPr/>
        </p:nvSpPr>
        <p:spPr>
          <a:xfrm>
            <a:off x="1371600" y="3200400"/>
            <a:ext cx="9418320" cy="1143000"/>
          </a:xfrm>
          <a:prstGeom prst="roundRect">
            <a:avLst>
              <a:gd name="adj" fmla="val 6000"/>
            </a:avLst>
          </a:prstGeom>
          <a:solidFill>
            <a:srgbClr val="D4F0E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3337560"/>
            <a:ext cx="8961120" cy="320040"/>
          </a:xfrm>
          <a:prstGeom prst="rect">
            <a:avLst/>
          </a:prstGeom>
          <a:noFill/>
        </p:spPr>
        <p:txBody>
          <a:bodyPr wrap="square" anchor="t"/>
          <a:lstStyle/>
          <a:p>
            <a:pPr algn="l"/>
            <a:r>
              <a:rPr sz="1500" b="1">
                <a:solidFill>
                  <a:srgbClr val="0D9488"/>
                </a:solidFill>
                <a:latin typeface="Apple SD Gothic Neo"/>
                <a:ea typeface="Apple SD Gothic Neo"/>
                <a:cs typeface="Apple SD Gothic Neo"/>
              </a:rPr>
              <a:t>분자 중간 목표</a:t>
            </a:r>
          </a:p>
        </p:txBody>
      </p:sp>
      <p:sp>
        <p:nvSpPr>
          <p:cNvPr id="16" name="TextBox 15"/>
          <p:cNvSpPr txBox="1"/>
          <p:nvPr/>
        </p:nvSpPr>
        <p:spPr>
          <a:xfrm>
            <a:off x="1600200" y="3703320"/>
            <a:ext cx="8961120" cy="5029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구조 모듈·interaction network가 WT-like 접힘을 더 잘 유지</a:t>
            </a:r>
          </a:p>
        </p:txBody>
      </p:sp>
      <p:sp>
        <p:nvSpPr>
          <p:cNvPr id="17" name="TextBox 16"/>
          <p:cNvSpPr txBox="1"/>
          <p:nvPr/>
        </p:nvSpPr>
        <p:spPr>
          <a:xfrm>
            <a:off x="5760720" y="4251960"/>
            <a:ext cx="457200" cy="274320"/>
          </a:xfrm>
          <a:prstGeom prst="rect">
            <a:avLst/>
          </a:prstGeom>
          <a:noFill/>
        </p:spPr>
        <p:txBody>
          <a:bodyPr wrap="square" anchor="t"/>
          <a:lstStyle/>
          <a:p>
            <a:pPr algn="ctr"/>
            <a:r>
              <a:rPr sz="1600" b="1">
                <a:solidFill>
                  <a:srgbClr val="0B1F33"/>
                </a:solidFill>
                <a:latin typeface="Apple SD Gothic Neo"/>
                <a:ea typeface="Apple SD Gothic Neo"/>
                <a:cs typeface="Apple SD Gothic Neo"/>
              </a:rPr>
              <a:t>↑</a:t>
            </a:r>
          </a:p>
        </p:txBody>
      </p:sp>
      <p:sp>
        <p:nvSpPr>
          <p:cNvPr id="18" name="Rounded Rectangle 17"/>
          <p:cNvSpPr/>
          <p:nvPr/>
        </p:nvSpPr>
        <p:spPr>
          <a:xfrm>
            <a:off x="1371600" y="4572000"/>
            <a:ext cx="9418320" cy="1143000"/>
          </a:xfrm>
          <a:prstGeom prst="roundRect">
            <a:avLst>
              <a:gd name="adj" fmla="val 6000"/>
            </a:avLst>
          </a:prstGeom>
          <a:solidFill>
            <a:srgbClr val="EDE6F5"/>
          </a:solidFill>
          <a:ln w="12700">
            <a:solidFill>
              <a:srgbClr val="6B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4709160"/>
            <a:ext cx="8961120" cy="320040"/>
          </a:xfrm>
          <a:prstGeom prst="rect">
            <a:avLst/>
          </a:prstGeom>
          <a:noFill/>
        </p:spPr>
        <p:txBody>
          <a:bodyPr wrap="square" anchor="t"/>
          <a:lstStyle/>
          <a:p>
            <a:pPr algn="l"/>
            <a:r>
              <a:rPr sz="1500" b="1">
                <a:solidFill>
                  <a:srgbClr val="6B4C9A"/>
                </a:solidFill>
                <a:latin typeface="Apple SD Gothic Neo"/>
                <a:ea typeface="Apple SD Gothic Neo"/>
                <a:cs typeface="Apple SD Gothic Neo"/>
              </a:rPr>
              <a:t>실험실 대리 지표 예</a:t>
            </a:r>
          </a:p>
        </p:txBody>
      </p:sp>
      <p:sp>
        <p:nvSpPr>
          <p:cNvPr id="20" name="TextBox 19"/>
          <p:cNvSpPr txBox="1"/>
          <p:nvPr/>
        </p:nvSpPr>
        <p:spPr>
          <a:xfrm>
            <a:off x="1600200" y="5074920"/>
            <a:ext cx="8961120" cy="50292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Tm · ΔΔG · 프로테아제 민감도 · 성숙 밴드 · KD · 국재</a:t>
            </a:r>
          </a:p>
        </p:txBody>
      </p:sp>
      <p:sp>
        <p:nvSpPr>
          <p:cNvPr id="21" name="Rectangle 20"/>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03 Hierarchy</a:t>
            </a:r>
          </a:p>
        </p:txBody>
      </p:sp>
      <p:sp>
        <p:nvSpPr>
          <p:cNvPr id="23" name="TextBox 22"/>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현재까지 구축된 산출물 지도</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파일은 흩어져 있으나 논리는 한 줄기</a:t>
            </a:r>
          </a:p>
        </p:txBody>
      </p:sp>
      <p:sp>
        <p:nvSpPr>
          <p:cNvPr id="6" name="Rounded Rectangle 5"/>
          <p:cNvSpPr/>
          <p:nvPr/>
        </p:nvSpPr>
        <p:spPr>
          <a:xfrm>
            <a:off x="3200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변이–구조 DB</a:t>
            </a:r>
          </a:p>
        </p:txBody>
      </p:sp>
      <p:sp>
        <p:nvSpPr>
          <p:cNvPr id="9" name="TextBox 8"/>
          <p:cNvSpPr txBox="1"/>
          <p:nvPr/>
        </p:nvSpPr>
        <p:spPr>
          <a:xfrm>
            <a:off x="457200" y="1783080"/>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IDS_P22304_Mutation_
Structural_Database.xlsx</a:t>
            </a:r>
          </a:p>
        </p:txBody>
      </p:sp>
      <p:sp>
        <p:nvSpPr>
          <p:cNvPr id="10" name="TextBox 9"/>
          <p:cNvSpPr txBox="1"/>
          <p:nvPr/>
        </p:nvSpPr>
        <p:spPr>
          <a:xfrm>
            <a:off x="457200" y="2697480"/>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797행 · 6시트
RSA/거리/결함범주</a:t>
            </a:r>
          </a:p>
        </p:txBody>
      </p:sp>
      <p:sp>
        <p:nvSpPr>
          <p:cNvPr id="11" name="Rounded Rectangle 10"/>
          <p:cNvSpPr/>
          <p:nvPr/>
        </p:nvSpPr>
        <p:spPr>
          <a:xfrm>
            <a:off x="32918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143000"/>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1234440"/>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Binder shortlist</a:t>
            </a:r>
          </a:p>
        </p:txBody>
      </p:sp>
      <p:sp>
        <p:nvSpPr>
          <p:cNvPr id="14" name="TextBox 13"/>
          <p:cNvSpPr txBox="1"/>
          <p:nvPr/>
        </p:nvSpPr>
        <p:spPr>
          <a:xfrm>
            <a:off x="3429000" y="1783080"/>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IDS_Chaperone_Binder_
Target_Shortlist.xlsx</a:t>
            </a:r>
          </a:p>
        </p:txBody>
      </p:sp>
      <p:sp>
        <p:nvSpPr>
          <p:cNvPr id="15" name="TextBox 14"/>
          <p:cNvSpPr txBox="1"/>
          <p:nvPr/>
        </p:nvSpPr>
        <p:spPr>
          <a:xfrm>
            <a:off x="3429000" y="2697480"/>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안전권 15 · 주의 15
에피토프 후보</a:t>
            </a:r>
          </a:p>
        </p:txBody>
      </p:sp>
      <p:sp>
        <p:nvSpPr>
          <p:cNvPr id="16" name="Rounded Rectangle 15"/>
          <p:cNvSpPr/>
          <p:nvPr/>
        </p:nvSpPr>
        <p:spPr>
          <a:xfrm>
            <a:off x="62636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143000"/>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234440"/>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Amenability v1</a:t>
            </a:r>
          </a:p>
        </p:txBody>
      </p:sp>
      <p:sp>
        <p:nvSpPr>
          <p:cNvPr id="19" name="TextBox 18"/>
          <p:cNvSpPr txBox="1"/>
          <p:nvPr/>
        </p:nvSpPr>
        <p:spPr>
          <a:xfrm>
            <a:off x="6400800" y="1783080"/>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Rules + Prototype xlsx
Claim/Ambroxol 문서</a:t>
            </a:r>
          </a:p>
        </p:txBody>
      </p:sp>
      <p:sp>
        <p:nvSpPr>
          <p:cNvPr id="20" name="TextBox 19"/>
          <p:cNvSpPr txBox="1"/>
          <p:nvPr/>
        </p:nvSpPr>
        <p:spPr>
          <a:xfrm>
            <a:off x="6400800" y="2697480"/>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EXCLUDE/CAUTION/TIER
전량 점수 적용</a:t>
            </a:r>
          </a:p>
        </p:txBody>
      </p:sp>
      <p:sp>
        <p:nvSpPr>
          <p:cNvPr id="21" name="Rounded Rectangle 20"/>
          <p:cNvSpPr/>
          <p:nvPr/>
        </p:nvSpPr>
        <p:spPr>
          <a:xfrm>
            <a:off x="9235440" y="1143000"/>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143000"/>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1234440"/>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Ser152 심화</a:t>
            </a:r>
          </a:p>
        </p:txBody>
      </p:sp>
      <p:sp>
        <p:nvSpPr>
          <p:cNvPr id="24" name="TextBox 23"/>
          <p:cNvSpPr txBox="1"/>
          <p:nvPr/>
        </p:nvSpPr>
        <p:spPr>
          <a:xfrm>
            <a:off x="9372600" y="1783080"/>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Mechanism Review
Fig1–4 + 체크리스트</a:t>
            </a:r>
          </a:p>
        </p:txBody>
      </p:sp>
      <p:sp>
        <p:nvSpPr>
          <p:cNvPr id="25" name="TextBox 24"/>
          <p:cNvSpPr txBox="1"/>
          <p:nvPr/>
        </p:nvSpPr>
        <p:spPr>
          <a:xfrm>
            <a:off x="9372600" y="2697480"/>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기전 순위 · 2축 맵
환자용 파이프라인</a:t>
            </a:r>
          </a:p>
        </p:txBody>
      </p:sp>
      <p:sp>
        <p:nvSpPr>
          <p:cNvPr id="26" name="Rounded Rectangle 25"/>
          <p:cNvSpPr/>
          <p:nvPr/>
        </p:nvSpPr>
        <p:spPr>
          <a:xfrm>
            <a:off x="3200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749039"/>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840479"/>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AF 계산</a:t>
            </a:r>
          </a:p>
        </p:txBody>
      </p:sp>
      <p:sp>
        <p:nvSpPr>
          <p:cNvPr id="29" name="TextBox 28"/>
          <p:cNvSpPr txBox="1"/>
          <p:nvPr/>
        </p:nvSpPr>
        <p:spPr>
          <a:xfrm>
            <a:off x="457200" y="4389119"/>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fold_WT / S152I / multi
AF3 분석 보고서</a:t>
            </a:r>
          </a:p>
        </p:txBody>
      </p:sp>
      <p:sp>
        <p:nvSpPr>
          <p:cNvPr id="30" name="TextBox 29"/>
          <p:cNvSpPr txBox="1"/>
          <p:nvPr/>
        </p:nvSpPr>
        <p:spPr>
          <a:xfrm>
            <a:off x="457200" y="5303519"/>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RMSD 0.37Å
모듈 pLDDT↓</a:t>
            </a:r>
          </a:p>
        </p:txBody>
      </p:sp>
      <p:sp>
        <p:nvSpPr>
          <p:cNvPr id="31" name="Rounded Rectangle 30"/>
          <p:cNvSpPr/>
          <p:nvPr/>
        </p:nvSpPr>
        <p:spPr>
          <a:xfrm>
            <a:off x="32918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3749039"/>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3840479"/>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열역학 층</a:t>
            </a:r>
          </a:p>
        </p:txBody>
      </p:sp>
      <p:sp>
        <p:nvSpPr>
          <p:cNvPr id="34" name="TextBox 33"/>
          <p:cNvSpPr txBox="1"/>
          <p:nvPr/>
        </p:nvSpPr>
        <p:spPr>
          <a:xfrm>
            <a:off x="3429000" y="4389119"/>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EvoEF2 ΔΔG · CTSS
c422f pocket</a:t>
            </a:r>
          </a:p>
        </p:txBody>
      </p:sp>
      <p:sp>
        <p:nvSpPr>
          <p:cNvPr id="35" name="TextBox 34"/>
          <p:cNvSpPr txBox="1"/>
          <p:nvPr/>
        </p:nvSpPr>
        <p:spPr>
          <a:xfrm>
            <a:off x="3429000" y="5303519"/>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에너지 vs 노출
neo-pocket 가설</a:t>
            </a:r>
          </a:p>
        </p:txBody>
      </p:sp>
      <p:sp>
        <p:nvSpPr>
          <p:cNvPr id="36" name="Rounded Rectangle 35"/>
          <p:cNvSpPr/>
          <p:nvPr/>
        </p:nvSpPr>
        <p:spPr>
          <a:xfrm>
            <a:off x="62636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3749039"/>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3840479"/>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자문 패키지</a:t>
            </a:r>
          </a:p>
        </p:txBody>
      </p:sp>
      <p:sp>
        <p:nvSpPr>
          <p:cNvPr id="39" name="TextBox 38"/>
          <p:cNvSpPr txBox="1"/>
          <p:nvPr/>
        </p:nvSpPr>
        <p:spPr>
          <a:xfrm>
            <a:off x="6400800" y="4389119"/>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Advisor_Briefing_Package
질문지 · 브리핑</a:t>
            </a:r>
          </a:p>
        </p:txBody>
      </p:sp>
      <p:sp>
        <p:nvSpPr>
          <p:cNvPr id="40" name="TextBox 39"/>
          <p:cNvSpPr txBox="1"/>
          <p:nvPr/>
        </p:nvSpPr>
        <p:spPr>
          <a:xfrm>
            <a:off x="6400800" y="5303519"/>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한페이지 · 궤적
면담 질문</a:t>
            </a:r>
          </a:p>
        </p:txBody>
      </p:sp>
      <p:sp>
        <p:nvSpPr>
          <p:cNvPr id="41" name="Rounded Rectangle 40"/>
          <p:cNvSpPr/>
          <p:nvPr/>
        </p:nvSpPr>
        <p:spPr>
          <a:xfrm>
            <a:off x="9235440" y="3749039"/>
            <a:ext cx="2834640"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35440" y="3749039"/>
            <a:ext cx="2834640"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72600" y="3840479"/>
            <a:ext cx="2560320" cy="320040"/>
          </a:xfrm>
          <a:prstGeom prst="rect">
            <a:avLst/>
          </a:prstGeom>
          <a:noFill/>
        </p:spPr>
        <p:txBody>
          <a:bodyPr wrap="square" anchor="t"/>
          <a:lstStyle/>
          <a:p>
            <a:pPr algn="l"/>
            <a:r>
              <a:rPr sz="1300" b="1">
                <a:solidFill>
                  <a:srgbClr val="FFFFFF"/>
                </a:solidFill>
                <a:latin typeface="Apple SD Gothic Neo"/>
                <a:ea typeface="Apple SD Gothic Neo"/>
                <a:cs typeface="Apple SD Gothic Neo"/>
              </a:rPr>
              <a:t>공개 포털</a:t>
            </a:r>
          </a:p>
        </p:txBody>
      </p:sp>
      <p:sp>
        <p:nvSpPr>
          <p:cNvPr id="44" name="TextBox 43"/>
          <p:cNvSpPr txBox="1"/>
          <p:nvPr/>
        </p:nvSpPr>
        <p:spPr>
          <a:xfrm>
            <a:off x="9372600" y="4389119"/>
            <a:ext cx="2560320" cy="822960"/>
          </a:xfrm>
          <a:prstGeom prst="rect">
            <a:avLst/>
          </a:prstGeom>
          <a:noFill/>
        </p:spPr>
        <p:txBody>
          <a:bodyPr wrap="square" anchor="t"/>
          <a:lstStyle/>
          <a:p>
            <a:pPr algn="l"/>
            <a:r>
              <a:rPr sz="1100" b="0">
                <a:solidFill>
                  <a:srgbClr val="0A6B62"/>
                </a:solidFill>
                <a:latin typeface="Apple SD Gothic Neo"/>
                <a:ea typeface="Apple SD Gothic Neo"/>
                <a:cs typeface="Apple SD Gothic Neo"/>
              </a:rPr>
              <a:t>idsx-lab (GitHub Pages)
framework·compute·AF</a:t>
            </a:r>
          </a:p>
        </p:txBody>
      </p:sp>
      <p:sp>
        <p:nvSpPr>
          <p:cNvPr id="45" name="TextBox 44"/>
          <p:cNvSpPr txBox="1"/>
          <p:nvPr/>
        </p:nvSpPr>
        <p:spPr>
          <a:xfrm>
            <a:off x="9372600" y="5303519"/>
            <a:ext cx="2560320" cy="68580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claim 고정
사고 타임라인</a:t>
            </a:r>
          </a:p>
        </p:txBody>
      </p:sp>
      <p:sp>
        <p:nvSpPr>
          <p:cNvPr id="46" name="Rectangle 4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Artifacts</a:t>
            </a:r>
          </a:p>
        </p:txBody>
      </p:sp>
      <p:sp>
        <p:nvSpPr>
          <p:cNvPr id="48" name="TextBox 4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Amenability 파이프라인 (규칙의 흐름)</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빈도 랭킹을 버리고 개별 변이 점수로 재편</a:t>
            </a:r>
          </a:p>
        </p:txBody>
      </p:sp>
      <p:sp>
        <p:nvSpPr>
          <p:cNvPr id="6" name="Rounded Rectangle 5"/>
          <p:cNvSpPr/>
          <p:nvPr/>
        </p:nvSpPr>
        <p:spPr>
          <a:xfrm>
            <a:off x="274320" y="1234440"/>
            <a:ext cx="1874519" cy="2377440"/>
          </a:xfrm>
          <a:prstGeom prst="roundRect">
            <a:avLst>
              <a:gd name="adj" fmla="val 6000"/>
            </a:avLst>
          </a:prstGeom>
          <a:solidFill>
            <a:srgbClr val="FFFFFF"/>
          </a:solidFill>
          <a:ln w="12700">
            <a:solidFill>
              <a:srgbClr val="0B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234440"/>
            <a:ext cx="1874519" cy="4114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입력</a:t>
            </a:r>
          </a:p>
        </p:txBody>
      </p:sp>
      <p:sp>
        <p:nvSpPr>
          <p:cNvPr id="9" name="TextBox 8"/>
          <p:cNvSpPr txBox="1"/>
          <p:nvPr/>
        </p:nvSpPr>
        <p:spPr>
          <a:xfrm>
            <a:off x="365760"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ClinVar/UniProt × 5FQL
797 variants</a:t>
            </a:r>
          </a:p>
        </p:txBody>
      </p:sp>
      <p:sp>
        <p:nvSpPr>
          <p:cNvPr id="10" name="TextBox 9"/>
          <p:cNvSpPr txBox="1"/>
          <p:nvPr/>
        </p:nvSpPr>
        <p:spPr>
          <a:xfrm>
            <a:off x="2011680" y="2194560"/>
            <a:ext cx="274320" cy="365760"/>
          </a:xfrm>
          <a:prstGeom prst="rect">
            <a:avLst/>
          </a:prstGeom>
          <a:noFill/>
        </p:spPr>
        <p:txBody>
          <a:bodyPr wrap="square" anchor="t"/>
          <a:lstStyle/>
          <a:p>
            <a:pPr algn="l"/>
            <a:r>
              <a:rPr sz="2000" b="1">
                <a:solidFill>
                  <a:srgbClr val="0B1F33"/>
                </a:solidFill>
                <a:latin typeface="Apple SD Gothic Neo"/>
                <a:ea typeface="Apple SD Gothic Neo"/>
                <a:cs typeface="Apple SD Gothic Neo"/>
              </a:rPr>
              <a:t>›</a:t>
            </a:r>
          </a:p>
        </p:txBody>
      </p:sp>
      <p:sp>
        <p:nvSpPr>
          <p:cNvPr id="11" name="Rounded Rectangle 10"/>
          <p:cNvSpPr/>
          <p:nvPr/>
        </p:nvSpPr>
        <p:spPr>
          <a:xfrm>
            <a:off x="2240279" y="1234440"/>
            <a:ext cx="1874519" cy="2377440"/>
          </a:xfrm>
          <a:prstGeom prst="roundRect">
            <a:avLst>
              <a:gd name="adj" fmla="val 6000"/>
            </a:avLst>
          </a:prstGeom>
          <a:solidFill>
            <a:srgbClr val="FFFFFF"/>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40279" y="1234440"/>
            <a:ext cx="1874519" cy="411480"/>
          </a:xfrm>
          <a:prstGeom prst="rect">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5999"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Hard EXCLUDE</a:t>
            </a:r>
          </a:p>
        </p:txBody>
      </p:sp>
      <p:sp>
        <p:nvSpPr>
          <p:cNvPr id="14" name="TextBox 13"/>
          <p:cNvSpPr txBox="1"/>
          <p:nvPr/>
        </p:nvSpPr>
        <p:spPr>
          <a:xfrm>
            <a:off x="2331719"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null · 촉매 · Ca
이황화 · 미해석</a:t>
            </a:r>
          </a:p>
        </p:txBody>
      </p:sp>
      <p:sp>
        <p:nvSpPr>
          <p:cNvPr id="15" name="TextBox 14"/>
          <p:cNvSpPr txBox="1"/>
          <p:nvPr/>
        </p:nvSpPr>
        <p:spPr>
          <a:xfrm>
            <a:off x="3977639" y="2194560"/>
            <a:ext cx="274320" cy="365760"/>
          </a:xfrm>
          <a:prstGeom prst="rect">
            <a:avLst/>
          </a:prstGeom>
          <a:noFill/>
        </p:spPr>
        <p:txBody>
          <a:bodyPr wrap="square" anchor="t"/>
          <a:lstStyle/>
          <a:p>
            <a:pPr algn="l"/>
            <a:r>
              <a:rPr sz="2000" b="1">
                <a:solidFill>
                  <a:srgbClr val="0B1F33"/>
                </a:solidFill>
                <a:latin typeface="Apple SD Gothic Neo"/>
                <a:ea typeface="Apple SD Gothic Neo"/>
                <a:cs typeface="Apple SD Gothic Neo"/>
              </a:rPr>
              <a:t>›</a:t>
            </a:r>
          </a:p>
        </p:txBody>
      </p:sp>
      <p:sp>
        <p:nvSpPr>
          <p:cNvPr id="16" name="Rounded Rectangle 15"/>
          <p:cNvSpPr/>
          <p:nvPr/>
        </p:nvSpPr>
        <p:spPr>
          <a:xfrm>
            <a:off x="4206240" y="1234440"/>
            <a:ext cx="1874519" cy="2377440"/>
          </a:xfrm>
          <a:prstGeom prst="roundRect">
            <a:avLst>
              <a:gd name="adj" fmla="val 6000"/>
            </a:avLst>
          </a:prstGeom>
          <a:solidFill>
            <a:srgbClr val="FFFFFF"/>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234440"/>
            <a:ext cx="1874519" cy="411480"/>
          </a:xfrm>
          <a:prstGeom prst="rect">
            <a:avLst/>
          </a:prstGeom>
          <a:solidFill>
            <a:srgbClr val="E89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CAUTION</a:t>
            </a:r>
          </a:p>
        </p:txBody>
      </p:sp>
      <p:sp>
        <p:nvSpPr>
          <p:cNvPr id="19" name="TextBox 18"/>
          <p:cNvSpPr txBox="1"/>
          <p:nvPr/>
        </p:nvSpPr>
        <p:spPr>
          <a:xfrm>
            <a:off x="4297680"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촉매거리 &lt; 6.5 Å
Arg88 계열</a:t>
            </a:r>
          </a:p>
        </p:txBody>
      </p:sp>
      <p:sp>
        <p:nvSpPr>
          <p:cNvPr id="20" name="TextBox 19"/>
          <p:cNvSpPr txBox="1"/>
          <p:nvPr/>
        </p:nvSpPr>
        <p:spPr>
          <a:xfrm>
            <a:off x="5943600" y="2194560"/>
            <a:ext cx="274320" cy="365760"/>
          </a:xfrm>
          <a:prstGeom prst="rect">
            <a:avLst/>
          </a:prstGeom>
          <a:noFill/>
        </p:spPr>
        <p:txBody>
          <a:bodyPr wrap="square" anchor="t"/>
          <a:lstStyle/>
          <a:p>
            <a:pPr algn="l"/>
            <a:r>
              <a:rPr sz="2000" b="1">
                <a:solidFill>
                  <a:srgbClr val="0B1F33"/>
                </a:solidFill>
                <a:latin typeface="Apple SD Gothic Neo"/>
                <a:ea typeface="Apple SD Gothic Neo"/>
                <a:cs typeface="Apple SD Gothic Neo"/>
              </a:rPr>
              <a:t>›</a:t>
            </a:r>
          </a:p>
        </p:txBody>
      </p:sp>
      <p:sp>
        <p:nvSpPr>
          <p:cNvPr id="21" name="Rounded Rectangle 20"/>
          <p:cNvSpPr/>
          <p:nvPr/>
        </p:nvSpPr>
        <p:spPr>
          <a:xfrm>
            <a:off x="6172199" y="1234440"/>
            <a:ext cx="1874519" cy="2377440"/>
          </a:xfrm>
          <a:prstGeom prst="roundRect">
            <a:avLst>
              <a:gd name="adj" fmla="val 6000"/>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199" y="1234440"/>
            <a:ext cx="1874519"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19"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점수 0–10</a:t>
            </a:r>
          </a:p>
        </p:txBody>
      </p:sp>
      <p:sp>
        <p:nvSpPr>
          <p:cNvPr id="24" name="TextBox 23"/>
          <p:cNvSpPr txBox="1"/>
          <p:nvPr/>
        </p:nvSpPr>
        <p:spPr>
          <a:xfrm>
            <a:off x="6263639"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코어/라벨/이격
RSA/에피토프</a:t>
            </a:r>
          </a:p>
        </p:txBody>
      </p:sp>
      <p:sp>
        <p:nvSpPr>
          <p:cNvPr id="25" name="TextBox 24"/>
          <p:cNvSpPr txBox="1"/>
          <p:nvPr/>
        </p:nvSpPr>
        <p:spPr>
          <a:xfrm>
            <a:off x="7909559" y="2194560"/>
            <a:ext cx="274320" cy="365760"/>
          </a:xfrm>
          <a:prstGeom prst="rect">
            <a:avLst/>
          </a:prstGeom>
          <a:noFill/>
        </p:spPr>
        <p:txBody>
          <a:bodyPr wrap="square" anchor="t"/>
          <a:lstStyle/>
          <a:p>
            <a:pPr algn="l"/>
            <a:r>
              <a:rPr sz="2000" b="1">
                <a:solidFill>
                  <a:srgbClr val="0B1F33"/>
                </a:solidFill>
                <a:latin typeface="Apple SD Gothic Neo"/>
                <a:ea typeface="Apple SD Gothic Neo"/>
                <a:cs typeface="Apple SD Gothic Neo"/>
              </a:rPr>
              <a:t>›</a:t>
            </a:r>
          </a:p>
        </p:txBody>
      </p:sp>
      <p:sp>
        <p:nvSpPr>
          <p:cNvPr id="26" name="Rounded Rectangle 25"/>
          <p:cNvSpPr/>
          <p:nvPr/>
        </p:nvSpPr>
        <p:spPr>
          <a:xfrm>
            <a:off x="8138160" y="1234440"/>
            <a:ext cx="1874519" cy="2377440"/>
          </a:xfrm>
          <a:prstGeom prst="roundRect">
            <a:avLst>
              <a:gd name="adj" fmla="val 6000"/>
            </a:avLst>
          </a:prstGeom>
          <a:solidFill>
            <a:srgbClr val="FFFFFF"/>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234440"/>
            <a:ext cx="1874519" cy="411480"/>
          </a:xfrm>
          <a:prstGeom prst="rect">
            <a:avLst/>
          </a:prstGeom>
          <a:solidFill>
            <a:srgbClr val="1E8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TIER1 proxy</a:t>
            </a:r>
          </a:p>
        </p:txBody>
      </p:sp>
      <p:sp>
        <p:nvSpPr>
          <p:cNvPr id="29" name="TextBox 28"/>
          <p:cNvSpPr txBox="1"/>
          <p:nvPr/>
        </p:nvSpPr>
        <p:spPr>
          <a:xfrm>
            <a:off x="8229600"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score ≥ 7
위치 collapse 필요</a:t>
            </a:r>
          </a:p>
        </p:txBody>
      </p:sp>
      <p:sp>
        <p:nvSpPr>
          <p:cNvPr id="30" name="TextBox 29"/>
          <p:cNvSpPr txBox="1"/>
          <p:nvPr/>
        </p:nvSpPr>
        <p:spPr>
          <a:xfrm>
            <a:off x="9875520" y="2194560"/>
            <a:ext cx="274320" cy="365760"/>
          </a:xfrm>
          <a:prstGeom prst="rect">
            <a:avLst/>
          </a:prstGeom>
          <a:noFill/>
        </p:spPr>
        <p:txBody>
          <a:bodyPr wrap="square" anchor="t"/>
          <a:lstStyle/>
          <a:p>
            <a:pPr algn="l"/>
            <a:r>
              <a:rPr sz="2000" b="1">
                <a:solidFill>
                  <a:srgbClr val="0B1F33"/>
                </a:solidFill>
                <a:latin typeface="Apple SD Gothic Neo"/>
                <a:ea typeface="Apple SD Gothic Neo"/>
                <a:cs typeface="Apple SD Gothic Neo"/>
              </a:rPr>
              <a:t>›</a:t>
            </a:r>
          </a:p>
        </p:txBody>
      </p:sp>
      <p:sp>
        <p:nvSpPr>
          <p:cNvPr id="31" name="Rounded Rectangle 30"/>
          <p:cNvSpPr/>
          <p:nvPr/>
        </p:nvSpPr>
        <p:spPr>
          <a:xfrm>
            <a:off x="10104120" y="1234440"/>
            <a:ext cx="1874519" cy="2377440"/>
          </a:xfrm>
          <a:prstGeom prst="roundRect">
            <a:avLst>
              <a:gd name="adj" fmla="val 6000"/>
            </a:avLst>
          </a:prstGeom>
          <a:solidFill>
            <a:srgbClr val="FFFFFF"/>
          </a:solidFill>
          <a:ln w="12700">
            <a:solidFill>
              <a:srgbClr val="6B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04120" y="1234440"/>
            <a:ext cx="1874519" cy="411480"/>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0" y="1298448"/>
            <a:ext cx="1783080" cy="320040"/>
          </a:xfrm>
          <a:prstGeom prst="rect">
            <a:avLst/>
          </a:prstGeom>
          <a:noFill/>
        </p:spPr>
        <p:txBody>
          <a:bodyPr wrap="square" anchor="t"/>
          <a:lstStyle/>
          <a:p>
            <a:pPr algn="ctr"/>
            <a:r>
              <a:rPr sz="1200" b="1">
                <a:solidFill>
                  <a:srgbClr val="FFFFFF"/>
                </a:solidFill>
                <a:latin typeface="Apple SD Gothic Neo"/>
                <a:ea typeface="Apple SD Gothic Neo"/>
                <a:cs typeface="Apple SD Gothic Neo"/>
              </a:rPr>
              <a:t>모달리티</a:t>
            </a:r>
          </a:p>
        </p:txBody>
      </p:sp>
      <p:sp>
        <p:nvSpPr>
          <p:cNvPr id="34" name="TextBox 33"/>
          <p:cNvSpPr txBox="1"/>
          <p:nvPr/>
        </p:nvSpPr>
        <p:spPr>
          <a:xfrm>
            <a:off x="10195560" y="1828800"/>
            <a:ext cx="1691640" cy="1554480"/>
          </a:xfrm>
          <a:prstGeom prst="rect">
            <a:avLst/>
          </a:prstGeom>
          <a:noFill/>
        </p:spPr>
        <p:txBody>
          <a:bodyPr wrap="square" anchor="t"/>
          <a:lstStyle/>
          <a:p>
            <a:pPr algn="ctr"/>
            <a:r>
              <a:rPr sz="1200" b="0">
                <a:solidFill>
                  <a:srgbClr val="1A2A36"/>
                </a:solidFill>
                <a:latin typeface="Apple SD Gothic Neo"/>
                <a:ea typeface="Apple SD Gothic Neo"/>
                <a:cs typeface="Apple SD Gothic Neo"/>
              </a:rPr>
              <a:t>A 소분자 PC
B 표면 바인더
C 비구제</a:t>
            </a:r>
          </a:p>
        </p:txBody>
      </p:sp>
      <p:sp>
        <p:nvSpPr>
          <p:cNvPr id="35" name="Rounded Rectangle 34"/>
          <p:cNvSpPr/>
          <p:nvPr/>
        </p:nvSpPr>
        <p:spPr>
          <a:xfrm>
            <a:off x="365760" y="3840480"/>
            <a:ext cx="11430000" cy="2377440"/>
          </a:xfrm>
          <a:prstGeom prst="roundRect">
            <a:avLst>
              <a:gd name="adj" fmla="val 6000"/>
            </a:avLst>
          </a:prstGeom>
          <a:solidFill>
            <a:srgbClr val="EEF4F6"/>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977639"/>
            <a:ext cx="109728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v1.0 규칙 전량 러프 적용 결과 (경향 확인용 · 1점 단위 차 가능)</a:t>
            </a:r>
          </a:p>
        </p:txBody>
      </p:sp>
      <p:sp>
        <p:nvSpPr>
          <p:cNvPr id="37" name="TextBox 36"/>
          <p:cNvSpPr txBox="1"/>
          <p:nvPr/>
        </p:nvSpPr>
        <p:spPr>
          <a:xfrm>
            <a:off x="594360"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EXCLUDE</a:t>
            </a:r>
          </a:p>
        </p:txBody>
      </p:sp>
      <p:sp>
        <p:nvSpPr>
          <p:cNvPr id="38" name="TextBox 37"/>
          <p:cNvSpPr txBox="1"/>
          <p:nvPr/>
        </p:nvSpPr>
        <p:spPr>
          <a:xfrm>
            <a:off x="594360"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~210–231</a:t>
            </a:r>
          </a:p>
        </p:txBody>
      </p:sp>
      <p:sp>
        <p:nvSpPr>
          <p:cNvPr id="39" name="TextBox 38"/>
          <p:cNvSpPr txBox="1"/>
          <p:nvPr/>
        </p:nvSpPr>
        <p:spPr>
          <a:xfrm>
            <a:off x="2468879"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CAUTION_POCKET</a:t>
            </a:r>
          </a:p>
        </p:txBody>
      </p:sp>
      <p:sp>
        <p:nvSpPr>
          <p:cNvPr id="40" name="TextBox 39"/>
          <p:cNvSpPr txBox="1"/>
          <p:nvPr/>
        </p:nvSpPr>
        <p:spPr>
          <a:xfrm>
            <a:off x="2468879"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~106</a:t>
            </a:r>
          </a:p>
        </p:txBody>
      </p:sp>
      <p:sp>
        <p:nvSpPr>
          <p:cNvPr id="41" name="TextBox 40"/>
          <p:cNvSpPr txBox="1"/>
          <p:nvPr/>
        </p:nvSpPr>
        <p:spPr>
          <a:xfrm>
            <a:off x="4343400"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TIER1 proxy</a:t>
            </a:r>
          </a:p>
        </p:txBody>
      </p:sp>
      <p:sp>
        <p:nvSpPr>
          <p:cNvPr id="42" name="TextBox 41"/>
          <p:cNvSpPr txBox="1"/>
          <p:nvPr/>
        </p:nvSpPr>
        <p:spPr>
          <a:xfrm>
            <a:off x="4343400"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~146–163</a:t>
            </a:r>
          </a:p>
        </p:txBody>
      </p:sp>
      <p:sp>
        <p:nvSpPr>
          <p:cNvPr id="43" name="TextBox 42"/>
          <p:cNvSpPr txBox="1"/>
          <p:nvPr/>
        </p:nvSpPr>
        <p:spPr>
          <a:xfrm>
            <a:off x="6217920"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TIER2</a:t>
            </a:r>
          </a:p>
        </p:txBody>
      </p:sp>
      <p:sp>
        <p:nvSpPr>
          <p:cNvPr id="44" name="TextBox 43"/>
          <p:cNvSpPr txBox="1"/>
          <p:nvPr/>
        </p:nvSpPr>
        <p:spPr>
          <a:xfrm>
            <a:off x="6217920"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~227–244</a:t>
            </a:r>
          </a:p>
        </p:txBody>
      </p:sp>
      <p:sp>
        <p:nvSpPr>
          <p:cNvPr id="45" name="TextBox 44"/>
          <p:cNvSpPr txBox="1"/>
          <p:nvPr/>
        </p:nvSpPr>
        <p:spPr>
          <a:xfrm>
            <a:off x="8092440"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NEG_CTRL</a:t>
            </a:r>
          </a:p>
        </p:txBody>
      </p:sp>
      <p:sp>
        <p:nvSpPr>
          <p:cNvPr id="46" name="TextBox 45"/>
          <p:cNvSpPr txBox="1"/>
          <p:nvPr/>
        </p:nvSpPr>
        <p:spPr>
          <a:xfrm>
            <a:off x="8092440"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~64–85</a:t>
            </a:r>
          </a:p>
        </p:txBody>
      </p:sp>
      <p:sp>
        <p:nvSpPr>
          <p:cNvPr id="47" name="TextBox 46"/>
          <p:cNvSpPr txBox="1"/>
          <p:nvPr/>
        </p:nvSpPr>
        <p:spPr>
          <a:xfrm>
            <a:off x="9966960" y="4480560"/>
            <a:ext cx="1737360" cy="320040"/>
          </a:xfrm>
          <a:prstGeom prst="rect">
            <a:avLst/>
          </a:prstGeom>
          <a:noFill/>
        </p:spPr>
        <p:txBody>
          <a:bodyPr wrap="square" anchor="t"/>
          <a:lstStyle/>
          <a:p>
            <a:pPr algn="l"/>
            <a:r>
              <a:rPr sz="1100" b="1">
                <a:solidFill>
                  <a:srgbClr val="0D9488"/>
                </a:solidFill>
                <a:latin typeface="Apple SD Gothic Neo"/>
                <a:ea typeface="Apple SD Gothic Neo"/>
                <a:cs typeface="Apple SD Gothic Neo"/>
              </a:rPr>
              <a:t>TIER3</a:t>
            </a:r>
          </a:p>
        </p:txBody>
      </p:sp>
      <p:sp>
        <p:nvSpPr>
          <p:cNvPr id="48" name="TextBox 47"/>
          <p:cNvSpPr txBox="1"/>
          <p:nvPr/>
        </p:nvSpPr>
        <p:spPr>
          <a:xfrm>
            <a:off x="9966960" y="4846320"/>
            <a:ext cx="1737360" cy="365760"/>
          </a:xfrm>
          <a:prstGeom prst="rect">
            <a:avLst/>
          </a:prstGeom>
          <a:noFill/>
        </p:spPr>
        <p:txBody>
          <a:bodyPr wrap="square" anchor="t"/>
          <a:lstStyle/>
          <a:p>
            <a:pPr algn="l"/>
            <a:r>
              <a:rPr sz="1800" b="1">
                <a:solidFill>
                  <a:srgbClr val="0B1F33"/>
                </a:solidFill>
                <a:latin typeface="Apple SD Gothic Neo"/>
                <a:ea typeface="Apple SD Gothic Neo"/>
                <a:cs typeface="Apple SD Gothic Neo"/>
              </a:rPr>
              <a:t>~6</a:t>
            </a:r>
          </a:p>
        </p:txBody>
      </p:sp>
      <p:sp>
        <p:nvSpPr>
          <p:cNvPr id="49" name="TextBox 48"/>
          <p:cNvSpPr txBox="1"/>
          <p:nvPr/>
        </p:nvSpPr>
        <p:spPr>
          <a:xfrm>
            <a:off x="594360" y="5394960"/>
            <a:ext cx="10972800" cy="5486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해석 규율: TIER1 n은 ‘치료 후보 n개’가 아니다. 위치 단위 collapse + 잔존활성 문헌으로 2차 축소. 1편 본문 강조는 위치 15–30 + 심화 2–3개(Ser152, Asp308, Tyr108)가 적절.</a:t>
            </a:r>
          </a:p>
        </p:txBody>
      </p:sp>
      <p:sp>
        <p:nvSpPr>
          <p:cNvPr id="50" name="Rectangle 49"/>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Pipeline</a:t>
            </a:r>
          </a:p>
        </p:txBody>
      </p:sp>
      <p:sp>
        <p:nvSpPr>
          <p:cNvPr id="52" name="TextBox 51"/>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05 · 대표 케이스 Ser152 — 구조 모듈 (얼굴 케이스)</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촉매 파괴가 아니라 코어 핀 · 개입은 인접 표면</a:t>
            </a:r>
          </a:p>
        </p:txBody>
      </p:sp>
      <p:sp>
        <p:nvSpPr>
          <p:cNvPr id="6" name="Rounded Rectangle 5"/>
          <p:cNvSpPr/>
          <p:nvPr/>
        </p:nvSpPr>
        <p:spPr>
          <a:xfrm>
            <a:off x="320040" y="1097280"/>
            <a:ext cx="5760720" cy="521208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34440"/>
            <a:ext cx="539496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5FQL 실측 앵커 [S]</a:t>
            </a:r>
          </a:p>
        </p:txBody>
      </p:sp>
      <p:sp>
        <p:nvSpPr>
          <p:cNvPr id="8" name="TextBox 7"/>
          <p:cNvSpPr txBox="1"/>
          <p:nvPr/>
        </p:nvSpPr>
        <p:spPr>
          <a:xfrm>
            <a:off x="502920" y="1645920"/>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RSA</a:t>
            </a:r>
          </a:p>
        </p:txBody>
      </p:sp>
      <p:sp>
        <p:nvSpPr>
          <p:cNvPr id="9" name="TextBox 8"/>
          <p:cNvSpPr txBox="1"/>
          <p:nvPr/>
        </p:nvSpPr>
        <p:spPr>
          <a:xfrm>
            <a:off x="2651760" y="1645920"/>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0% (완전 매장)</a:t>
            </a:r>
          </a:p>
        </p:txBody>
      </p:sp>
      <p:sp>
        <p:nvSpPr>
          <p:cNvPr id="10" name="TextBox 9"/>
          <p:cNvSpPr txBox="1"/>
          <p:nvPr/>
        </p:nvSpPr>
        <p:spPr>
          <a:xfrm>
            <a:off x="502920" y="2084832"/>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촉매 포켓 거리</a:t>
            </a:r>
          </a:p>
        </p:txBody>
      </p:sp>
      <p:sp>
        <p:nvSpPr>
          <p:cNvPr id="11" name="TextBox 10"/>
          <p:cNvSpPr txBox="1"/>
          <p:nvPr/>
        </p:nvSpPr>
        <p:spPr>
          <a:xfrm>
            <a:off x="2651760" y="2084832"/>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10.27 Å (안전권 ≥6.5)</a:t>
            </a:r>
          </a:p>
        </p:txBody>
      </p:sp>
      <p:sp>
        <p:nvSpPr>
          <p:cNvPr id="12" name="TextBox 11"/>
          <p:cNvSpPr txBox="1"/>
          <p:nvPr/>
        </p:nvSpPr>
        <p:spPr>
          <a:xfrm>
            <a:off x="502920" y="2523744"/>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H-bond (Ser-OH)</a:t>
            </a:r>
          </a:p>
        </p:txBody>
      </p:sp>
      <p:sp>
        <p:nvSpPr>
          <p:cNvPr id="13" name="TextBox 12"/>
          <p:cNvSpPr txBox="1"/>
          <p:nvPr/>
        </p:nvSpPr>
        <p:spPr>
          <a:xfrm>
            <a:off x="2651760" y="2523744"/>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Asp148 ~2.53 Å · Thr118 ~2.85 Å</a:t>
            </a:r>
          </a:p>
        </p:txBody>
      </p:sp>
      <p:sp>
        <p:nvSpPr>
          <p:cNvPr id="14" name="TextBox 13"/>
          <p:cNvSpPr txBox="1"/>
          <p:nvPr/>
        </p:nvSpPr>
        <p:spPr>
          <a:xfrm>
            <a:off x="502920" y="2962656"/>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부피 변화 Ser→Ile</a:t>
            </a:r>
          </a:p>
        </p:txBody>
      </p:sp>
      <p:sp>
        <p:nvSpPr>
          <p:cNvPr id="15" name="TextBox 14"/>
          <p:cNvSpPr txBox="1"/>
          <p:nvPr/>
        </p:nvSpPr>
        <p:spPr>
          <a:xfrm>
            <a:off x="2651760" y="2962656"/>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 +77.7 Å³</a:t>
            </a:r>
          </a:p>
        </p:txBody>
      </p:sp>
      <p:sp>
        <p:nvSpPr>
          <p:cNvPr id="16" name="TextBox 15"/>
          <p:cNvSpPr txBox="1"/>
          <p:nvPr/>
        </p:nvSpPr>
        <p:spPr>
          <a:xfrm>
            <a:off x="502920" y="3401568"/>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소수성 변화 (KD)</a:t>
            </a:r>
          </a:p>
        </p:txBody>
      </p:sp>
      <p:sp>
        <p:nvSpPr>
          <p:cNvPr id="17" name="TextBox 16"/>
          <p:cNvSpPr txBox="1"/>
          <p:nvPr/>
        </p:nvSpPr>
        <p:spPr>
          <a:xfrm>
            <a:off x="2651760" y="3401568"/>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+5.3 (극성 틈 → 지방족)</a:t>
            </a:r>
          </a:p>
        </p:txBody>
      </p:sp>
      <p:sp>
        <p:nvSpPr>
          <p:cNvPr id="18" name="TextBox 17"/>
          <p:cNvSpPr txBox="1"/>
          <p:nvPr/>
        </p:nvSpPr>
        <p:spPr>
          <a:xfrm>
            <a:off x="502920" y="3840480"/>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패킹 (CB 4.5Å)</a:t>
            </a:r>
          </a:p>
        </p:txBody>
      </p:sp>
      <p:sp>
        <p:nvSpPr>
          <p:cNvPr id="19" name="TextBox 18"/>
          <p:cNvSpPr txBox="1"/>
          <p:nvPr/>
        </p:nvSpPr>
        <p:spPr>
          <a:xfrm>
            <a:off x="2651760" y="3840480"/>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heavy atom 21개 — 조밀</a:t>
            </a:r>
          </a:p>
        </p:txBody>
      </p:sp>
      <p:sp>
        <p:nvSpPr>
          <p:cNvPr id="20" name="TextBox 19"/>
          <p:cNvSpPr txBox="1"/>
          <p:nvPr/>
        </p:nvSpPr>
        <p:spPr>
          <a:xfrm>
            <a:off x="502920" y="4279392"/>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임상 라벨</a:t>
            </a:r>
          </a:p>
        </p:txBody>
      </p:sp>
      <p:sp>
        <p:nvSpPr>
          <p:cNvPr id="21" name="TextBox 20"/>
          <p:cNvSpPr txBox="1"/>
          <p:nvPr/>
        </p:nvSpPr>
        <p:spPr>
          <a:xfrm>
            <a:off x="2651760" y="4279392"/>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Pathogenic 계열 반복 (S152I/R/N 등)</a:t>
            </a:r>
          </a:p>
        </p:txBody>
      </p:sp>
      <p:sp>
        <p:nvSpPr>
          <p:cNvPr id="22" name="TextBox 21"/>
          <p:cNvSpPr txBox="1"/>
          <p:nvPr/>
        </p:nvSpPr>
        <p:spPr>
          <a:xfrm>
            <a:off x="502920" y="4718304"/>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IDSX 분류</a:t>
            </a:r>
          </a:p>
        </p:txBody>
      </p:sp>
      <p:sp>
        <p:nvSpPr>
          <p:cNvPr id="23" name="TextBox 22"/>
          <p:cNvSpPr txBox="1"/>
          <p:nvPr/>
        </p:nvSpPr>
        <p:spPr>
          <a:xfrm>
            <a:off x="2651760" y="4718304"/>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Core destabilization · score 10 · TIER1</a:t>
            </a:r>
          </a:p>
        </p:txBody>
      </p:sp>
      <p:sp>
        <p:nvSpPr>
          <p:cNvPr id="24" name="TextBox 23"/>
          <p:cNvSpPr txBox="1"/>
          <p:nvPr/>
        </p:nvSpPr>
        <p:spPr>
          <a:xfrm>
            <a:off x="502920" y="5157216"/>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결합 전략</a:t>
            </a:r>
          </a:p>
        </p:txBody>
      </p:sp>
      <p:sp>
        <p:nvSpPr>
          <p:cNvPr id="25" name="TextBox 24"/>
          <p:cNvSpPr txBox="1"/>
          <p:nvPr/>
        </p:nvSpPr>
        <p:spPr>
          <a:xfrm>
            <a:off x="2651760" y="5157216"/>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152 금지 · Tyr151/Pro150/Ser154 패치</a:t>
            </a:r>
          </a:p>
        </p:txBody>
      </p:sp>
      <p:sp>
        <p:nvSpPr>
          <p:cNvPr id="26" name="TextBox 25"/>
          <p:cNvSpPr txBox="1"/>
          <p:nvPr/>
        </p:nvSpPr>
        <p:spPr>
          <a:xfrm>
            <a:off x="502920" y="5596128"/>
            <a:ext cx="2103120" cy="365760"/>
          </a:xfrm>
          <a:prstGeom prst="rect">
            <a:avLst/>
          </a:prstGeom>
          <a:noFill/>
        </p:spPr>
        <p:txBody>
          <a:bodyPr wrap="square" anchor="t"/>
          <a:lstStyle/>
          <a:p>
            <a:pPr algn="l"/>
            <a:r>
              <a:rPr sz="1200" b="1">
                <a:solidFill>
                  <a:srgbClr val="5A6A75"/>
                </a:solidFill>
                <a:latin typeface="Apple SD Gothic Neo"/>
                <a:ea typeface="Apple SD Gothic Neo"/>
                <a:cs typeface="Apple SD Gothic Neo"/>
              </a:rPr>
              <a:t>1차 기전 순위</a:t>
            </a:r>
          </a:p>
        </p:txBody>
      </p:sp>
      <p:sp>
        <p:nvSpPr>
          <p:cNvPr id="27" name="TextBox 26"/>
          <p:cNvSpPr txBox="1"/>
          <p:nvPr/>
        </p:nvSpPr>
        <p:spPr>
          <a:xfrm>
            <a:off x="2651760" y="5596128"/>
            <a:ext cx="320040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부피/패킹 &gt; H-bond 상실 &gt; 극성 불일치</a:t>
            </a:r>
          </a:p>
        </p:txBody>
      </p:sp>
      <p:sp>
        <p:nvSpPr>
          <p:cNvPr id="28" name="Rounded Rectangle 27"/>
          <p:cNvSpPr/>
          <p:nvPr/>
        </p:nvSpPr>
        <p:spPr>
          <a:xfrm>
            <a:off x="6263640" y="1097280"/>
            <a:ext cx="5577840" cy="2377440"/>
          </a:xfrm>
          <a:prstGeom prst="roundRect">
            <a:avLst>
              <a:gd name="adj" fmla="val 6000"/>
            </a:avLst>
          </a:prstGeom>
          <a:solidFill>
            <a:srgbClr val="D4F0E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1234440"/>
            <a:ext cx="5120640" cy="320040"/>
          </a:xfrm>
          <a:prstGeom prst="rect">
            <a:avLst/>
          </a:prstGeom>
          <a:noFill/>
        </p:spPr>
        <p:txBody>
          <a:bodyPr wrap="square" anchor="t"/>
          <a:lstStyle/>
          <a:p>
            <a:pPr algn="l"/>
            <a:r>
              <a:rPr sz="1400" b="1">
                <a:solidFill>
                  <a:srgbClr val="0A6B62"/>
                </a:solidFill>
                <a:latin typeface="Apple SD Gothic Neo"/>
                <a:ea typeface="Apple SD Gothic Neo"/>
                <a:cs typeface="Apple SD Gothic Neo"/>
              </a:rPr>
              <a:t>공정 비유 (화학공학)</a:t>
            </a:r>
          </a:p>
        </p:txBody>
      </p:sp>
      <p:sp>
        <p:nvSpPr>
          <p:cNvPr id="30" name="TextBox 29"/>
          <p:cNvSpPr txBox="1"/>
          <p:nvPr/>
        </p:nvSpPr>
        <p:spPr>
          <a:xfrm>
            <a:off x="6492240" y="1645920"/>
            <a:ext cx="5120640" cy="1645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리소좀 = 현장 반응기, ER = 조립 공장.
S152I는 칼날(활성부위)을 직접 부러뜨리기보다
조립 핀(코어 패킹·H-bond)이 어긋나 QC에서 폐기·
미배달되는 유형에 가깝다고 읽을 구조적 이유가 있다.
(개인 잔존활성 %는 미측정 — UNKNOWN)</a:t>
            </a:r>
          </a:p>
        </p:txBody>
      </p:sp>
      <p:sp>
        <p:nvSpPr>
          <p:cNvPr id="31" name="Rounded Rectangle 30"/>
          <p:cNvSpPr/>
          <p:nvPr/>
        </p:nvSpPr>
        <p:spPr>
          <a:xfrm>
            <a:off x="6263640" y="3657600"/>
            <a:ext cx="5577840" cy="2651760"/>
          </a:xfrm>
          <a:prstGeom prst="roundRect">
            <a:avLst>
              <a:gd name="adj" fmla="val 6000"/>
            </a:avLst>
          </a:prstGeom>
          <a:solidFill>
            <a:srgbClr val="FEF3D6"/>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3794760"/>
            <a:ext cx="5120640" cy="320040"/>
          </a:xfrm>
          <a:prstGeom prst="rect">
            <a:avLst/>
          </a:prstGeom>
          <a:noFill/>
        </p:spPr>
        <p:txBody>
          <a:bodyPr wrap="square" anchor="t"/>
          <a:lstStyle/>
          <a:p>
            <a:pPr algn="l"/>
            <a:r>
              <a:rPr sz="1400" b="1">
                <a:solidFill>
                  <a:srgbClr val="E89B0C"/>
                </a:solidFill>
                <a:latin typeface="Apple SD Gothic Neo"/>
                <a:ea typeface="Apple SD Gothic Neo"/>
                <a:cs typeface="Apple SD Gothic Neo"/>
              </a:rPr>
              <a:t>기전 체인 (측정 활성 ↓)</a:t>
            </a:r>
          </a:p>
        </p:txBody>
      </p:sp>
      <p:sp>
        <p:nvSpPr>
          <p:cNvPr id="33" name="TextBox 32"/>
          <p:cNvSpPr txBox="1"/>
          <p:nvPr/>
        </p:nvSpPr>
        <p:spPr>
          <a:xfrm>
            <a:off x="6492240" y="4206240"/>
            <a:ext cx="5120640" cy="19202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측쇄 물리 결함 (부피+H-bond+극성)
→ 접힘 안정성↓ / 국소 풀림 경향↑
→ ERQC 지연·불합격 → ERAD·배달 실패
→ 리소좀 기능 분자 수↓ → assay 활성↓
※ 클래스 문헌 지지 · 이 대립유전자 단독 실측 약함</a:t>
            </a:r>
          </a:p>
        </p:txBody>
      </p:sp>
      <p:sp>
        <p:nvSpPr>
          <p:cNvPr id="34" name="Rectangle 3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05 Ser152</a:t>
            </a:r>
          </a:p>
        </p:txBody>
      </p:sp>
      <p:sp>
        <p:nvSpPr>
          <p:cNvPr id="36" name="TextBox 35"/>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05 · Ser152 기전 시각 자료</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Mechanism Review Fig — 기록·자문용</a:t>
            </a:r>
          </a:p>
        </p:txBody>
      </p:sp>
      <p:pic>
        <p:nvPicPr>
          <p:cNvPr id="6" name="Picture 5" descr="Fig1_Ser152Ile_mechanism_cascade.png"/>
          <p:cNvPicPr>
            <a:picLocks noChangeAspect="1"/>
          </p:cNvPicPr>
          <p:nvPr/>
        </p:nvPicPr>
        <p:blipFill>
          <a:blip r:embed="rId2"/>
          <a:stretch>
            <a:fillRect/>
          </a:stretch>
        </p:blipFill>
        <p:spPr>
          <a:xfrm>
            <a:off x="274320" y="1051560"/>
            <a:ext cx="5760720" cy="5303520"/>
          </a:xfrm>
          <a:prstGeom prst="rect">
            <a:avLst/>
          </a:prstGeom>
        </p:spPr>
      </p:pic>
      <p:pic>
        <p:nvPicPr>
          <p:cNvPr id="7" name="Picture 6" descr="Fig4_hotspot_2axis_network_vs_catalytic.png"/>
          <p:cNvPicPr>
            <a:picLocks noChangeAspect="1"/>
          </p:cNvPicPr>
          <p:nvPr/>
        </p:nvPicPr>
        <p:blipFill>
          <a:blip r:embed="rId3"/>
          <a:stretch>
            <a:fillRect/>
          </a:stretch>
        </p:blipFill>
        <p:spPr>
          <a:xfrm>
            <a:off x="6126480" y="1051560"/>
            <a:ext cx="5669280" cy="5303520"/>
          </a:xfrm>
          <a:prstGeom prst="rect">
            <a:avLst/>
          </a:prstGeom>
        </p:spPr>
      </p:pic>
      <p:sp>
        <p:nvSpPr>
          <p:cNvPr id="8" name="Rectangle 7"/>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05 Figs</a:t>
            </a:r>
          </a:p>
        </p:txBody>
      </p:sp>
      <p:sp>
        <p:nvSpPr>
          <p:cNvPr id="10" name="TextBox 9"/>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05 · 교육용 반례 Arg88 — 빈도 ≠ 적합성</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이 figure가 없으면 triage가 ‘병원성 랭킹’으로 퇴화한다</a:t>
            </a:r>
          </a:p>
        </p:txBody>
      </p:sp>
      <p:sp>
        <p:nvSpPr>
          <p:cNvPr id="6" name="Rounded Rectangle 5"/>
          <p:cNvSpPr/>
          <p:nvPr/>
        </p:nvSpPr>
        <p:spPr>
          <a:xfrm>
            <a:off x="365760" y="1143000"/>
            <a:ext cx="5577840" cy="512064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5120640" cy="365760"/>
          </a:xfrm>
          <a:prstGeom prst="rect">
            <a:avLst/>
          </a:prstGeom>
          <a:noFill/>
        </p:spPr>
        <p:txBody>
          <a:bodyPr wrap="square" anchor="t"/>
          <a:lstStyle/>
          <a:p>
            <a:pPr algn="l"/>
            <a:r>
              <a:rPr sz="1600" b="1">
                <a:solidFill>
                  <a:srgbClr val="E85D4C"/>
                </a:solidFill>
                <a:latin typeface="Apple SD Gothic Neo"/>
                <a:ea typeface="Apple SD Gothic Neo"/>
                <a:cs typeface="Apple SD Gothic Neo"/>
              </a:rPr>
              <a:t>Arg88 프로필</a:t>
            </a:r>
          </a:p>
        </p:txBody>
      </p:sp>
      <p:sp>
        <p:nvSpPr>
          <p:cNvPr id="8" name="TextBox 7"/>
          <p:cNvSpPr txBox="1"/>
          <p:nvPr/>
        </p:nvSpPr>
        <p:spPr>
          <a:xfrm>
            <a:off x="594360" y="1828800"/>
            <a:ext cx="5120640" cy="4114800"/>
          </a:xfrm>
          <a:prstGeom prst="rect">
            <a:avLst/>
          </a:prstGeom>
          <a:noFill/>
        </p:spPr>
        <p:txBody>
          <a:bodyPr wrap="square">
            <a:spAutoFit/>
          </a:bodyPr>
          <a:lstStyle/>
          <a:p>
            <a:pPr algn="l">
              <a:spcBef>
                <a:spcPts val="0"/>
              </a:spcBef>
              <a:spcAft>
                <a:spcPts val="700"/>
              </a:spcAft>
            </a:pPr>
            <a:r>
              <a:rPr sz="1300" b="0">
                <a:solidFill>
                  <a:srgbClr val="1A2A36"/>
                </a:solidFill>
                <a:latin typeface="Apple SD Gothic Neo"/>
                <a:ea typeface="Apple SD Gothic Neo"/>
                <a:cs typeface="Apple SD Gothic Neo"/>
              </a:rPr>
              <a:t>• 병원성 미스센스 반복 빈도: 높음 (shortlist 상위권)</a:t>
            </a:r>
          </a:p>
          <a:p>
            <a:pPr algn="l">
              <a:spcBef>
                <a:spcPts val="0"/>
              </a:spcBef>
              <a:spcAft>
                <a:spcPts val="700"/>
              </a:spcAft>
            </a:pPr>
            <a:r>
              <a:rPr sz="1300" b="0">
                <a:solidFill>
                  <a:srgbClr val="1A2A36"/>
                </a:solidFill>
                <a:latin typeface="Apple SD Gothic Neo"/>
                <a:ea typeface="Apple SD Gothic Neo"/>
                <a:cs typeface="Apple SD Gothic Neo"/>
              </a:rPr>
              <a:t>• 촉매 포켓 거리: 2.77 Å  —  극도 인접</a:t>
            </a:r>
          </a:p>
          <a:p>
            <a:pPr algn="l">
              <a:spcBef>
                <a:spcPts val="0"/>
              </a:spcBef>
              <a:spcAft>
                <a:spcPts val="700"/>
              </a:spcAft>
            </a:pPr>
            <a:r>
              <a:rPr sz="1300" b="0">
                <a:solidFill>
                  <a:srgbClr val="1A2A36"/>
                </a:solidFill>
                <a:latin typeface="Apple SD Gothic Neo"/>
                <a:ea typeface="Apple SD Gothic Neo"/>
                <a:cs typeface="Apple SD Gothic Neo"/>
              </a:rPr>
              <a:t>• 분류: CAUTION_NEAR_POCKET (바인더 1순위 금지)</a:t>
            </a:r>
          </a:p>
          <a:p>
            <a:pPr algn="l">
              <a:spcBef>
                <a:spcPts val="0"/>
              </a:spcBef>
              <a:spcAft>
                <a:spcPts val="700"/>
              </a:spcAft>
            </a:pPr>
            <a:r>
              <a:rPr sz="1300" b="0">
                <a:solidFill>
                  <a:srgbClr val="1A2A36"/>
                </a:solidFill>
                <a:latin typeface="Apple SD Gothic Neo"/>
                <a:ea typeface="Apple SD Gothic Neo"/>
                <a:cs typeface="Apple SD Gothic Neo"/>
              </a:rPr>
              <a:t>• 위험: 결합제 접근 시 기질 채널·활성 미세환경 간섭</a:t>
            </a:r>
          </a:p>
          <a:p>
            <a:pPr algn="l">
              <a:spcBef>
                <a:spcPts val="0"/>
              </a:spcBef>
              <a:spcAft>
                <a:spcPts val="700"/>
              </a:spcAft>
            </a:pPr>
            <a:r>
              <a:rPr sz="1300" b="0">
                <a:solidFill>
                  <a:srgbClr val="1A2A36"/>
                </a:solidFill>
                <a:latin typeface="Apple SD Gothic Neo"/>
                <a:ea typeface="Apple SD Gothic Neo"/>
                <a:cs typeface="Apple SD Gothic Neo"/>
              </a:rPr>
              <a:t>• 교훈: ‘많이 아프다고 보고된 자리’ ≠ ‘밖에서 붙잡아 구제할 자리’</a:t>
            </a:r>
          </a:p>
          <a:p>
            <a:pPr algn="l">
              <a:spcBef>
                <a:spcPts val="0"/>
              </a:spcBef>
              <a:spcAft>
                <a:spcPts val="700"/>
              </a:spcAft>
            </a:pPr>
            <a:r>
              <a:rPr sz="1300" b="0">
                <a:solidFill>
                  <a:srgbClr val="1A2A36"/>
                </a:solidFill>
                <a:latin typeface="Apple SD Gothic Neo"/>
                <a:ea typeface="Apple SD Gothic Neo"/>
                <a:cs typeface="Apple SD Gothic Neo"/>
              </a:rPr>
              <a:t>• 대안 모달리티: 활성부위형 소분자 inhibitory PC는 별도 트랙</a:t>
            </a:r>
          </a:p>
          <a:p>
            <a:pPr algn="l">
              <a:spcBef>
                <a:spcPts val="0"/>
              </a:spcBef>
              <a:spcAft>
                <a:spcPts val="700"/>
              </a:spcAft>
            </a:pPr>
            <a:r>
              <a:rPr sz="1300" b="0">
                <a:solidFill>
                  <a:srgbClr val="1A2A36"/>
                </a:solidFill>
                <a:latin typeface="Apple SD Gothic Neo"/>
                <a:ea typeface="Apple SD Gothic Neo"/>
                <a:cs typeface="Apple SD Gothic Neo"/>
              </a:rPr>
              <a:t>  (억제–리소좀 해리 창이 필수 — 학부 범위에서는 개념 층)</a:t>
            </a:r>
          </a:p>
          <a:p>
            <a:pPr algn="l">
              <a:spcBef>
                <a:spcPts val="0"/>
              </a:spcBef>
              <a:spcAft>
                <a:spcPts val="700"/>
              </a:spcAft>
            </a:pPr>
            <a:r>
              <a:rPr sz="1300" b="0">
                <a:solidFill>
                  <a:srgbClr val="1A2A36"/>
                </a:solidFill>
                <a:latin typeface="Apple SD Gothic Neo"/>
                <a:ea typeface="Apple SD Gothic Neo"/>
                <a:cs typeface="Apple SD Gothic Neo"/>
              </a:rPr>
              <a:t>• 논문 figure 역할: 빈도 중심 shortlist의 실패 모드를 스스로 고발</a:t>
            </a:r>
          </a:p>
        </p:txBody>
      </p:sp>
      <p:sp>
        <p:nvSpPr>
          <p:cNvPr id="9" name="Rounded Rectangle 8"/>
          <p:cNvSpPr/>
          <p:nvPr/>
        </p:nvSpPr>
        <p:spPr>
          <a:xfrm>
            <a:off x="6217920" y="1143000"/>
            <a:ext cx="5577840" cy="5120640"/>
          </a:xfrm>
          <a:prstGeom prst="roundRect">
            <a:avLst>
              <a:gd name="adj" fmla="val 6000"/>
            </a:avLst>
          </a:prstGeom>
          <a:solidFill>
            <a:srgbClr val="E0F5E8"/>
          </a:solidFill>
          <a:ln w="12700">
            <a:solidFill>
              <a:srgbClr val="1E8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325880"/>
            <a:ext cx="5120640" cy="365760"/>
          </a:xfrm>
          <a:prstGeom prst="rect">
            <a:avLst/>
          </a:prstGeom>
          <a:noFill/>
        </p:spPr>
        <p:txBody>
          <a:bodyPr wrap="square" anchor="t"/>
          <a:lstStyle/>
          <a:p>
            <a:pPr algn="l"/>
            <a:r>
              <a:rPr sz="1600" b="1">
                <a:solidFill>
                  <a:srgbClr val="1E8E5A"/>
                </a:solidFill>
                <a:latin typeface="Apple SD Gothic Neo"/>
                <a:ea typeface="Apple SD Gothic Neo"/>
                <a:cs typeface="Apple SD Gothic Neo"/>
              </a:rPr>
              <a:t>대비 표 — 우선 착수 후보</a:t>
            </a:r>
          </a:p>
        </p:txBody>
      </p:sp>
      <p:sp>
        <p:nvSpPr>
          <p:cNvPr id="11" name="TextBox 10"/>
          <p:cNvSpPr txBox="1"/>
          <p:nvPr/>
        </p:nvSpPr>
        <p:spPr>
          <a:xfrm>
            <a:off x="6446520" y="1828800"/>
            <a:ext cx="5120640" cy="4114800"/>
          </a:xfrm>
          <a:prstGeom prst="rect">
            <a:avLst/>
          </a:prstGeom>
          <a:noFill/>
        </p:spPr>
        <p:txBody>
          <a:bodyPr wrap="square">
            <a:spAutoFit/>
          </a:bodyPr>
          <a:lstStyle/>
          <a:p>
            <a:pPr algn="l">
              <a:spcBef>
                <a:spcPts val="0"/>
              </a:spcBef>
              <a:spcAft>
                <a:spcPts val="600"/>
              </a:spcAft>
            </a:pPr>
            <a:r>
              <a:rPr sz="1300" b="0">
                <a:solidFill>
                  <a:srgbClr val="1A2A36"/>
                </a:solidFill>
                <a:latin typeface="Apple SD Gothic Neo"/>
                <a:ea typeface="Apple SD Gothic Neo"/>
                <a:cs typeface="Apple SD Gothic Neo"/>
              </a:rPr>
              <a:t>Ser152   | 병원성 다수 | dist 10.27 | RSA 0% | 에피토프 11 | 1순위</a:t>
            </a:r>
          </a:p>
          <a:p>
            <a:pPr algn="l">
              <a:spcBef>
                <a:spcPts val="0"/>
              </a:spcBef>
              <a:spcAft>
                <a:spcPts val="600"/>
              </a:spcAft>
            </a:pPr>
            <a:r>
              <a:rPr sz="1300" b="0">
                <a:solidFill>
                  <a:srgbClr val="1A2A36"/>
                </a:solidFill>
                <a:latin typeface="Apple SD Gothic Neo"/>
                <a:ea typeface="Apple SD Gothic Neo"/>
                <a:cs typeface="Apple SD Gothic Neo"/>
              </a:rPr>
              <a:t>Asp308   | 병원성 다수 | dist 10.87 | 매장 | 에피토프 6  | 1순위</a:t>
            </a:r>
          </a:p>
          <a:p>
            <a:pPr algn="l">
              <a:spcBef>
                <a:spcPts val="0"/>
              </a:spcBef>
              <a:spcAft>
                <a:spcPts val="600"/>
              </a:spcAft>
            </a:pPr>
            <a:r>
              <a:rPr sz="1300" b="0">
                <a:solidFill>
                  <a:srgbClr val="1A2A36"/>
                </a:solidFill>
                <a:latin typeface="Apple SD Gothic Neo"/>
                <a:ea typeface="Apple SD Gothic Neo"/>
                <a:cs typeface="Apple SD Gothic Neo"/>
              </a:rPr>
              <a:t>Tyr108   | 혼합       | dist 8.11  | 경계 | 에피토프 14 | 1순위</a:t>
            </a:r>
          </a:p>
          <a:p>
            <a:pPr algn="l">
              <a:spcBef>
                <a:spcPts val="0"/>
              </a:spcBef>
              <a:spcAft>
                <a:spcPts val="600"/>
              </a:spcAft>
            </a:pPr>
            <a:r>
              <a:rPr sz="1300" b="0">
                <a:solidFill>
                  <a:srgbClr val="1A2A36"/>
                </a:solidFill>
                <a:latin typeface="Apple SD Gothic Neo"/>
                <a:ea typeface="Apple SD Gothic Neo"/>
                <a:cs typeface="Apple SD Gothic Neo"/>
              </a:rPr>
              <a:t>Pro469   | 중         | dist 12.02 | —    | 에피토프 10 | 2순위</a:t>
            </a:r>
          </a:p>
          <a:p>
            <a:pPr algn="l">
              <a:spcBef>
                <a:spcPts val="0"/>
              </a:spcBef>
              <a:spcAft>
                <a:spcPts val="600"/>
              </a:spcAft>
            </a:pPr>
            <a:r>
              <a:rPr sz="1300" b="0">
                <a:solidFill>
                  <a:srgbClr val="1A2A36"/>
                </a:solidFill>
                <a:latin typeface="Apple SD Gothic Neo"/>
                <a:ea typeface="Apple SD Gothic Neo"/>
                <a:cs typeface="Apple SD Gothic Neo"/>
              </a:rPr>
              <a:t>Arg468   | 높음       | dist 6.03  | 경계 | —           | 재검토</a:t>
            </a:r>
          </a:p>
          <a:p>
            <a:pPr algn="l">
              <a:spcBef>
                <a:spcPts val="0"/>
              </a:spcBef>
              <a:spcAft>
                <a:spcPts val="600"/>
              </a:spcAft>
            </a:pPr>
            <a:r>
              <a:rPr sz="1300" b="0">
                <a:solidFill>
                  <a:srgbClr val="1A2A36"/>
                </a:solidFill>
                <a:latin typeface="Apple SD Gothic Neo"/>
                <a:ea typeface="Apple SD Gothic Neo"/>
                <a:cs typeface="Apple SD Gothic Neo"/>
              </a:rPr>
              <a:t>Arg88    | 높음       | dist 2.77  | —    | —           | 주의/배제</a:t>
            </a:r>
          </a:p>
          <a:p>
            <a:pPr algn="l">
              <a:spcBef>
                <a:spcPts val="0"/>
              </a:spcBef>
              <a:spcAft>
                <a:spcPts val="600"/>
              </a:spcAft>
            </a:pPr>
            <a:r>
              <a:rPr sz="1300" b="0">
                <a:solidFill>
                  <a:srgbClr val="1A2A36"/>
                </a:solidFill>
                <a:latin typeface="Apple SD Gothic Neo"/>
                <a:ea typeface="Apple SD Gothic Neo"/>
                <a:cs typeface="Apple SD Gothic Neo"/>
              </a:rPr>
              <a:t/>
            </a:r>
          </a:p>
          <a:p>
            <a:pPr algn="l">
              <a:spcBef>
                <a:spcPts val="0"/>
              </a:spcBef>
              <a:spcAft>
                <a:spcPts val="600"/>
              </a:spcAft>
            </a:pPr>
            <a:r>
              <a:rPr sz="1300" b="0">
                <a:solidFill>
                  <a:srgbClr val="1A2A36"/>
                </a:solidFill>
                <a:latin typeface="Apple SD Gothic Neo"/>
                <a:ea typeface="Apple SD Gothic Neo"/>
                <a:cs typeface="Apple SD Gothic Neo"/>
              </a:rPr>
              <a:t>원칙: 안전권(≥6.5Å)에서 구조 모듈 + 표면 손잡이가 있는 자리부터.</a:t>
            </a:r>
          </a:p>
          <a:p>
            <a:pPr algn="l">
              <a:spcBef>
                <a:spcPts val="0"/>
              </a:spcBef>
              <a:spcAft>
                <a:spcPts val="600"/>
              </a:spcAft>
            </a:pPr>
            <a:r>
              <a:rPr sz="1300" b="0">
                <a:solidFill>
                  <a:srgbClr val="1A2A36"/>
                </a:solidFill>
                <a:latin typeface="Apple SD Gothic Neo"/>
                <a:ea typeface="Apple SD Gothic Neo"/>
                <a:cs typeface="Apple SD Gothic Neo"/>
              </a:rPr>
              <a:t>주의: 6.5Å은 마법의 숫자가 아님 → 자문 질문 1순위.</a:t>
            </a:r>
          </a:p>
        </p:txBody>
      </p:sp>
      <p:sp>
        <p:nvSpPr>
          <p:cNvPr id="12" name="Rectangle 1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05 Arg88</a:t>
            </a:r>
          </a:p>
        </p:txBody>
      </p:sp>
      <p:sp>
        <p:nvSpPr>
          <p:cNvPr id="14" name="TextBox 13"/>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AlphaFold Server — WT vs S152I (해석 규율 포함)</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좌표가 비슷하다고 해서 안정·무해가 아니다</a:t>
            </a:r>
          </a:p>
        </p:txBody>
      </p:sp>
      <p:sp>
        <p:nvSpPr>
          <p:cNvPr id="6" name="Rounded Rectangle 5"/>
          <p:cNvSpPr/>
          <p:nvPr/>
        </p:nvSpPr>
        <p:spPr>
          <a:xfrm>
            <a:off x="320040" y="1097280"/>
            <a:ext cx="5852160" cy="3017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34440"/>
            <a:ext cx="5486400" cy="32004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핵심 수치 (model_0, UniProt 34–550)</a:t>
            </a:r>
          </a:p>
        </p:txBody>
      </p:sp>
      <p:sp>
        <p:nvSpPr>
          <p:cNvPr id="8" name="TextBox 7"/>
          <p:cNvSpPr txBox="1"/>
          <p:nvPr/>
        </p:nvSpPr>
        <p:spPr>
          <a:xfrm>
            <a:off x="502920" y="169164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Global Cα RMSD</a:t>
            </a:r>
          </a:p>
        </p:txBody>
      </p:sp>
      <p:sp>
        <p:nvSpPr>
          <p:cNvPr id="9" name="TextBox 8"/>
          <p:cNvSpPr txBox="1"/>
          <p:nvPr/>
        </p:nvSpPr>
        <p:spPr>
          <a:xfrm>
            <a:off x="3657600" y="169164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0.372 Å</a:t>
            </a:r>
          </a:p>
        </p:txBody>
      </p:sp>
      <p:sp>
        <p:nvSpPr>
          <p:cNvPr id="10" name="TextBox 9"/>
          <p:cNvSpPr txBox="1"/>
          <p:nvPr/>
        </p:nvSpPr>
        <p:spPr>
          <a:xfrm>
            <a:off x="502920" y="205740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Local U145–155 RMSD</a:t>
            </a:r>
          </a:p>
        </p:txBody>
      </p:sp>
      <p:sp>
        <p:nvSpPr>
          <p:cNvPr id="11" name="TextBox 10"/>
          <p:cNvSpPr txBox="1"/>
          <p:nvPr/>
        </p:nvSpPr>
        <p:spPr>
          <a:xfrm>
            <a:off x="3657600" y="205740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0.274 Å</a:t>
            </a:r>
          </a:p>
        </p:txBody>
      </p:sp>
      <p:sp>
        <p:nvSpPr>
          <p:cNvPr id="12" name="TextBox 11"/>
          <p:cNvSpPr txBox="1"/>
          <p:nvPr/>
        </p:nvSpPr>
        <p:spPr>
          <a:xfrm>
            <a:off x="502920" y="242316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pTM WT / S152I</a:t>
            </a:r>
          </a:p>
        </p:txBody>
      </p:sp>
      <p:sp>
        <p:nvSpPr>
          <p:cNvPr id="13" name="TextBox 12"/>
          <p:cNvSpPr txBox="1"/>
          <p:nvPr/>
        </p:nvSpPr>
        <p:spPr>
          <a:xfrm>
            <a:off x="3657600" y="242316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0.97 / 0.96</a:t>
            </a:r>
          </a:p>
        </p:txBody>
      </p:sp>
      <p:sp>
        <p:nvSpPr>
          <p:cNvPr id="14" name="TextBox 13"/>
          <p:cNvSpPr txBox="1"/>
          <p:nvPr/>
        </p:nvSpPr>
        <p:spPr>
          <a:xfrm>
            <a:off x="502920" y="278892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pLDDT U152</a:t>
            </a:r>
          </a:p>
        </p:txBody>
      </p:sp>
      <p:sp>
        <p:nvSpPr>
          <p:cNvPr id="15" name="TextBox 14"/>
          <p:cNvSpPr txBox="1"/>
          <p:nvPr/>
        </p:nvSpPr>
        <p:spPr>
          <a:xfrm>
            <a:off x="3657600" y="278892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98.8 → 84.2</a:t>
            </a:r>
          </a:p>
        </p:txBody>
      </p:sp>
      <p:sp>
        <p:nvSpPr>
          <p:cNvPr id="16" name="TextBox 15"/>
          <p:cNvSpPr txBox="1"/>
          <p:nvPr/>
        </p:nvSpPr>
        <p:spPr>
          <a:xfrm>
            <a:off x="502920" y="315468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pLDDT U110–160 mean</a:t>
            </a:r>
          </a:p>
        </p:txBody>
      </p:sp>
      <p:sp>
        <p:nvSpPr>
          <p:cNvPr id="17" name="TextBox 16"/>
          <p:cNvSpPr txBox="1"/>
          <p:nvPr/>
        </p:nvSpPr>
        <p:spPr>
          <a:xfrm>
            <a:off x="3657600" y="315468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98.15 → 91.38</a:t>
            </a:r>
          </a:p>
        </p:txBody>
      </p:sp>
      <p:sp>
        <p:nvSpPr>
          <p:cNvPr id="18" name="TextBox 17"/>
          <p:cNvSpPr txBox="1"/>
          <p:nvPr/>
        </p:nvSpPr>
        <p:spPr>
          <a:xfrm>
            <a:off x="502920" y="3520440"/>
            <a:ext cx="3200400" cy="320040"/>
          </a:xfrm>
          <a:prstGeom prst="rect">
            <a:avLst/>
          </a:prstGeom>
          <a:noFill/>
        </p:spPr>
        <p:txBody>
          <a:bodyPr wrap="square" anchor="t"/>
          <a:lstStyle/>
          <a:p>
            <a:pPr algn="l"/>
            <a:r>
              <a:rPr sz="1300" b="0">
                <a:solidFill>
                  <a:srgbClr val="5A6A75"/>
                </a:solidFill>
                <a:latin typeface="Apple SD Gothic Neo"/>
                <a:ea typeface="Apple SD Gothic Neo"/>
                <a:cs typeface="Apple SD Gothic Neo"/>
              </a:rPr>
              <a:t>Cα dev at U152</a:t>
            </a:r>
          </a:p>
        </p:txBody>
      </p:sp>
      <p:sp>
        <p:nvSpPr>
          <p:cNvPr id="19" name="TextBox 18"/>
          <p:cNvSpPr txBox="1"/>
          <p:nvPr/>
        </p:nvSpPr>
        <p:spPr>
          <a:xfrm>
            <a:off x="3657600" y="3520440"/>
            <a:ext cx="2286000" cy="320040"/>
          </a:xfrm>
          <a:prstGeom prst="rect">
            <a:avLst/>
          </a:prstGeom>
          <a:noFill/>
        </p:spPr>
        <p:txBody>
          <a:bodyPr wrap="square" anchor="t"/>
          <a:lstStyle/>
          <a:p>
            <a:pPr algn="l"/>
            <a:r>
              <a:rPr sz="1300" b="1">
                <a:solidFill>
                  <a:srgbClr val="0B1F33"/>
                </a:solidFill>
                <a:latin typeface="Apple SD Gothic Neo"/>
                <a:ea typeface="Apple SD Gothic Neo"/>
                <a:cs typeface="Apple SD Gothic Neo"/>
              </a:rPr>
              <a:t>0.909 Å</a:t>
            </a:r>
          </a:p>
        </p:txBody>
      </p:sp>
      <p:sp>
        <p:nvSpPr>
          <p:cNvPr id="20" name="Rounded Rectangle 19"/>
          <p:cNvSpPr/>
          <p:nvPr/>
        </p:nvSpPr>
        <p:spPr>
          <a:xfrm>
            <a:off x="6355080" y="1097280"/>
            <a:ext cx="5440680" cy="3017520"/>
          </a:xfrm>
          <a:prstGeom prst="roundRect">
            <a:avLst>
              <a:gd name="adj" fmla="val 6000"/>
            </a:avLst>
          </a:prstGeom>
          <a:solidFill>
            <a:srgbClr val="FEF3D6"/>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1234440"/>
            <a:ext cx="5029200" cy="320040"/>
          </a:xfrm>
          <a:prstGeom prst="rect">
            <a:avLst/>
          </a:prstGeom>
          <a:noFill/>
        </p:spPr>
        <p:txBody>
          <a:bodyPr wrap="square" anchor="t"/>
          <a:lstStyle/>
          <a:p>
            <a:pPr algn="l"/>
            <a:r>
              <a:rPr sz="1300" b="1">
                <a:solidFill>
                  <a:srgbClr val="E89B0C"/>
                </a:solidFill>
                <a:latin typeface="Apple SD Gothic Neo"/>
                <a:ea typeface="Apple SD Gothic Neo"/>
                <a:cs typeface="Apple SD Gothic Neo"/>
              </a:rPr>
              <a:t>해석 — 지지 / 기각불가 / 금지</a:t>
            </a:r>
          </a:p>
        </p:txBody>
      </p:sp>
      <p:sp>
        <p:nvSpPr>
          <p:cNvPr id="22" name="TextBox 21"/>
          <p:cNvSpPr txBox="1"/>
          <p:nvPr/>
        </p:nvSpPr>
        <p:spPr>
          <a:xfrm>
            <a:off x="6537960" y="1691640"/>
            <a:ext cx="5029200" cy="21945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지지: 접힌 native-like 좌표는 양쪽에 존재 가능.
대붕괴 misfolding 전제는 약화.
기각 못함: ERAD · ΔΔG · 잔존활성 · 배달.
금지: RMSD 작다=무해 · pLDDT 높다=치료불필요.
다음: template-off 교차 · FoldX/Rosetta ΔΔG.</a:t>
            </a:r>
          </a:p>
        </p:txBody>
      </p:sp>
      <p:sp>
        <p:nvSpPr>
          <p:cNvPr id="23" name="Rounded Rectangle 22"/>
          <p:cNvSpPr/>
          <p:nvPr/>
        </p:nvSpPr>
        <p:spPr>
          <a:xfrm>
            <a:off x="320040" y="4297680"/>
            <a:ext cx="11475720" cy="1965960"/>
          </a:xfrm>
          <a:prstGeom prst="roundRect">
            <a:avLst>
              <a:gd name="adj" fmla="val 6000"/>
            </a:avLst>
          </a:prstGeom>
          <a:solidFill>
            <a:srgbClr val="EDE6F5"/>
          </a:solidFill>
          <a:ln w="12700">
            <a:solidFill>
              <a:srgbClr val="6B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434840"/>
            <a:ext cx="11155680" cy="320040"/>
          </a:xfrm>
          <a:prstGeom prst="rect">
            <a:avLst/>
          </a:prstGeom>
          <a:noFill/>
        </p:spPr>
        <p:txBody>
          <a:bodyPr wrap="square" anchor="t"/>
          <a:lstStyle/>
          <a:p>
            <a:pPr algn="l"/>
            <a:r>
              <a:rPr sz="1300" b="1">
                <a:solidFill>
                  <a:srgbClr val="6B4C9A"/>
                </a:solidFill>
                <a:latin typeface="Apple SD Gothic Neo"/>
                <a:ea typeface="Apple SD Gothic Neo"/>
                <a:cs typeface="Apple SD Gothic Neo"/>
              </a:rPr>
              <a:t>패러다임 전환 (본 연구자의 핵심 통찰)</a:t>
            </a:r>
          </a:p>
        </p:txBody>
      </p:sp>
      <p:sp>
        <p:nvSpPr>
          <p:cNvPr id="25" name="TextBox 24"/>
          <p:cNvSpPr txBox="1"/>
          <p:nvPr/>
        </p:nvSpPr>
        <p:spPr>
          <a:xfrm>
            <a:off x="502920" y="4846320"/>
            <a:ext cx="11155680" cy="12344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AlphaFold는 물리학(ΔG)보다 MSA 진화 합의에 크게 의존한다. 점 돌연변이 하나가 MSA 전체를 바꾸지 않으므로
내부 코어 충돌이 있어도 WT 뼈대에 억지 끼워 맞춘 ‘예쁜 그림’이 나올 수 있다. 따라서 hotspot 검증의 중심축을
‘backbone RMSD 비교’에서 ‘구조 주석 + 열역학(ΔΔG) + 세포 전제’로 옮긴 것이 IDSX의 방법론적 정체성이다.
이 전환은 실패가 아니라, 도구의 작동 원리를 이해한 뒤의 설계 선택이다.</a:t>
            </a:r>
          </a:p>
        </p:txBody>
      </p:sp>
      <p:sp>
        <p:nvSpPr>
          <p:cNvPr id="26" name="Rectangle 2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AF</a:t>
            </a:r>
          </a:p>
        </p:txBody>
      </p:sp>
      <p:sp>
        <p:nvSpPr>
          <p:cNvPr id="28" name="TextBox 2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AF 시각 자료</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오버레이 · 프로파일 · 모듈 줌</a:t>
            </a:r>
          </a:p>
        </p:txBody>
      </p:sp>
      <p:pic>
        <p:nvPicPr>
          <p:cNvPr id="6" name="Picture 5" descr="AF3_structure_overlay_WT_S152I.png"/>
          <p:cNvPicPr>
            <a:picLocks noChangeAspect="1"/>
          </p:cNvPicPr>
          <p:nvPr/>
        </p:nvPicPr>
        <p:blipFill>
          <a:blip r:embed="rId2"/>
          <a:stretch>
            <a:fillRect/>
          </a:stretch>
        </p:blipFill>
        <p:spPr>
          <a:xfrm>
            <a:off x="228600" y="1051560"/>
            <a:ext cx="3840480" cy="5212080"/>
          </a:xfrm>
          <a:prstGeom prst="rect">
            <a:avLst/>
          </a:prstGeom>
        </p:spPr>
      </p:pic>
      <p:pic>
        <p:nvPicPr>
          <p:cNvPr id="7" name="Picture 6" descr="Fig_AF3_WT_vs_S152I_profiles.png"/>
          <p:cNvPicPr>
            <a:picLocks noChangeAspect="1"/>
          </p:cNvPicPr>
          <p:nvPr/>
        </p:nvPicPr>
        <p:blipFill>
          <a:blip r:embed="rId3"/>
          <a:stretch>
            <a:fillRect/>
          </a:stretch>
        </p:blipFill>
        <p:spPr>
          <a:xfrm>
            <a:off x="4160520" y="1051560"/>
            <a:ext cx="3840480" cy="5212080"/>
          </a:xfrm>
          <a:prstGeom prst="rect">
            <a:avLst/>
          </a:prstGeom>
        </p:spPr>
      </p:pic>
      <p:pic>
        <p:nvPicPr>
          <p:cNvPr id="8" name="Picture 7" descr="Fig_AF3_zoom_module.png"/>
          <p:cNvPicPr>
            <a:picLocks noChangeAspect="1"/>
          </p:cNvPicPr>
          <p:nvPr/>
        </p:nvPicPr>
        <p:blipFill>
          <a:blip r:embed="rId4"/>
          <a:stretch>
            <a:fillRect/>
          </a:stretch>
        </p:blipFill>
        <p:spPr>
          <a:xfrm>
            <a:off x="8092440" y="1051560"/>
            <a:ext cx="3840480" cy="5212080"/>
          </a:xfrm>
          <a:prstGeom prst="rect">
            <a:avLst/>
          </a:prstGeom>
        </p:spPr>
      </p:pic>
      <p:sp>
        <p:nvSpPr>
          <p:cNvPr id="9" name="Rectangle 8"/>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AF img</a:t>
            </a:r>
          </a:p>
        </p:txBody>
      </p:sp>
      <p:sp>
        <p:nvSpPr>
          <p:cNvPr id="11" name="TextBox 10"/>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ΔΔG / CTSS 층 — 그리고 트랙 긴장 (정직하게)</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에너지 폭발 ≠ 약물 접근 가능. 두 트랙을 한 문장으로 섞지 않는다.</a:t>
            </a:r>
          </a:p>
        </p:txBody>
      </p:sp>
      <p:sp>
        <p:nvSpPr>
          <p:cNvPr id="6" name="Rounded Rectangle 5"/>
          <p:cNvSpPr/>
          <p:nvPr/>
        </p:nvSpPr>
        <p:spPr>
          <a:xfrm>
            <a:off x="320040" y="1097280"/>
            <a:ext cx="5760720" cy="512064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34440"/>
            <a:ext cx="539496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EvoEF2 ΔΔG (kcal/mol) 일부</a:t>
            </a:r>
          </a:p>
        </p:txBody>
      </p:sp>
      <p:sp>
        <p:nvSpPr>
          <p:cNvPr id="8" name="TextBox 7"/>
          <p:cNvSpPr txBox="1"/>
          <p:nvPr/>
        </p:nvSpPr>
        <p:spPr>
          <a:xfrm>
            <a:off x="502920" y="1737360"/>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C422F</a:t>
            </a:r>
          </a:p>
        </p:txBody>
      </p:sp>
      <p:sp>
        <p:nvSpPr>
          <p:cNvPr id="9" name="TextBox 8"/>
          <p:cNvSpPr txBox="1"/>
          <p:nvPr/>
        </p:nvSpPr>
        <p:spPr>
          <a:xfrm>
            <a:off x="1920240" y="1737360"/>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+121.62</a:t>
            </a:r>
          </a:p>
        </p:txBody>
      </p:sp>
      <p:sp>
        <p:nvSpPr>
          <p:cNvPr id="10" name="TextBox 9"/>
          <p:cNvSpPr txBox="1"/>
          <p:nvPr/>
        </p:nvSpPr>
        <p:spPr>
          <a:xfrm>
            <a:off x="3383280" y="1737360"/>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이황화 파괴 + 거대 방향족</a:t>
            </a:r>
          </a:p>
        </p:txBody>
      </p:sp>
      <p:sp>
        <p:nvSpPr>
          <p:cNvPr id="11" name="TextBox 10"/>
          <p:cNvSpPr txBox="1"/>
          <p:nvPr/>
        </p:nvSpPr>
        <p:spPr>
          <a:xfrm>
            <a:off x="502920" y="2377439"/>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C184W</a:t>
            </a:r>
          </a:p>
        </p:txBody>
      </p:sp>
      <p:sp>
        <p:nvSpPr>
          <p:cNvPr id="12" name="TextBox 11"/>
          <p:cNvSpPr txBox="1"/>
          <p:nvPr/>
        </p:nvSpPr>
        <p:spPr>
          <a:xfrm>
            <a:off x="1920240" y="2377439"/>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+111.32</a:t>
            </a:r>
          </a:p>
        </p:txBody>
      </p:sp>
      <p:sp>
        <p:nvSpPr>
          <p:cNvPr id="13" name="TextBox 12"/>
          <p:cNvSpPr txBox="1"/>
          <p:nvPr/>
        </p:nvSpPr>
        <p:spPr>
          <a:xfrm>
            <a:off x="3383280" y="2377439"/>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이황화 파괴 + Trp 삽입</a:t>
            </a:r>
          </a:p>
        </p:txBody>
      </p:sp>
      <p:sp>
        <p:nvSpPr>
          <p:cNvPr id="14" name="TextBox 13"/>
          <p:cNvSpPr txBox="1"/>
          <p:nvPr/>
        </p:nvSpPr>
        <p:spPr>
          <a:xfrm>
            <a:off x="502920" y="3017520"/>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S152I</a:t>
            </a:r>
          </a:p>
        </p:txBody>
      </p:sp>
      <p:sp>
        <p:nvSpPr>
          <p:cNvPr id="15" name="TextBox 14"/>
          <p:cNvSpPr txBox="1"/>
          <p:nvPr/>
        </p:nvSpPr>
        <p:spPr>
          <a:xfrm>
            <a:off x="1920240" y="3017520"/>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+46.02</a:t>
            </a:r>
          </a:p>
        </p:txBody>
      </p:sp>
      <p:sp>
        <p:nvSpPr>
          <p:cNvPr id="16" name="TextBox 15"/>
          <p:cNvSpPr txBox="1"/>
          <p:nvPr/>
        </p:nvSpPr>
        <p:spPr>
          <a:xfrm>
            <a:off x="3383280" y="3017520"/>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코어 모듈 · 중간 고에너지</a:t>
            </a:r>
          </a:p>
        </p:txBody>
      </p:sp>
      <p:sp>
        <p:nvSpPr>
          <p:cNvPr id="17" name="TextBox 16"/>
          <p:cNvSpPr txBox="1"/>
          <p:nvPr/>
        </p:nvSpPr>
        <p:spPr>
          <a:xfrm>
            <a:off x="502920" y="3657599"/>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L339P</a:t>
            </a:r>
          </a:p>
        </p:txBody>
      </p:sp>
      <p:sp>
        <p:nvSpPr>
          <p:cNvPr id="18" name="TextBox 17"/>
          <p:cNvSpPr txBox="1"/>
          <p:nvPr/>
        </p:nvSpPr>
        <p:spPr>
          <a:xfrm>
            <a:off x="1920240" y="3657599"/>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+38.97</a:t>
            </a:r>
          </a:p>
        </p:txBody>
      </p:sp>
      <p:sp>
        <p:nvSpPr>
          <p:cNvPr id="19" name="TextBox 18"/>
          <p:cNvSpPr txBox="1"/>
          <p:nvPr/>
        </p:nvSpPr>
        <p:spPr>
          <a:xfrm>
            <a:off x="3383280" y="3657599"/>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헬릭스 kink</a:t>
            </a:r>
          </a:p>
        </p:txBody>
      </p:sp>
      <p:sp>
        <p:nvSpPr>
          <p:cNvPr id="20" name="TextBox 19"/>
          <p:cNvSpPr txBox="1"/>
          <p:nvPr/>
        </p:nvSpPr>
        <p:spPr>
          <a:xfrm>
            <a:off x="502920" y="4297679"/>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W345R</a:t>
            </a:r>
          </a:p>
        </p:txBody>
      </p:sp>
      <p:sp>
        <p:nvSpPr>
          <p:cNvPr id="21" name="TextBox 20"/>
          <p:cNvSpPr txBox="1"/>
          <p:nvPr/>
        </p:nvSpPr>
        <p:spPr>
          <a:xfrm>
            <a:off x="1920240" y="4297679"/>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+31.97</a:t>
            </a:r>
          </a:p>
        </p:txBody>
      </p:sp>
      <p:sp>
        <p:nvSpPr>
          <p:cNvPr id="22" name="TextBox 21"/>
          <p:cNvSpPr txBox="1"/>
          <p:nvPr/>
        </p:nvSpPr>
        <p:spPr>
          <a:xfrm>
            <a:off x="3383280" y="4297679"/>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코어 전하</a:t>
            </a:r>
          </a:p>
        </p:txBody>
      </p:sp>
      <p:sp>
        <p:nvSpPr>
          <p:cNvPr id="23" name="TextBox 22"/>
          <p:cNvSpPr txBox="1"/>
          <p:nvPr/>
        </p:nvSpPr>
        <p:spPr>
          <a:xfrm>
            <a:off x="502920" y="4937760"/>
            <a:ext cx="137160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V503D</a:t>
            </a:r>
          </a:p>
        </p:txBody>
      </p:sp>
      <p:sp>
        <p:nvSpPr>
          <p:cNvPr id="24" name="TextBox 23"/>
          <p:cNvSpPr txBox="1"/>
          <p:nvPr/>
        </p:nvSpPr>
        <p:spPr>
          <a:xfrm>
            <a:off x="1920240" y="4937760"/>
            <a:ext cx="13716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+7.91</a:t>
            </a:r>
          </a:p>
        </p:txBody>
      </p:sp>
      <p:sp>
        <p:nvSpPr>
          <p:cNvPr id="25" name="TextBox 24"/>
          <p:cNvSpPr txBox="1"/>
          <p:nvPr/>
        </p:nvSpPr>
        <p:spPr>
          <a:xfrm>
            <a:off x="3383280" y="4937760"/>
            <a:ext cx="2468880" cy="50292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코어 극성</a:t>
            </a:r>
          </a:p>
        </p:txBody>
      </p:sp>
      <p:sp>
        <p:nvSpPr>
          <p:cNvPr id="26" name="Rounded Rectangle 25"/>
          <p:cNvSpPr/>
          <p:nvPr/>
        </p:nvSpPr>
        <p:spPr>
          <a:xfrm>
            <a:off x="6263640" y="1097280"/>
            <a:ext cx="5577840" cy="5120640"/>
          </a:xfrm>
          <a:prstGeom prst="roundRect">
            <a:avLst>
              <a:gd name="adj" fmla="val 6000"/>
            </a:avLst>
          </a:prstGeom>
          <a:solidFill>
            <a:srgbClr val="FEF3D6"/>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234440"/>
            <a:ext cx="5120640" cy="365760"/>
          </a:xfrm>
          <a:prstGeom prst="rect">
            <a:avLst/>
          </a:prstGeom>
          <a:noFill/>
        </p:spPr>
        <p:txBody>
          <a:bodyPr wrap="square" anchor="t"/>
          <a:lstStyle/>
          <a:p>
            <a:pPr algn="l"/>
            <a:r>
              <a:rPr sz="1400" b="1">
                <a:solidFill>
                  <a:srgbClr val="E89B0C"/>
                </a:solidFill>
                <a:latin typeface="Apple SD Gothic Neo"/>
                <a:ea typeface="Apple SD Gothic Neo"/>
                <a:cs typeface="Apple SD Gothic Neo"/>
              </a:rPr>
              <a:t>두 트랙의 긴장 — 숨기지 않는다</a:t>
            </a:r>
          </a:p>
        </p:txBody>
      </p:sp>
      <p:sp>
        <p:nvSpPr>
          <p:cNvPr id="28" name="TextBox 27"/>
          <p:cNvSpPr txBox="1"/>
          <p:nvPr/>
        </p:nvSpPr>
        <p:spPr>
          <a:xfrm>
            <a:off x="6492240" y="1737360"/>
            <a:ext cx="5120640" cy="420624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Track A (Amenability / 바인더 논리)
• Ser152 같은 매장 모듈: 구제 논리는 ‘인접 표면 패치’
• CTSS 관점 SASA≈0 → ‘변이 잔기 직접 소분자’에는 undruggable
• 그러나 알로스테릭 클램프는 여전히 가설로 남음
Track B (Neo-pocket / 소분자 클램프)
• C422F/Y: 고 ΔΔG + 표면 노출 소수성 틈 (CTSS 상위)
• 파마코포어: 양극성 클램프 + 중심 방향족
• Hard EXCLUDE 이황화 파괴형 → PC 반응 낮을 수 있음
  (amenability 규칙과 충돌 가능 — 자문 필수)
연구 원칙: 트랙을 섞어 ‘하나의 치료 스토리’로 포장하지 않는다.
각각 다른 결함 모드 · 다른 모달리티 · 다른 성공 기준.</a:t>
            </a:r>
          </a:p>
        </p:txBody>
      </p:sp>
      <p:sp>
        <p:nvSpPr>
          <p:cNvPr id="29" name="Rectangle 28"/>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Tension</a:t>
            </a:r>
          </a:p>
        </p:txBody>
      </p:sp>
      <p:sp>
        <p:nvSpPr>
          <p:cNvPr id="31" name="TextBox 30"/>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04 · CTSS 산점도 · C422F neo-pocket (Track B 자료)</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노출(SASA)×에너지×소수성 — 소분자 접근성 렌즈</a:t>
            </a:r>
          </a:p>
        </p:txBody>
      </p:sp>
      <p:pic>
        <p:nvPicPr>
          <p:cNvPr id="6" name="Picture 5" descr="ctss_scatter.png"/>
          <p:cNvPicPr>
            <a:picLocks noChangeAspect="1"/>
          </p:cNvPicPr>
          <p:nvPr/>
        </p:nvPicPr>
        <p:blipFill>
          <a:blip r:embed="rId2"/>
          <a:stretch>
            <a:fillRect/>
          </a:stretch>
        </p:blipFill>
        <p:spPr>
          <a:xfrm>
            <a:off x="274320" y="1051560"/>
            <a:ext cx="5943600" cy="5212080"/>
          </a:xfrm>
          <a:prstGeom prst="rect">
            <a:avLst/>
          </a:prstGeom>
        </p:spPr>
      </p:pic>
      <p:pic>
        <p:nvPicPr>
          <p:cNvPr id="7" name="Picture 6" descr="c422f_pocket.png"/>
          <p:cNvPicPr>
            <a:picLocks noChangeAspect="1"/>
          </p:cNvPicPr>
          <p:nvPr/>
        </p:nvPicPr>
        <p:blipFill>
          <a:blip r:embed="rId3"/>
          <a:stretch>
            <a:fillRect/>
          </a:stretch>
        </p:blipFill>
        <p:spPr>
          <a:xfrm>
            <a:off x="6355080" y="1051560"/>
            <a:ext cx="5486400" cy="5212080"/>
          </a:xfrm>
          <a:prstGeom prst="rect">
            <a:avLst/>
          </a:prstGeom>
        </p:spPr>
      </p:pic>
      <p:sp>
        <p:nvSpPr>
          <p:cNvPr id="8" name="Rectangle 7"/>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04 CTSS</a:t>
            </a:r>
          </a:p>
        </p:txBody>
      </p:sp>
      <p:sp>
        <p:nvSpPr>
          <p:cNvPr id="10" name="TextBox 9"/>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06 · 로직 강도 맵 — 어디가 단단하고 어디가 열려 있는가</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자문·리뷰어에게 가장 정직한 슬라이드</a:t>
            </a:r>
          </a:p>
        </p:txBody>
      </p:sp>
      <p:sp>
        <p:nvSpPr>
          <p:cNvPr id="6" name="Rounded Rectangle 5"/>
          <p:cNvSpPr/>
          <p:nvPr/>
        </p:nvSpPr>
        <p:spPr>
          <a:xfrm>
            <a:off x="365760" y="109728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네트워크·competence 프레임</a:t>
            </a:r>
          </a:p>
        </p:txBody>
      </p:sp>
      <p:sp>
        <p:nvSpPr>
          <p:cNvPr id="8" name="TextBox 7"/>
          <p:cNvSpPr txBox="1"/>
          <p:nvPr/>
        </p:nvSpPr>
        <p:spPr>
          <a:xfrm>
            <a:off x="5760720" y="1234440"/>
            <a:ext cx="182880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a:t>
            </a:r>
          </a:p>
        </p:txBody>
      </p:sp>
      <p:sp>
        <p:nvSpPr>
          <p:cNvPr id="9" name="TextBox 8"/>
          <p:cNvSpPr txBox="1"/>
          <p:nvPr/>
        </p:nvSpPr>
        <p:spPr>
          <a:xfrm>
            <a:off x="7680960" y="123444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방법론적으로 탄탄</a:t>
            </a:r>
          </a:p>
        </p:txBody>
      </p:sp>
      <p:sp>
        <p:nvSpPr>
          <p:cNvPr id="10" name="Rounded Rectangle 9"/>
          <p:cNvSpPr/>
          <p:nvPr/>
        </p:nvSpPr>
        <p:spPr>
          <a:xfrm>
            <a:off x="365760" y="173736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2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Ser152 구조 모듈 서술</a:t>
            </a:r>
          </a:p>
        </p:txBody>
      </p:sp>
      <p:sp>
        <p:nvSpPr>
          <p:cNvPr id="12" name="TextBox 11"/>
          <p:cNvSpPr txBox="1"/>
          <p:nvPr/>
        </p:nvSpPr>
        <p:spPr>
          <a:xfrm>
            <a:off x="5760720" y="1874520"/>
            <a:ext cx="182880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a:t>
            </a:r>
          </a:p>
        </p:txBody>
      </p:sp>
      <p:sp>
        <p:nvSpPr>
          <p:cNvPr id="13" name="TextBox 12"/>
          <p:cNvSpPr txBox="1"/>
          <p:nvPr/>
        </p:nvSpPr>
        <p:spPr>
          <a:xfrm>
            <a:off x="7680960" y="187452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5FQL H-bond·RSA·거리 뒷받침</a:t>
            </a:r>
          </a:p>
        </p:txBody>
      </p:sp>
      <p:sp>
        <p:nvSpPr>
          <p:cNvPr id="14" name="Rounded Rectangle 13"/>
          <p:cNvSpPr/>
          <p:nvPr/>
        </p:nvSpPr>
        <p:spPr>
          <a:xfrm>
            <a:off x="365760" y="2377439"/>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514599"/>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Amenability triage 규칙</a:t>
            </a:r>
          </a:p>
        </p:txBody>
      </p:sp>
      <p:sp>
        <p:nvSpPr>
          <p:cNvPr id="16" name="TextBox 15"/>
          <p:cNvSpPr txBox="1"/>
          <p:nvPr/>
        </p:nvSpPr>
        <p:spPr>
          <a:xfrm>
            <a:off x="5760720" y="2514599"/>
            <a:ext cx="1828800" cy="320040"/>
          </a:xfrm>
          <a:prstGeom prst="rect">
            <a:avLst/>
          </a:prstGeom>
          <a:noFill/>
        </p:spPr>
        <p:txBody>
          <a:bodyPr wrap="square" anchor="t"/>
          <a:lstStyle/>
          <a:p>
            <a:pPr algn="l"/>
            <a:r>
              <a:rPr sz="1400" b="1">
                <a:solidFill>
                  <a:srgbClr val="E89B0C"/>
                </a:solidFill>
                <a:latin typeface="Apple SD Gothic Neo"/>
                <a:ea typeface="Apple SD Gothic Neo"/>
                <a:cs typeface="Apple SD Gothic Neo"/>
              </a:rPr>
              <a:t>★★★☆☆</a:t>
            </a:r>
          </a:p>
        </p:txBody>
      </p:sp>
      <p:sp>
        <p:nvSpPr>
          <p:cNvPr id="17" name="TextBox 16"/>
          <p:cNvSpPr txBox="1"/>
          <p:nvPr/>
        </p:nvSpPr>
        <p:spPr>
          <a:xfrm>
            <a:off x="7680960" y="2514599"/>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재현 가능 · 컷오프는 자문 대상</a:t>
            </a:r>
          </a:p>
        </p:txBody>
      </p:sp>
      <p:sp>
        <p:nvSpPr>
          <p:cNvPr id="18" name="Rounded Rectangle 17"/>
          <p:cNvSpPr/>
          <p:nvPr/>
        </p:nvSpPr>
        <p:spPr>
          <a:xfrm>
            <a:off x="365760" y="301752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15468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에피토프 간접 안정화 전략</a:t>
            </a:r>
          </a:p>
        </p:txBody>
      </p:sp>
      <p:sp>
        <p:nvSpPr>
          <p:cNvPr id="20" name="TextBox 19"/>
          <p:cNvSpPr txBox="1"/>
          <p:nvPr/>
        </p:nvSpPr>
        <p:spPr>
          <a:xfrm>
            <a:off x="5760720" y="3154680"/>
            <a:ext cx="1828800" cy="320040"/>
          </a:xfrm>
          <a:prstGeom prst="rect">
            <a:avLst/>
          </a:prstGeom>
          <a:noFill/>
        </p:spPr>
        <p:txBody>
          <a:bodyPr wrap="square" anchor="t"/>
          <a:lstStyle/>
          <a:p>
            <a:pPr algn="l"/>
            <a:r>
              <a:rPr sz="1400" b="1">
                <a:solidFill>
                  <a:srgbClr val="E89B0C"/>
                </a:solidFill>
                <a:latin typeface="Apple SD Gothic Neo"/>
                <a:ea typeface="Apple SD Gothic Neo"/>
                <a:cs typeface="Apple SD Gothic Neo"/>
              </a:rPr>
              <a:t>★★★☆☆</a:t>
            </a:r>
          </a:p>
        </p:txBody>
      </p:sp>
      <p:sp>
        <p:nvSpPr>
          <p:cNvPr id="21" name="TextBox 20"/>
          <p:cNvSpPr txBox="1"/>
          <p:nvPr/>
        </p:nvSpPr>
        <p:spPr>
          <a:xfrm>
            <a:off x="7680960" y="315468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논리 일관 · 미검증</a:t>
            </a:r>
          </a:p>
        </p:txBody>
      </p:sp>
      <p:sp>
        <p:nvSpPr>
          <p:cNvPr id="22" name="Rounded Rectangle 21"/>
          <p:cNvSpPr/>
          <p:nvPr/>
        </p:nvSpPr>
        <p:spPr>
          <a:xfrm>
            <a:off x="365760" y="365760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79476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AF 해석 규율</a:t>
            </a:r>
          </a:p>
        </p:txBody>
      </p:sp>
      <p:sp>
        <p:nvSpPr>
          <p:cNvPr id="24" name="TextBox 23"/>
          <p:cNvSpPr txBox="1"/>
          <p:nvPr/>
        </p:nvSpPr>
        <p:spPr>
          <a:xfrm>
            <a:off x="5760720" y="3794760"/>
            <a:ext cx="182880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a:t>
            </a:r>
          </a:p>
        </p:txBody>
      </p:sp>
      <p:sp>
        <p:nvSpPr>
          <p:cNvPr id="25" name="TextBox 24"/>
          <p:cNvSpPr txBox="1"/>
          <p:nvPr/>
        </p:nvSpPr>
        <p:spPr>
          <a:xfrm>
            <a:off x="7680960" y="379476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과대/과소 방지 장치 명시</a:t>
            </a:r>
          </a:p>
        </p:txBody>
      </p:sp>
      <p:sp>
        <p:nvSpPr>
          <p:cNvPr id="26" name="Rounded Rectangle 25"/>
          <p:cNvSpPr/>
          <p:nvPr/>
        </p:nvSpPr>
        <p:spPr>
          <a:xfrm>
            <a:off x="365760" y="429768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43484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ΔΔG/CTSS 정량</a:t>
            </a:r>
          </a:p>
        </p:txBody>
      </p:sp>
      <p:sp>
        <p:nvSpPr>
          <p:cNvPr id="28" name="TextBox 27"/>
          <p:cNvSpPr txBox="1"/>
          <p:nvPr/>
        </p:nvSpPr>
        <p:spPr>
          <a:xfrm>
            <a:off x="5760720" y="4434840"/>
            <a:ext cx="1828800" cy="320040"/>
          </a:xfrm>
          <a:prstGeom prst="rect">
            <a:avLst/>
          </a:prstGeom>
          <a:noFill/>
        </p:spPr>
        <p:txBody>
          <a:bodyPr wrap="square" anchor="t"/>
          <a:lstStyle/>
          <a:p>
            <a:pPr algn="l"/>
            <a:r>
              <a:rPr sz="1400" b="1">
                <a:solidFill>
                  <a:srgbClr val="E89B0C"/>
                </a:solidFill>
                <a:latin typeface="Apple SD Gothic Neo"/>
                <a:ea typeface="Apple SD Gothic Neo"/>
                <a:cs typeface="Apple SD Gothic Neo"/>
              </a:rPr>
              <a:t>★★★☆☆</a:t>
            </a:r>
          </a:p>
        </p:txBody>
      </p:sp>
      <p:sp>
        <p:nvSpPr>
          <p:cNvPr id="29" name="TextBox 28"/>
          <p:cNvSpPr txBox="1"/>
          <p:nvPr/>
        </p:nvSpPr>
        <p:spPr>
          <a:xfrm>
            <a:off x="7680960" y="443484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유용 렌즈 · forcefield 한계·EXCLUDE 긴장</a:t>
            </a:r>
          </a:p>
        </p:txBody>
      </p:sp>
      <p:sp>
        <p:nvSpPr>
          <p:cNvPr id="30" name="Rounded Rectangle 29"/>
          <p:cNvSpPr/>
          <p:nvPr/>
        </p:nvSpPr>
        <p:spPr>
          <a:xfrm>
            <a:off x="365760" y="4937759"/>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074919"/>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세포·잔존활성 전제</a:t>
            </a:r>
          </a:p>
        </p:txBody>
      </p:sp>
      <p:sp>
        <p:nvSpPr>
          <p:cNvPr id="32" name="TextBox 31"/>
          <p:cNvSpPr txBox="1"/>
          <p:nvPr/>
        </p:nvSpPr>
        <p:spPr>
          <a:xfrm>
            <a:off x="5760720" y="5074919"/>
            <a:ext cx="18288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a:t>
            </a:r>
          </a:p>
        </p:txBody>
      </p:sp>
      <p:sp>
        <p:nvSpPr>
          <p:cNvPr id="33" name="TextBox 32"/>
          <p:cNvSpPr txBox="1"/>
          <p:nvPr/>
        </p:nvSpPr>
        <p:spPr>
          <a:xfrm>
            <a:off x="7680960" y="5074919"/>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클래스 문헌 · 대립유전자 실측 약함</a:t>
            </a:r>
          </a:p>
        </p:txBody>
      </p:sp>
      <p:sp>
        <p:nvSpPr>
          <p:cNvPr id="34" name="Rounded Rectangle 33"/>
          <p:cNvSpPr/>
          <p:nvPr/>
        </p:nvSpPr>
        <p:spPr>
          <a:xfrm>
            <a:off x="365760" y="5577840"/>
            <a:ext cx="11430000" cy="566928"/>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715000"/>
            <a:ext cx="5029200" cy="320040"/>
          </a:xfrm>
          <a:prstGeom prst="rect">
            <a:avLst/>
          </a:prstGeom>
          <a:noFill/>
        </p:spPr>
        <p:txBody>
          <a:bodyPr wrap="square" anchor="t"/>
          <a:lstStyle/>
          <a:p>
            <a:pPr algn="l"/>
            <a:r>
              <a:rPr sz="1300" b="1">
                <a:solidFill>
                  <a:srgbClr val="1A2A36"/>
                </a:solidFill>
                <a:latin typeface="Apple SD Gothic Neo"/>
                <a:ea typeface="Apple SD Gothic Neo"/>
                <a:cs typeface="Apple SD Gothic Neo"/>
              </a:rPr>
              <a:t>치료·구제 성공</a:t>
            </a:r>
          </a:p>
        </p:txBody>
      </p:sp>
      <p:sp>
        <p:nvSpPr>
          <p:cNvPr id="36" name="TextBox 35"/>
          <p:cNvSpPr txBox="1"/>
          <p:nvPr/>
        </p:nvSpPr>
        <p:spPr>
          <a:xfrm>
            <a:off x="5760720" y="5715000"/>
            <a:ext cx="1828800" cy="320040"/>
          </a:xfrm>
          <a:prstGeom prst="rect">
            <a:avLst/>
          </a:prstGeom>
          <a:noFill/>
        </p:spPr>
        <p:txBody>
          <a:bodyPr wrap="square" anchor="t"/>
          <a:lstStyle/>
          <a:p>
            <a:pPr algn="l"/>
            <a:r>
              <a:rPr sz="1400" b="1">
                <a:solidFill>
                  <a:srgbClr val="E85D4C"/>
                </a:solidFill>
                <a:latin typeface="Apple SD Gothic Neo"/>
                <a:ea typeface="Apple SD Gothic Neo"/>
                <a:cs typeface="Apple SD Gothic Neo"/>
              </a:rPr>
              <a:t>★☆☆☆☆</a:t>
            </a:r>
          </a:p>
        </p:txBody>
      </p:sp>
      <p:sp>
        <p:nvSpPr>
          <p:cNvPr id="37" name="TextBox 36"/>
          <p:cNvSpPr txBox="1"/>
          <p:nvPr/>
        </p:nvSpPr>
        <p:spPr>
          <a:xfrm>
            <a:off x="7680960" y="5715000"/>
            <a:ext cx="3931920" cy="32004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claim 금지 영역</a:t>
            </a:r>
          </a:p>
        </p:txBody>
      </p:sp>
      <p:sp>
        <p:nvSpPr>
          <p:cNvPr id="38" name="Rectangle 37"/>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06 Strength</a:t>
            </a:r>
          </a:p>
        </p:txBody>
      </p:sp>
      <p:sp>
        <p:nvSpPr>
          <p:cNvPr id="40" name="TextBox 39"/>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06 · 이 프로젝트의 유의미성 (왜 계속할 가치가 있는가)</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치료 과대선전이 아니라 과학·교육·진로 층에서</a:t>
            </a:r>
          </a:p>
        </p:txBody>
      </p:sp>
      <p:sp>
        <p:nvSpPr>
          <p:cNvPr id="6" name="Rounded Rectangle 5"/>
          <p:cNvSpPr/>
          <p:nvPr/>
        </p:nvSpPr>
        <p:spPr>
          <a:xfrm>
            <a:off x="320040"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과학</a:t>
            </a:r>
          </a:p>
        </p:txBody>
      </p:sp>
      <p:sp>
        <p:nvSpPr>
          <p:cNvPr id="9" name="TextBox 8"/>
          <p:cNvSpPr txBox="1"/>
          <p:nvPr/>
        </p:nvSpPr>
        <p:spPr>
          <a:xfrm>
            <a:off x="502920" y="1783080"/>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LSD PC 전략에서 가장 흔한 실패 모드 — ‘누구에게 시도할 것인가’ — 를 구조 규칙으로 사전 분리한다. 도구(RFdiffusion 등) 전에 질문과 필터를 고정하는 연구 문화 자체에 기여.</a:t>
            </a:r>
          </a:p>
        </p:txBody>
      </p:sp>
      <p:sp>
        <p:nvSpPr>
          <p:cNvPr id="10" name="Rounded Rectangle 9"/>
          <p:cNvSpPr/>
          <p:nvPr/>
        </p:nvSpPr>
        <p:spPr>
          <a:xfrm>
            <a:off x="4251959"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59" y="1143000"/>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39" y="1234440"/>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방법</a:t>
            </a:r>
          </a:p>
        </p:txBody>
      </p:sp>
      <p:sp>
        <p:nvSpPr>
          <p:cNvPr id="13" name="TextBox 12"/>
          <p:cNvSpPr txBox="1"/>
          <p:nvPr/>
        </p:nvSpPr>
        <p:spPr>
          <a:xfrm>
            <a:off x="4434839" y="1783080"/>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MSA-AI 착시 → 열역학·구조 주석으로 패러다임 전환을 문서화. 학부 수준에서도 재현 가능한 triage 프로토콜(규칙 사전등록·non-claim·에피토프 분리)을 제시.</a:t>
            </a:r>
          </a:p>
        </p:txBody>
      </p:sp>
      <p:sp>
        <p:nvSpPr>
          <p:cNvPr id="14" name="Rounded Rectangle 13"/>
          <p:cNvSpPr/>
          <p:nvPr/>
        </p:nvSpPr>
        <p:spPr>
          <a:xfrm>
            <a:off x="8183879"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1143000"/>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1234440"/>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임상 가교</a:t>
            </a:r>
          </a:p>
        </p:txBody>
      </p:sp>
      <p:sp>
        <p:nvSpPr>
          <p:cNvPr id="17" name="TextBox 16"/>
          <p:cNvSpPr txBox="1"/>
          <p:nvPr/>
        </p:nvSpPr>
        <p:spPr>
          <a:xfrm>
            <a:off x="8366759" y="1783080"/>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환자·가족이 오해하기 쉬운 ‘칼날이 없다 vs 배달이 안 된다’를 구조 언어로 구분. 개인 치료 권고는 금지하되, 대화의 정확성을 올린다.</a:t>
            </a:r>
          </a:p>
        </p:txBody>
      </p:sp>
      <p:sp>
        <p:nvSpPr>
          <p:cNvPr id="18" name="Rounded Rectangle 17"/>
          <p:cNvSpPr/>
          <p:nvPr/>
        </p:nvSpPr>
        <p:spPr>
          <a:xfrm>
            <a:off x="320040"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749039"/>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840479"/>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화학공학</a:t>
            </a:r>
          </a:p>
        </p:txBody>
      </p:sp>
      <p:sp>
        <p:nvSpPr>
          <p:cNvPr id="21" name="TextBox 20"/>
          <p:cNvSpPr txBox="1"/>
          <p:nvPr/>
        </p:nvSpPr>
        <p:spPr>
          <a:xfrm>
            <a:off x="502920" y="4389119"/>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공정 흐름도·결함 모드·KPI 계층·에너지 수지 사고를 단백질 질병에 이식. 전공 정체성이 반영된 독자적 프레임.</a:t>
            </a:r>
          </a:p>
        </p:txBody>
      </p:sp>
      <p:sp>
        <p:nvSpPr>
          <p:cNvPr id="22" name="Rounded Rectangle 21"/>
          <p:cNvSpPr/>
          <p:nvPr/>
        </p:nvSpPr>
        <p:spPr>
          <a:xfrm>
            <a:off x="4251959"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59" y="3749039"/>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39" y="3840479"/>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진로·협업</a:t>
            </a:r>
          </a:p>
        </p:txBody>
      </p:sp>
      <p:sp>
        <p:nvSpPr>
          <p:cNvPr id="25" name="TextBox 24"/>
          <p:cNvSpPr txBox="1"/>
          <p:nvPr/>
        </p:nvSpPr>
        <p:spPr>
          <a:xfrm>
            <a:off x="4434839" y="4389119"/>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구조생물·단백질공학·리소좀 임상의학 랩에 가져갈 수 있는 ‘완성된 질문 패키지’. 결과 자랑보다 critique를 요청하는 형식.</a:t>
            </a:r>
          </a:p>
        </p:txBody>
      </p:sp>
      <p:sp>
        <p:nvSpPr>
          <p:cNvPr id="26" name="Rounded Rectangle 25"/>
          <p:cNvSpPr/>
          <p:nvPr/>
        </p:nvSpPr>
        <p:spPr>
          <a:xfrm>
            <a:off x="8183879"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83879" y="3749039"/>
            <a:ext cx="3749039" cy="4572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59" y="3840479"/>
            <a:ext cx="338328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공개 기록</a:t>
            </a:r>
          </a:p>
        </p:txBody>
      </p:sp>
      <p:sp>
        <p:nvSpPr>
          <p:cNvPr id="29" name="TextBox 28"/>
          <p:cNvSpPr txBox="1"/>
          <p:nvPr/>
        </p:nvSpPr>
        <p:spPr>
          <a:xfrm>
            <a:off x="8366759" y="4389119"/>
            <a:ext cx="3383280" cy="164592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idsx-lab 포털로 claim/non-claim과 사고 궤적을 외부에 고정. 혼자 규칙을 유리하게 바꾸지 못하도록 자기 구속.</a:t>
            </a:r>
          </a:p>
        </p:txBody>
      </p:sp>
      <p:sp>
        <p:nvSpPr>
          <p:cNvPr id="30" name="Rectangle 29"/>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06 Significance</a:t>
            </a:r>
          </a:p>
        </p:txBody>
      </p:sp>
      <p:sp>
        <p:nvSpPr>
          <p:cNvPr id="32" name="TextBox 31"/>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06 · 리스크 레지스터 (알고 있는 실패 가능 지점)</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숨기지 않는 것이 전문가 신뢰</a:t>
            </a:r>
          </a:p>
        </p:txBody>
      </p:sp>
      <p:sp>
        <p:nvSpPr>
          <p:cNvPr id="6" name="Rounded Rectangle 5"/>
          <p:cNvSpPr/>
          <p:nvPr/>
        </p:nvSpPr>
        <p:spPr>
          <a:xfrm>
            <a:off x="320040" y="1097280"/>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371600"/>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81328"/>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R1</a:t>
            </a:r>
          </a:p>
        </p:txBody>
      </p:sp>
      <p:sp>
        <p:nvSpPr>
          <p:cNvPr id="9" name="TextBox 8"/>
          <p:cNvSpPr txBox="1"/>
          <p:nvPr/>
        </p:nvSpPr>
        <p:spPr>
          <a:xfrm>
            <a:off x="1463040" y="1280160"/>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ClinVar 라벨 노이즈</a:t>
            </a:r>
          </a:p>
        </p:txBody>
      </p:sp>
      <p:sp>
        <p:nvSpPr>
          <p:cNvPr id="10" name="TextBox 9"/>
          <p:cNvSpPr txBox="1"/>
          <p:nvPr/>
        </p:nvSpPr>
        <p:spPr>
          <a:xfrm>
            <a:off x="1463040" y="1645920"/>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병원성 가점이 틀림 → 잔존활성 문헌으로 교정</a:t>
            </a:r>
          </a:p>
        </p:txBody>
      </p:sp>
      <p:sp>
        <p:nvSpPr>
          <p:cNvPr id="11" name="Rounded Rectangle 10"/>
          <p:cNvSpPr/>
          <p:nvPr/>
        </p:nvSpPr>
        <p:spPr>
          <a:xfrm>
            <a:off x="6263640" y="1097280"/>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1371600"/>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81328"/>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R2</a:t>
            </a:r>
          </a:p>
        </p:txBody>
      </p:sp>
      <p:sp>
        <p:nvSpPr>
          <p:cNvPr id="14" name="TextBox 13"/>
          <p:cNvSpPr txBox="1"/>
          <p:nvPr/>
        </p:nvSpPr>
        <p:spPr>
          <a:xfrm>
            <a:off x="7406640" y="1280160"/>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Core destabil 규칙 ≠ 실측 ΔΔG</a:t>
            </a:r>
          </a:p>
        </p:txBody>
      </p:sp>
      <p:sp>
        <p:nvSpPr>
          <p:cNvPr id="15" name="TextBox 14"/>
          <p:cNvSpPr txBox="1"/>
          <p:nvPr/>
        </p:nvSpPr>
        <p:spPr>
          <a:xfrm>
            <a:off x="7406640" y="1645920"/>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FoldX/Rosetta/실험으로 교차 검증</a:t>
            </a:r>
          </a:p>
        </p:txBody>
      </p:sp>
      <p:sp>
        <p:nvSpPr>
          <p:cNvPr id="16" name="Rounded Rectangle 15"/>
          <p:cNvSpPr/>
          <p:nvPr/>
        </p:nvSpPr>
        <p:spPr>
          <a:xfrm>
            <a:off x="320040" y="2377439"/>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2651759"/>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61487"/>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R3</a:t>
            </a:r>
          </a:p>
        </p:txBody>
      </p:sp>
      <p:sp>
        <p:nvSpPr>
          <p:cNvPr id="19" name="TextBox 18"/>
          <p:cNvSpPr txBox="1"/>
          <p:nvPr/>
        </p:nvSpPr>
        <p:spPr>
          <a:xfrm>
            <a:off x="1463040" y="2560319"/>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에피토프 개수 ≠ 패치 품질</a:t>
            </a:r>
          </a:p>
        </p:txBody>
      </p:sp>
      <p:sp>
        <p:nvSpPr>
          <p:cNvPr id="20" name="TextBox 19"/>
          <p:cNvSpPr txBox="1"/>
          <p:nvPr/>
        </p:nvSpPr>
        <p:spPr>
          <a:xfrm>
            <a:off x="1463040" y="2926079"/>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표면 형상·소수성·요철 사전 스크리닝</a:t>
            </a:r>
          </a:p>
        </p:txBody>
      </p:sp>
      <p:sp>
        <p:nvSpPr>
          <p:cNvPr id="21" name="Rounded Rectangle 20"/>
          <p:cNvSpPr/>
          <p:nvPr/>
        </p:nvSpPr>
        <p:spPr>
          <a:xfrm>
            <a:off x="6263640" y="2377439"/>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0" y="2651759"/>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761487"/>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R4</a:t>
            </a:r>
          </a:p>
        </p:txBody>
      </p:sp>
      <p:sp>
        <p:nvSpPr>
          <p:cNvPr id="24" name="TextBox 23"/>
          <p:cNvSpPr txBox="1"/>
          <p:nvPr/>
        </p:nvSpPr>
        <p:spPr>
          <a:xfrm>
            <a:off x="7406640" y="2560319"/>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리소좀 pH·프로테아제</a:t>
            </a:r>
          </a:p>
        </p:txBody>
      </p:sp>
      <p:sp>
        <p:nvSpPr>
          <p:cNvPr id="25" name="TextBox 24"/>
          <p:cNvSpPr txBox="1"/>
          <p:nvPr/>
        </p:nvSpPr>
        <p:spPr>
          <a:xfrm>
            <a:off x="7406640" y="2926079"/>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바인더 스캐폴드 안정성 엔지니어링 필요</a:t>
            </a:r>
          </a:p>
        </p:txBody>
      </p:sp>
      <p:sp>
        <p:nvSpPr>
          <p:cNvPr id="26" name="Rounded Rectangle 25"/>
          <p:cNvSpPr/>
          <p:nvPr/>
        </p:nvSpPr>
        <p:spPr>
          <a:xfrm>
            <a:off x="320040" y="3657600"/>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7200" y="3931920"/>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041648"/>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R5</a:t>
            </a:r>
          </a:p>
        </p:txBody>
      </p:sp>
      <p:sp>
        <p:nvSpPr>
          <p:cNvPr id="29" name="TextBox 28"/>
          <p:cNvSpPr txBox="1"/>
          <p:nvPr/>
        </p:nvSpPr>
        <p:spPr>
          <a:xfrm>
            <a:off x="1463040" y="3840480"/>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CNS 전달 (신경형)</a:t>
            </a:r>
          </a:p>
        </p:txBody>
      </p:sp>
      <p:sp>
        <p:nvSpPr>
          <p:cNvPr id="30" name="TextBox 29"/>
          <p:cNvSpPr txBox="1"/>
          <p:nvPr/>
        </p:nvSpPr>
        <p:spPr>
          <a:xfrm>
            <a:off x="1463040" y="4206240"/>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치료 overclaim 금지 · 별도 전달 문제</a:t>
            </a:r>
          </a:p>
        </p:txBody>
      </p:sp>
      <p:sp>
        <p:nvSpPr>
          <p:cNvPr id="31" name="Rounded Rectangle 30"/>
          <p:cNvSpPr/>
          <p:nvPr/>
        </p:nvSpPr>
        <p:spPr>
          <a:xfrm>
            <a:off x="6263640" y="3657600"/>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00800" y="3931920"/>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4041648"/>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R6</a:t>
            </a:r>
          </a:p>
        </p:txBody>
      </p:sp>
      <p:sp>
        <p:nvSpPr>
          <p:cNvPr id="34" name="TextBox 33"/>
          <p:cNvSpPr txBox="1"/>
          <p:nvPr/>
        </p:nvSpPr>
        <p:spPr>
          <a:xfrm>
            <a:off x="7406640" y="3840480"/>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계산만 쌓임</a:t>
            </a:r>
          </a:p>
        </p:txBody>
      </p:sp>
      <p:sp>
        <p:nvSpPr>
          <p:cNvPr id="35" name="TextBox 34"/>
          <p:cNvSpPr txBox="1"/>
          <p:nvPr/>
        </p:nvSpPr>
        <p:spPr>
          <a:xfrm>
            <a:off x="7406640" y="4206240"/>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랩 소속·최소 assay 없이 리뷰어 불신</a:t>
            </a:r>
          </a:p>
        </p:txBody>
      </p:sp>
      <p:sp>
        <p:nvSpPr>
          <p:cNvPr id="36" name="Rounded Rectangle 35"/>
          <p:cNvSpPr/>
          <p:nvPr/>
        </p:nvSpPr>
        <p:spPr>
          <a:xfrm>
            <a:off x="320040" y="4937759"/>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7200" y="5212079"/>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321807"/>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R7</a:t>
            </a:r>
          </a:p>
        </p:txBody>
      </p:sp>
      <p:sp>
        <p:nvSpPr>
          <p:cNvPr id="39" name="TextBox 38"/>
          <p:cNvSpPr txBox="1"/>
          <p:nvPr/>
        </p:nvSpPr>
        <p:spPr>
          <a:xfrm>
            <a:off x="1463040" y="5120639"/>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Track A/B 혼동</a:t>
            </a:r>
          </a:p>
        </p:txBody>
      </p:sp>
      <p:sp>
        <p:nvSpPr>
          <p:cNvPr id="40" name="TextBox 39"/>
          <p:cNvSpPr txBox="1"/>
          <p:nvPr/>
        </p:nvSpPr>
        <p:spPr>
          <a:xfrm>
            <a:off x="1463040" y="5486399"/>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모달리티·EXCLUDE 규칙 충돌을 명시적 관리</a:t>
            </a:r>
          </a:p>
        </p:txBody>
      </p:sp>
      <p:sp>
        <p:nvSpPr>
          <p:cNvPr id="41" name="Rounded Rectangle 40"/>
          <p:cNvSpPr/>
          <p:nvPr/>
        </p:nvSpPr>
        <p:spPr>
          <a:xfrm>
            <a:off x="6263640" y="4937759"/>
            <a:ext cx="5760720" cy="114300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400800" y="5212079"/>
            <a:ext cx="822960" cy="594360"/>
          </a:xfrm>
          <a:prstGeom prst="roundRect">
            <a:avLst>
              <a:gd name="adj" fmla="val 6000"/>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5321807"/>
            <a:ext cx="822960" cy="365760"/>
          </a:xfrm>
          <a:prstGeom prst="rect">
            <a:avLst/>
          </a:prstGeom>
          <a:noFill/>
        </p:spPr>
        <p:txBody>
          <a:bodyPr wrap="square" anchor="t"/>
          <a:lstStyle/>
          <a:p>
            <a:pPr algn="ctr"/>
            <a:r>
              <a:rPr sz="1400" b="1">
                <a:solidFill>
                  <a:srgbClr val="FFFFFF"/>
                </a:solidFill>
                <a:latin typeface="Apple SD Gothic Neo"/>
                <a:ea typeface="Apple SD Gothic Neo"/>
                <a:cs typeface="Apple SD Gothic Neo"/>
              </a:rPr>
              <a:t>R8</a:t>
            </a:r>
          </a:p>
        </p:txBody>
      </p:sp>
      <p:sp>
        <p:nvSpPr>
          <p:cNvPr id="44" name="TextBox 43"/>
          <p:cNvSpPr txBox="1"/>
          <p:nvPr/>
        </p:nvSpPr>
        <p:spPr>
          <a:xfrm>
            <a:off x="7406640" y="5120639"/>
            <a:ext cx="4389120" cy="320040"/>
          </a:xfrm>
          <a:prstGeom prst="rect">
            <a:avLst/>
          </a:prstGeom>
          <a:noFill/>
        </p:spPr>
        <p:txBody>
          <a:bodyPr wrap="square" anchor="t"/>
          <a:lstStyle/>
          <a:p>
            <a:pPr algn="l"/>
            <a:r>
              <a:rPr sz="1400" b="1">
                <a:solidFill>
                  <a:srgbClr val="0B1F33"/>
                </a:solidFill>
                <a:latin typeface="Apple SD Gothic Neo"/>
                <a:ea typeface="Apple SD Gothic Neo"/>
                <a:cs typeface="Apple SD Gothic Neo"/>
              </a:rPr>
              <a:t>6.5Å 자의성</a:t>
            </a:r>
          </a:p>
        </p:txBody>
      </p:sp>
      <p:sp>
        <p:nvSpPr>
          <p:cNvPr id="45" name="TextBox 44"/>
          <p:cNvSpPr txBox="1"/>
          <p:nvPr/>
        </p:nvSpPr>
        <p:spPr>
          <a:xfrm>
            <a:off x="7406640" y="5486399"/>
            <a:ext cx="4389120" cy="457200"/>
          </a:xfrm>
          <a:prstGeom prst="rect">
            <a:avLst/>
          </a:prstGeom>
          <a:noFill/>
        </p:spPr>
        <p:txBody>
          <a:bodyPr wrap="square" anchor="t"/>
          <a:lstStyle/>
          <a:p>
            <a:pPr algn="l"/>
            <a:r>
              <a:rPr sz="1200" b="0">
                <a:solidFill>
                  <a:srgbClr val="5A6A75"/>
                </a:solidFill>
                <a:latin typeface="Apple SD Gothic Neo"/>
                <a:ea typeface="Apple SD Gothic Neo"/>
                <a:cs typeface="Apple SD Gothic Neo"/>
              </a:rPr>
              <a:t>자문·민감도 분석으로 작업 컷오프 지위 유지</a:t>
            </a:r>
          </a:p>
        </p:txBody>
      </p:sp>
      <p:sp>
        <p:nvSpPr>
          <p:cNvPr id="46" name="Rectangle 4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06 Risks</a:t>
            </a:r>
          </a:p>
        </p:txBody>
      </p:sp>
      <p:sp>
        <p:nvSpPr>
          <p:cNvPr id="48" name="TextBox 4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07 · 향후 90일 계획 (우선순위 고정안)</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한 갈래만 깊게 — 도구 수집 금지</a:t>
            </a:r>
          </a:p>
        </p:txBody>
      </p:sp>
      <p:sp>
        <p:nvSpPr>
          <p:cNvPr id="6" name="Rounded Rectangle 5"/>
          <p:cNvSpPr/>
          <p:nvPr/>
        </p:nvSpPr>
        <p:spPr>
          <a:xfrm>
            <a:off x="274320" y="1143000"/>
            <a:ext cx="2834640" cy="5120640"/>
          </a:xfrm>
          <a:prstGeom prst="roundRect">
            <a:avLst>
              <a:gd name="adj" fmla="val 6000"/>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43000"/>
            <a:ext cx="2834640"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34440"/>
            <a:ext cx="2560320" cy="27432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D0–14</a:t>
            </a:r>
          </a:p>
        </p:txBody>
      </p:sp>
      <p:sp>
        <p:nvSpPr>
          <p:cNvPr id="9" name="TextBox 8"/>
          <p:cNvSpPr txBox="1"/>
          <p:nvPr/>
        </p:nvSpPr>
        <p:spPr>
          <a:xfrm>
            <a:off x="411480" y="1554480"/>
            <a:ext cx="2560320" cy="320040"/>
          </a:xfrm>
          <a:prstGeom prst="rect">
            <a:avLst/>
          </a:prstGeom>
          <a:noFill/>
        </p:spPr>
        <p:txBody>
          <a:bodyPr wrap="square" anchor="t"/>
          <a:lstStyle/>
          <a:p>
            <a:pPr algn="l"/>
            <a:r>
              <a:rPr sz="1600" b="1">
                <a:solidFill>
                  <a:srgbClr val="FFFFFF"/>
                </a:solidFill>
                <a:latin typeface="Apple SD Gothic Neo"/>
                <a:ea typeface="Apple SD Gothic Neo"/>
                <a:cs typeface="Apple SD Gothic Neo"/>
              </a:rPr>
              <a:t>재료 정합</a:t>
            </a:r>
          </a:p>
        </p:txBody>
      </p:sp>
      <p:sp>
        <p:nvSpPr>
          <p:cNvPr id="10" name="TextBox 9"/>
          <p:cNvSpPr txBox="1"/>
          <p:nvPr/>
        </p:nvSpPr>
        <p:spPr>
          <a:xfrm>
            <a:off x="457200" y="2194560"/>
            <a:ext cx="2468880" cy="3840480"/>
          </a:xfrm>
          <a:prstGeom prst="rect">
            <a:avLst/>
          </a:prstGeom>
          <a:noFill/>
        </p:spPr>
        <p:txBody>
          <a:bodyPr wrap="square">
            <a:spAutoFit/>
          </a:bodyPr>
          <a:lstStyle/>
          <a:p>
            <a:pPr algn="l">
              <a:spcBef>
                <a:spcPts val="0"/>
              </a:spcBef>
              <a:spcAft>
                <a:spcPts val="1000"/>
              </a:spcAft>
            </a:pPr>
            <a:r>
              <a:rPr sz="1200" b="0">
                <a:solidFill>
                  <a:srgbClr val="1A2A36"/>
                </a:solidFill>
                <a:latin typeface="Apple SD Gothic Neo"/>
                <a:ea typeface="Apple SD Gothic Neo"/>
                <a:cs typeface="Apple SD Gothic Neo"/>
              </a:rPr>
              <a:t>• Ser152 계열 ClinVar_id/HGVS 정리</a:t>
            </a:r>
          </a:p>
          <a:p>
            <a:pPr algn="l">
              <a:spcBef>
                <a:spcPts val="0"/>
              </a:spcBef>
              <a:spcAft>
                <a:spcPts val="1000"/>
              </a:spcAft>
            </a:pPr>
            <a:r>
              <a:rPr sz="1200" b="0">
                <a:solidFill>
                  <a:srgbClr val="1A2A36"/>
                </a:solidFill>
                <a:latin typeface="Apple SD Gothic Neo"/>
                <a:ea typeface="Apple SD Gothic Neo"/>
                <a:cs typeface="Apple SD Gothic Neo"/>
              </a:rPr>
              <a:t>• 말투 통일 (최중요 잔기 금지)</a:t>
            </a:r>
          </a:p>
          <a:p>
            <a:pPr algn="l">
              <a:spcBef>
                <a:spcPts val="0"/>
              </a:spcBef>
              <a:spcAft>
                <a:spcPts val="1000"/>
              </a:spcAft>
            </a:pPr>
            <a:r>
              <a:rPr sz="1200" b="0">
                <a:solidFill>
                  <a:srgbClr val="1A2A36"/>
                </a:solidFill>
                <a:latin typeface="Apple SD Gothic Neo"/>
                <a:ea typeface="Apple SD Gothic Neo"/>
                <a:cs typeface="Apple SD Gothic Neo"/>
              </a:rPr>
              <a:t>• Track A/B 문서 경계 문단 삽입</a:t>
            </a:r>
          </a:p>
          <a:p>
            <a:pPr algn="l">
              <a:spcBef>
                <a:spcPts val="0"/>
              </a:spcBef>
              <a:spcAft>
                <a:spcPts val="1000"/>
              </a:spcAft>
            </a:pPr>
            <a:r>
              <a:rPr sz="1200" b="0">
                <a:solidFill>
                  <a:srgbClr val="1A2A36"/>
                </a:solidFill>
                <a:latin typeface="Apple SD Gothic Neo"/>
                <a:ea typeface="Apple SD Gothic Neo"/>
                <a:cs typeface="Apple SD Gothic Neo"/>
              </a:rPr>
              <a:t>• 자문 패키지 + 본 덱 송부</a:t>
            </a:r>
          </a:p>
        </p:txBody>
      </p:sp>
      <p:sp>
        <p:nvSpPr>
          <p:cNvPr id="11" name="Rounded Rectangle 10"/>
          <p:cNvSpPr/>
          <p:nvPr/>
        </p:nvSpPr>
        <p:spPr>
          <a:xfrm>
            <a:off x="3246120" y="1143000"/>
            <a:ext cx="2834640" cy="5120640"/>
          </a:xfrm>
          <a:prstGeom prst="roundRect">
            <a:avLst>
              <a:gd name="adj" fmla="val 6000"/>
            </a:avLst>
          </a:prstGeom>
          <a:solidFill>
            <a:srgbClr val="FFFFFF"/>
          </a:solidFill>
          <a:ln w="12700">
            <a:solidFill>
              <a:srgbClr val="6B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143000"/>
            <a:ext cx="2834640" cy="822960"/>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234440"/>
            <a:ext cx="2560320" cy="27432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D15–45</a:t>
            </a:r>
          </a:p>
        </p:txBody>
      </p:sp>
      <p:sp>
        <p:nvSpPr>
          <p:cNvPr id="14" name="TextBox 13"/>
          <p:cNvSpPr txBox="1"/>
          <p:nvPr/>
        </p:nvSpPr>
        <p:spPr>
          <a:xfrm>
            <a:off x="3383280" y="1554480"/>
            <a:ext cx="2560320" cy="320040"/>
          </a:xfrm>
          <a:prstGeom prst="rect">
            <a:avLst/>
          </a:prstGeom>
          <a:noFill/>
        </p:spPr>
        <p:txBody>
          <a:bodyPr wrap="square" anchor="t"/>
          <a:lstStyle/>
          <a:p>
            <a:pPr algn="l"/>
            <a:r>
              <a:rPr sz="1600" b="1">
                <a:solidFill>
                  <a:srgbClr val="FFFFFF"/>
                </a:solidFill>
                <a:latin typeface="Apple SD Gothic Neo"/>
                <a:ea typeface="Apple SD Gothic Neo"/>
                <a:cs typeface="Apple SD Gothic Neo"/>
              </a:rPr>
              <a:t>숫자 층</a:t>
            </a:r>
          </a:p>
        </p:txBody>
      </p:sp>
      <p:sp>
        <p:nvSpPr>
          <p:cNvPr id="15" name="TextBox 14"/>
          <p:cNvSpPr txBox="1"/>
          <p:nvPr/>
        </p:nvSpPr>
        <p:spPr>
          <a:xfrm>
            <a:off x="3429000" y="2194560"/>
            <a:ext cx="2468880" cy="3840480"/>
          </a:xfrm>
          <a:prstGeom prst="rect">
            <a:avLst/>
          </a:prstGeom>
          <a:noFill/>
        </p:spPr>
        <p:txBody>
          <a:bodyPr wrap="square">
            <a:spAutoFit/>
          </a:bodyPr>
          <a:lstStyle/>
          <a:p>
            <a:pPr algn="l">
              <a:spcBef>
                <a:spcPts val="0"/>
              </a:spcBef>
              <a:spcAft>
                <a:spcPts val="1000"/>
              </a:spcAft>
            </a:pPr>
            <a:r>
              <a:rPr sz="1200" b="0">
                <a:solidFill>
                  <a:srgbClr val="1A2A36"/>
                </a:solidFill>
                <a:latin typeface="Apple SD Gothic Neo"/>
                <a:ea typeface="Apple SD Gothic Neo"/>
                <a:cs typeface="Apple SD Gothic Neo"/>
              </a:rPr>
              <a:t>• FoldX 또는 Rosetta ΔΔG: WT vs S152I/R/N</a:t>
            </a:r>
          </a:p>
          <a:p>
            <a:pPr algn="l">
              <a:spcBef>
                <a:spcPts val="0"/>
              </a:spcBef>
              <a:spcAft>
                <a:spcPts val="1000"/>
              </a:spcAft>
            </a:pPr>
            <a:r>
              <a:rPr sz="1200" b="0">
                <a:solidFill>
                  <a:srgbClr val="1A2A36"/>
                </a:solidFill>
                <a:latin typeface="Apple SD Gothic Neo"/>
                <a:ea typeface="Apple SD Gothic Neo"/>
                <a:cs typeface="Apple SD Gothic Neo"/>
              </a:rPr>
              <a:t>• 대조: Arg88 또는 표면 benign</a:t>
            </a:r>
          </a:p>
          <a:p>
            <a:pPr algn="l">
              <a:spcBef>
                <a:spcPts val="0"/>
              </a:spcBef>
              <a:spcAft>
                <a:spcPts val="1000"/>
              </a:spcAft>
            </a:pPr>
            <a:r>
              <a:rPr sz="1200" b="0">
                <a:solidFill>
                  <a:srgbClr val="1A2A36"/>
                </a:solidFill>
                <a:latin typeface="Apple SD Gothic Neo"/>
                <a:ea typeface="Apple SD Gothic Neo"/>
                <a:cs typeface="Apple SD Gothic Neo"/>
              </a:rPr>
              <a:t>• 가능 시 AF template-off 1회</a:t>
            </a:r>
          </a:p>
          <a:p>
            <a:pPr algn="l">
              <a:spcBef>
                <a:spcPts val="0"/>
              </a:spcBef>
              <a:spcAft>
                <a:spcPts val="1000"/>
              </a:spcAft>
            </a:pPr>
            <a:r>
              <a:rPr sz="1200" b="0">
                <a:solidFill>
                  <a:srgbClr val="1A2A36"/>
                </a:solidFill>
                <a:latin typeface="Apple SD Gothic Neo"/>
                <a:ea typeface="Apple SD Gothic Neo"/>
                <a:cs typeface="Apple SD Gothic Neo"/>
              </a:rPr>
              <a:t>• CTSS 상위 C422의 amenability 재검토</a:t>
            </a:r>
          </a:p>
        </p:txBody>
      </p:sp>
      <p:sp>
        <p:nvSpPr>
          <p:cNvPr id="16" name="Rounded Rectangle 15"/>
          <p:cNvSpPr/>
          <p:nvPr/>
        </p:nvSpPr>
        <p:spPr>
          <a:xfrm>
            <a:off x="6217920" y="1143000"/>
            <a:ext cx="2834640" cy="5120640"/>
          </a:xfrm>
          <a:prstGeom prst="roundRect">
            <a:avLst>
              <a:gd name="adj" fmla="val 6000"/>
            </a:avLst>
          </a:prstGeom>
          <a:solidFill>
            <a:srgbClr val="FFFFFF"/>
          </a:solidFill>
          <a:ln w="12700">
            <a:solidFill>
              <a:srgbClr val="E89B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143000"/>
            <a:ext cx="2834640" cy="822960"/>
          </a:xfrm>
          <a:prstGeom prst="rect">
            <a:avLst/>
          </a:prstGeom>
          <a:solidFill>
            <a:srgbClr val="E89B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234440"/>
            <a:ext cx="2560320" cy="27432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D46–70</a:t>
            </a:r>
          </a:p>
        </p:txBody>
      </p:sp>
      <p:sp>
        <p:nvSpPr>
          <p:cNvPr id="19" name="TextBox 18"/>
          <p:cNvSpPr txBox="1"/>
          <p:nvPr/>
        </p:nvSpPr>
        <p:spPr>
          <a:xfrm>
            <a:off x="6355080" y="1554480"/>
            <a:ext cx="2560320" cy="320040"/>
          </a:xfrm>
          <a:prstGeom prst="rect">
            <a:avLst/>
          </a:prstGeom>
          <a:noFill/>
        </p:spPr>
        <p:txBody>
          <a:bodyPr wrap="square" anchor="t"/>
          <a:lstStyle/>
          <a:p>
            <a:pPr algn="l"/>
            <a:r>
              <a:rPr sz="1600" b="1">
                <a:solidFill>
                  <a:srgbClr val="FFFFFF"/>
                </a:solidFill>
                <a:latin typeface="Apple SD Gothic Neo"/>
                <a:ea typeface="Apple SD Gothic Neo"/>
                <a:cs typeface="Apple SD Gothic Neo"/>
              </a:rPr>
              <a:t>생물 전제</a:t>
            </a:r>
          </a:p>
        </p:txBody>
      </p:sp>
      <p:sp>
        <p:nvSpPr>
          <p:cNvPr id="20" name="TextBox 19"/>
          <p:cNvSpPr txBox="1"/>
          <p:nvPr/>
        </p:nvSpPr>
        <p:spPr>
          <a:xfrm>
            <a:off x="6400800" y="2194560"/>
            <a:ext cx="2468880" cy="3840480"/>
          </a:xfrm>
          <a:prstGeom prst="rect">
            <a:avLst/>
          </a:prstGeom>
          <a:noFill/>
        </p:spPr>
        <p:txBody>
          <a:bodyPr wrap="square">
            <a:spAutoFit/>
          </a:bodyPr>
          <a:lstStyle/>
          <a:p>
            <a:pPr algn="l">
              <a:spcBef>
                <a:spcPts val="0"/>
              </a:spcBef>
              <a:spcAft>
                <a:spcPts val="1000"/>
              </a:spcAft>
            </a:pPr>
            <a:r>
              <a:rPr sz="1200" b="0">
                <a:solidFill>
                  <a:srgbClr val="1A2A36"/>
                </a:solidFill>
                <a:latin typeface="Apple SD Gothic Neo"/>
                <a:ea typeface="Apple SD Gothic Neo"/>
                <a:cs typeface="Apple SD Gothic Neo"/>
              </a:rPr>
              <a:t>• TIER1 잔존활성·표현형 문헌 표</a:t>
            </a:r>
          </a:p>
          <a:p>
            <a:pPr algn="l">
              <a:spcBef>
                <a:spcPts val="0"/>
              </a:spcBef>
              <a:spcAft>
                <a:spcPts val="1000"/>
              </a:spcAft>
            </a:pPr>
            <a:r>
              <a:rPr sz="1200" b="0">
                <a:solidFill>
                  <a:srgbClr val="1A2A36"/>
                </a:solidFill>
                <a:latin typeface="Apple SD Gothic Neo"/>
                <a:ea typeface="Apple SD Gothic Neo"/>
                <a:cs typeface="Apple SD Gothic Neo"/>
              </a:rPr>
              <a:t>• UNKNOWN 채우기 / 채울 수 없음 명시</a:t>
            </a:r>
          </a:p>
          <a:p>
            <a:pPr algn="l">
              <a:spcBef>
                <a:spcPts val="0"/>
              </a:spcBef>
              <a:spcAft>
                <a:spcPts val="1000"/>
              </a:spcAft>
            </a:pPr>
            <a:r>
              <a:rPr sz="1200" b="0">
                <a:solidFill>
                  <a:srgbClr val="1A2A36"/>
                </a:solidFill>
                <a:latin typeface="Apple SD Gothic Neo"/>
                <a:ea typeface="Apple SD Gothic Neo"/>
                <a:cs typeface="Apple SD Gothic Neo"/>
              </a:rPr>
              <a:t>• IDS PC 문헌(Hoshina 등) 재독</a:t>
            </a:r>
          </a:p>
          <a:p>
            <a:pPr algn="l">
              <a:spcBef>
                <a:spcPts val="0"/>
              </a:spcBef>
              <a:spcAft>
                <a:spcPts val="1000"/>
              </a:spcAft>
            </a:pPr>
            <a:r>
              <a:rPr sz="1200" b="0">
                <a:solidFill>
                  <a:srgbClr val="1A2A36"/>
                </a:solidFill>
                <a:latin typeface="Apple SD Gothic Neo"/>
                <a:ea typeface="Apple SD Gothic Neo"/>
                <a:cs typeface="Apple SD Gothic Neo"/>
              </a:rPr>
              <a:t>• 구제=가설 / triage=우선 유지</a:t>
            </a:r>
          </a:p>
        </p:txBody>
      </p:sp>
      <p:sp>
        <p:nvSpPr>
          <p:cNvPr id="21" name="Rounded Rectangle 20"/>
          <p:cNvSpPr/>
          <p:nvPr/>
        </p:nvSpPr>
        <p:spPr>
          <a:xfrm>
            <a:off x="9189720" y="1143000"/>
            <a:ext cx="2834640" cy="5120640"/>
          </a:xfrm>
          <a:prstGeom prst="roundRect">
            <a:avLst>
              <a:gd name="adj" fmla="val 6000"/>
            </a:avLst>
          </a:prstGeom>
          <a:solidFill>
            <a:srgbClr val="FFFFFF"/>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9720" y="1143000"/>
            <a:ext cx="2834640" cy="822960"/>
          </a:xfrm>
          <a:prstGeom prst="rect">
            <a:avLst/>
          </a:prstGeom>
          <a:solidFill>
            <a:srgbClr val="E85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234440"/>
            <a:ext cx="2560320" cy="274320"/>
          </a:xfrm>
          <a:prstGeom prst="rect">
            <a:avLst/>
          </a:prstGeom>
          <a:noFill/>
        </p:spPr>
        <p:txBody>
          <a:bodyPr wrap="square" anchor="t"/>
          <a:lstStyle/>
          <a:p>
            <a:pPr algn="l"/>
            <a:r>
              <a:rPr sz="1200" b="1">
                <a:solidFill>
                  <a:srgbClr val="FFFFFF"/>
                </a:solidFill>
                <a:latin typeface="Apple SD Gothic Neo"/>
                <a:ea typeface="Apple SD Gothic Neo"/>
                <a:cs typeface="Apple SD Gothic Neo"/>
              </a:rPr>
              <a:t>D71–90</a:t>
            </a:r>
          </a:p>
        </p:txBody>
      </p:sp>
      <p:sp>
        <p:nvSpPr>
          <p:cNvPr id="24" name="TextBox 23"/>
          <p:cNvSpPr txBox="1"/>
          <p:nvPr/>
        </p:nvSpPr>
        <p:spPr>
          <a:xfrm>
            <a:off x="9326880" y="1554480"/>
            <a:ext cx="2560320" cy="320040"/>
          </a:xfrm>
          <a:prstGeom prst="rect">
            <a:avLst/>
          </a:prstGeom>
          <a:noFill/>
        </p:spPr>
        <p:txBody>
          <a:bodyPr wrap="square" anchor="t"/>
          <a:lstStyle/>
          <a:p>
            <a:pPr algn="l"/>
            <a:r>
              <a:rPr sz="1600" b="1">
                <a:solidFill>
                  <a:srgbClr val="FFFFFF"/>
                </a:solidFill>
                <a:latin typeface="Apple SD Gothic Neo"/>
                <a:ea typeface="Apple SD Gothic Neo"/>
                <a:cs typeface="Apple SD Gothic Neo"/>
              </a:rPr>
              <a:t>설계 전 게이트</a:t>
            </a:r>
          </a:p>
        </p:txBody>
      </p:sp>
      <p:sp>
        <p:nvSpPr>
          <p:cNvPr id="25" name="TextBox 24"/>
          <p:cNvSpPr txBox="1"/>
          <p:nvPr/>
        </p:nvSpPr>
        <p:spPr>
          <a:xfrm>
            <a:off x="9372600" y="2194560"/>
            <a:ext cx="2468880" cy="3840480"/>
          </a:xfrm>
          <a:prstGeom prst="rect">
            <a:avLst/>
          </a:prstGeom>
          <a:noFill/>
        </p:spPr>
        <p:txBody>
          <a:bodyPr wrap="square">
            <a:spAutoFit/>
          </a:bodyPr>
          <a:lstStyle/>
          <a:p>
            <a:pPr algn="l">
              <a:spcBef>
                <a:spcPts val="0"/>
              </a:spcBef>
              <a:spcAft>
                <a:spcPts val="1000"/>
              </a:spcAft>
            </a:pPr>
            <a:r>
              <a:rPr sz="1200" b="0">
                <a:solidFill>
                  <a:srgbClr val="1A2A36"/>
                </a:solidFill>
                <a:latin typeface="Apple SD Gothic Neo"/>
                <a:ea typeface="Apple SD Gothic Neo"/>
                <a:cs typeface="Apple SD Gothic Neo"/>
              </a:rPr>
              <a:t>• 표면 패치 2–3개 시각 확정</a:t>
            </a:r>
          </a:p>
          <a:p>
            <a:pPr algn="l">
              <a:spcBef>
                <a:spcPts val="0"/>
              </a:spcBef>
              <a:spcAft>
                <a:spcPts val="1000"/>
              </a:spcAft>
            </a:pPr>
            <a:r>
              <a:rPr sz="1200" b="0">
                <a:solidFill>
                  <a:srgbClr val="1A2A36"/>
                </a:solidFill>
                <a:latin typeface="Apple SD Gothic Neo"/>
                <a:ea typeface="Apple SD Gothic Neo"/>
                <a:cs typeface="Apple SD Gothic Neo"/>
              </a:rPr>
              <a:t>• 성공 기준 사전 등록 (발현/성숙/활성)</a:t>
            </a:r>
          </a:p>
          <a:p>
            <a:pPr algn="l">
              <a:spcBef>
                <a:spcPts val="0"/>
              </a:spcBef>
              <a:spcAft>
                <a:spcPts val="1000"/>
              </a:spcAft>
            </a:pPr>
            <a:r>
              <a:rPr sz="1200" b="0">
                <a:solidFill>
                  <a:srgbClr val="1A2A36"/>
                </a:solidFill>
                <a:latin typeface="Apple SD Gothic Neo"/>
                <a:ea typeface="Apple SD Gothic Neo"/>
                <a:cs typeface="Apple SD Gothic Neo"/>
              </a:rPr>
              <a:t>• 한 트랙만 파일럿 여부 결정</a:t>
            </a:r>
          </a:p>
          <a:p>
            <a:pPr algn="l">
              <a:spcBef>
                <a:spcPts val="0"/>
              </a:spcBef>
              <a:spcAft>
                <a:spcPts val="1000"/>
              </a:spcAft>
            </a:pPr>
            <a:r>
              <a:rPr sz="1200" b="0">
                <a:solidFill>
                  <a:srgbClr val="1A2A36"/>
                </a:solidFill>
                <a:latin typeface="Apple SD Gothic Neo"/>
                <a:ea typeface="Apple SD Gothic Neo"/>
                <a:cs typeface="Apple SD Gothic Neo"/>
              </a:rPr>
              <a:t>• 분류 논문 목차 초안</a:t>
            </a:r>
          </a:p>
        </p:txBody>
      </p:sp>
      <p:sp>
        <p:nvSpPr>
          <p:cNvPr id="26" name="Rectangle 2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07 90d</a:t>
            </a:r>
          </a:p>
        </p:txBody>
      </p:sp>
      <p:sp>
        <p:nvSpPr>
          <p:cNvPr id="28" name="TextBox 2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07 · 12개월 로드맵 (게이트 포함)</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각 분기 끝에서 go/no-go</a:t>
            </a:r>
          </a:p>
        </p:txBody>
      </p:sp>
      <p:sp>
        <p:nvSpPr>
          <p:cNvPr id="6" name="Rounded Rectangle 5"/>
          <p:cNvSpPr/>
          <p:nvPr/>
        </p:nvSpPr>
        <p:spPr>
          <a:xfrm>
            <a:off x="320040" y="1143000"/>
            <a:ext cx="2834640" cy="512064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834640" cy="6400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914400" cy="457200"/>
          </a:xfrm>
          <a:prstGeom prst="rect">
            <a:avLst/>
          </a:prstGeom>
          <a:noFill/>
        </p:spPr>
        <p:txBody>
          <a:bodyPr wrap="square" anchor="t"/>
          <a:lstStyle/>
          <a:p>
            <a:pPr algn="l"/>
            <a:r>
              <a:rPr sz="2000" b="1">
                <a:solidFill>
                  <a:srgbClr val="5EE0C5"/>
                </a:solidFill>
                <a:latin typeface="Apple SD Gothic Neo"/>
                <a:ea typeface="Apple SD Gothic Neo"/>
                <a:cs typeface="Apple SD Gothic Neo"/>
              </a:rPr>
              <a:t>Q1</a:t>
            </a:r>
          </a:p>
        </p:txBody>
      </p:sp>
      <p:sp>
        <p:nvSpPr>
          <p:cNvPr id="9" name="TextBox 8"/>
          <p:cNvSpPr txBox="1"/>
          <p:nvPr/>
        </p:nvSpPr>
        <p:spPr>
          <a:xfrm>
            <a:off x="1417320" y="1325880"/>
            <a:ext cx="1554480" cy="36576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지도 완성</a:t>
            </a:r>
          </a:p>
        </p:txBody>
      </p:sp>
      <p:sp>
        <p:nvSpPr>
          <p:cNvPr id="10" name="TextBox 9"/>
          <p:cNvSpPr txBox="1"/>
          <p:nvPr/>
        </p:nvSpPr>
        <p:spPr>
          <a:xfrm>
            <a:off x="502920" y="2011680"/>
            <a:ext cx="2468880" cy="228600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triage 맵 고정
ΔΔG 패널
잔존활성 문헌표
자문 1–2회</a:t>
            </a:r>
          </a:p>
        </p:txBody>
      </p:sp>
      <p:sp>
        <p:nvSpPr>
          <p:cNvPr id="11" name="Rectangle 10"/>
          <p:cNvSpPr/>
          <p:nvPr/>
        </p:nvSpPr>
        <p:spPr>
          <a:xfrm>
            <a:off x="457200" y="4572000"/>
            <a:ext cx="2560320" cy="137160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709160"/>
            <a:ext cx="2377440" cy="10972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Gate: 본문 강조 위치 ≤20개로 축소</a:t>
            </a:r>
          </a:p>
        </p:txBody>
      </p:sp>
      <p:sp>
        <p:nvSpPr>
          <p:cNvPr id="13" name="Rounded Rectangle 12"/>
          <p:cNvSpPr/>
          <p:nvPr/>
        </p:nvSpPr>
        <p:spPr>
          <a:xfrm>
            <a:off x="3291840" y="1143000"/>
            <a:ext cx="2834640" cy="512064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143000"/>
            <a:ext cx="2834640" cy="6400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234440"/>
            <a:ext cx="914400" cy="457200"/>
          </a:xfrm>
          <a:prstGeom prst="rect">
            <a:avLst/>
          </a:prstGeom>
          <a:noFill/>
        </p:spPr>
        <p:txBody>
          <a:bodyPr wrap="square" anchor="t"/>
          <a:lstStyle/>
          <a:p>
            <a:pPr algn="l"/>
            <a:r>
              <a:rPr sz="2000" b="1">
                <a:solidFill>
                  <a:srgbClr val="5EE0C5"/>
                </a:solidFill>
                <a:latin typeface="Apple SD Gothic Neo"/>
                <a:ea typeface="Apple SD Gothic Neo"/>
                <a:cs typeface="Apple SD Gothic Neo"/>
              </a:rPr>
              <a:t>Q2</a:t>
            </a:r>
          </a:p>
        </p:txBody>
      </p:sp>
      <p:sp>
        <p:nvSpPr>
          <p:cNvPr id="16" name="TextBox 15"/>
          <p:cNvSpPr txBox="1"/>
          <p:nvPr/>
        </p:nvSpPr>
        <p:spPr>
          <a:xfrm>
            <a:off x="4389120" y="1325880"/>
            <a:ext cx="1554480" cy="36576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파일럿 1트랙</a:t>
            </a:r>
          </a:p>
        </p:txBody>
      </p:sp>
      <p:sp>
        <p:nvSpPr>
          <p:cNvPr id="17" name="TextBox 16"/>
          <p:cNvSpPr txBox="1"/>
          <p:nvPr/>
        </p:nvSpPr>
        <p:spPr>
          <a:xfrm>
            <a:off x="3474720" y="2011680"/>
            <a:ext cx="2468880" cy="228600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패치 1개 확정
소분자 OR 바인더
계산 파이프만 또는
협업 assay 설계</a:t>
            </a:r>
          </a:p>
        </p:txBody>
      </p:sp>
      <p:sp>
        <p:nvSpPr>
          <p:cNvPr id="18" name="Rectangle 17"/>
          <p:cNvSpPr/>
          <p:nvPr/>
        </p:nvSpPr>
        <p:spPr>
          <a:xfrm>
            <a:off x="3429000" y="4572000"/>
            <a:ext cx="2560320" cy="137160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4709160"/>
            <a:ext cx="2377440" cy="10972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Gate: 성공 기준 사전등록 문서</a:t>
            </a:r>
          </a:p>
        </p:txBody>
      </p:sp>
      <p:sp>
        <p:nvSpPr>
          <p:cNvPr id="20" name="Rounded Rectangle 19"/>
          <p:cNvSpPr/>
          <p:nvPr/>
        </p:nvSpPr>
        <p:spPr>
          <a:xfrm>
            <a:off x="6263640" y="1143000"/>
            <a:ext cx="2834640" cy="512064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1143000"/>
            <a:ext cx="2834640" cy="6400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234440"/>
            <a:ext cx="914400" cy="457200"/>
          </a:xfrm>
          <a:prstGeom prst="rect">
            <a:avLst/>
          </a:prstGeom>
          <a:noFill/>
        </p:spPr>
        <p:txBody>
          <a:bodyPr wrap="square" anchor="t"/>
          <a:lstStyle/>
          <a:p>
            <a:pPr algn="l"/>
            <a:r>
              <a:rPr sz="2000" b="1">
                <a:solidFill>
                  <a:srgbClr val="5EE0C5"/>
                </a:solidFill>
                <a:latin typeface="Apple SD Gothic Neo"/>
                <a:ea typeface="Apple SD Gothic Neo"/>
                <a:cs typeface="Apple SD Gothic Neo"/>
              </a:rPr>
              <a:t>Q3</a:t>
            </a:r>
          </a:p>
        </p:txBody>
      </p:sp>
      <p:sp>
        <p:nvSpPr>
          <p:cNvPr id="23" name="TextBox 22"/>
          <p:cNvSpPr txBox="1"/>
          <p:nvPr/>
        </p:nvSpPr>
        <p:spPr>
          <a:xfrm>
            <a:off x="7360920" y="1325880"/>
            <a:ext cx="1554480" cy="36576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검증 접촉</a:t>
            </a:r>
          </a:p>
        </p:txBody>
      </p:sp>
      <p:sp>
        <p:nvSpPr>
          <p:cNvPr id="24" name="TextBox 23"/>
          <p:cNvSpPr txBox="1"/>
          <p:nvPr/>
        </p:nvSpPr>
        <p:spPr>
          <a:xfrm>
            <a:off x="6446520" y="2011680"/>
            <a:ext cx="2468880" cy="228600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발현/DSF/SPR 중
가능한 최소 실험
또는 공개 데이터 재분석
초고 Methods 확정</a:t>
            </a:r>
          </a:p>
        </p:txBody>
      </p:sp>
      <p:sp>
        <p:nvSpPr>
          <p:cNvPr id="25" name="Rectangle 24"/>
          <p:cNvSpPr/>
          <p:nvPr/>
        </p:nvSpPr>
        <p:spPr>
          <a:xfrm>
            <a:off x="6400800" y="4572000"/>
            <a:ext cx="2560320" cy="137160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709160"/>
            <a:ext cx="2377440" cy="10972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Gate: non-claim 위반 0건 리뷰</a:t>
            </a:r>
          </a:p>
        </p:txBody>
      </p:sp>
      <p:sp>
        <p:nvSpPr>
          <p:cNvPr id="27" name="Rounded Rectangle 26"/>
          <p:cNvSpPr/>
          <p:nvPr/>
        </p:nvSpPr>
        <p:spPr>
          <a:xfrm>
            <a:off x="9235440" y="1143000"/>
            <a:ext cx="2834640" cy="512064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0" y="1143000"/>
            <a:ext cx="2834640" cy="6400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1234440"/>
            <a:ext cx="914400" cy="457200"/>
          </a:xfrm>
          <a:prstGeom prst="rect">
            <a:avLst/>
          </a:prstGeom>
          <a:noFill/>
        </p:spPr>
        <p:txBody>
          <a:bodyPr wrap="square" anchor="t"/>
          <a:lstStyle/>
          <a:p>
            <a:pPr algn="l"/>
            <a:r>
              <a:rPr sz="2000" b="1">
                <a:solidFill>
                  <a:srgbClr val="5EE0C5"/>
                </a:solidFill>
                <a:latin typeface="Apple SD Gothic Neo"/>
                <a:ea typeface="Apple SD Gothic Neo"/>
                <a:cs typeface="Apple SD Gothic Neo"/>
              </a:rPr>
              <a:t>Q4</a:t>
            </a:r>
          </a:p>
        </p:txBody>
      </p:sp>
      <p:sp>
        <p:nvSpPr>
          <p:cNvPr id="30" name="TextBox 29"/>
          <p:cNvSpPr txBox="1"/>
          <p:nvPr/>
        </p:nvSpPr>
        <p:spPr>
          <a:xfrm>
            <a:off x="10332720" y="1325880"/>
            <a:ext cx="1554480" cy="36576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산출·공개</a:t>
            </a:r>
          </a:p>
        </p:txBody>
      </p:sp>
      <p:sp>
        <p:nvSpPr>
          <p:cNvPr id="31" name="TextBox 30"/>
          <p:cNvSpPr txBox="1"/>
          <p:nvPr/>
        </p:nvSpPr>
        <p:spPr>
          <a:xfrm>
            <a:off x="9418320" y="2011680"/>
            <a:ext cx="2468880" cy="228600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분류 논문/보고서
데이터·코드 정리
idsx-lab 업데이트
랩 합류 포트폴리오</a:t>
            </a:r>
          </a:p>
        </p:txBody>
      </p:sp>
      <p:sp>
        <p:nvSpPr>
          <p:cNvPr id="32" name="Rectangle 31"/>
          <p:cNvSpPr/>
          <p:nvPr/>
        </p:nvSpPr>
        <p:spPr>
          <a:xfrm>
            <a:off x="9372600" y="4572000"/>
            <a:ext cx="2560320" cy="1371600"/>
          </a:xfrm>
          <a:prstGeom prst="rect">
            <a:avLst/>
          </a:prstGeom>
          <a:solidFill>
            <a:srgbClr val="D4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64040" y="4709160"/>
            <a:ext cx="2377440" cy="109728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Gate: 외부 1명 critique 반영</a:t>
            </a:r>
          </a:p>
        </p:txBody>
      </p:sp>
      <p:sp>
        <p:nvSpPr>
          <p:cNvPr id="34" name="Rectangle 33"/>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07 12m</a:t>
            </a:r>
          </a:p>
        </p:txBody>
      </p:sp>
      <p:sp>
        <p:nvSpPr>
          <p:cNvPr id="36" name="TextBox 35"/>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07 · 당장은 하지 말 것 (자기 규율)</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속도보다 방향</a:t>
            </a:r>
          </a:p>
        </p:txBody>
      </p:sp>
      <p:sp>
        <p:nvSpPr>
          <p:cNvPr id="6" name="Rounded Rectangle 5"/>
          <p:cNvSpPr/>
          <p:nvPr/>
        </p:nvSpPr>
        <p:spPr>
          <a:xfrm>
            <a:off x="320040" y="109728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3444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8" name="TextBox 7"/>
          <p:cNvSpPr txBox="1"/>
          <p:nvPr/>
        </p:nvSpPr>
        <p:spPr>
          <a:xfrm>
            <a:off x="960120" y="132588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전 변이 RFdiffusion 대량 생산 — 질문 없는 컴퓨팅</a:t>
            </a:r>
          </a:p>
        </p:txBody>
      </p:sp>
      <p:sp>
        <p:nvSpPr>
          <p:cNvPr id="9" name="Rounded Rectangle 8"/>
          <p:cNvSpPr/>
          <p:nvPr/>
        </p:nvSpPr>
        <p:spPr>
          <a:xfrm>
            <a:off x="6263640" y="109728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23444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11" name="TextBox 10"/>
          <p:cNvSpPr txBox="1"/>
          <p:nvPr/>
        </p:nvSpPr>
        <p:spPr>
          <a:xfrm>
            <a:off x="6903720" y="132588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암브록솔 IDS 직접 투여 claim</a:t>
            </a:r>
          </a:p>
        </p:txBody>
      </p:sp>
      <p:sp>
        <p:nvSpPr>
          <p:cNvPr id="12" name="Rounded Rectangle 11"/>
          <p:cNvSpPr/>
          <p:nvPr/>
        </p:nvSpPr>
        <p:spPr>
          <a:xfrm>
            <a:off x="320040" y="205740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19456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14" name="TextBox 13"/>
          <p:cNvSpPr txBox="1"/>
          <p:nvPr/>
        </p:nvSpPr>
        <p:spPr>
          <a:xfrm>
            <a:off x="960120" y="228600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AF RMSD만으로 논문 결론</a:t>
            </a:r>
          </a:p>
        </p:txBody>
      </p:sp>
      <p:sp>
        <p:nvSpPr>
          <p:cNvPr id="15" name="Rounded Rectangle 14"/>
          <p:cNvSpPr/>
          <p:nvPr/>
        </p:nvSpPr>
        <p:spPr>
          <a:xfrm>
            <a:off x="6263640" y="205740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19456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17" name="TextBox 16"/>
          <p:cNvSpPr txBox="1"/>
          <p:nvPr/>
        </p:nvSpPr>
        <p:spPr>
          <a:xfrm>
            <a:off x="6903720" y="228600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TIER1 목록을 환자 대상 치료 안내로 사용</a:t>
            </a:r>
          </a:p>
        </p:txBody>
      </p:sp>
      <p:sp>
        <p:nvSpPr>
          <p:cNvPr id="18" name="Rounded Rectangle 17"/>
          <p:cNvSpPr/>
          <p:nvPr/>
        </p:nvSpPr>
        <p:spPr>
          <a:xfrm>
            <a:off x="320040" y="301752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15468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20" name="TextBox 19"/>
          <p:cNvSpPr txBox="1"/>
          <p:nvPr/>
        </p:nvSpPr>
        <p:spPr>
          <a:xfrm>
            <a:off x="960120" y="324612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Track A와 Track B를 하나의 ‘최종 타겟 C422’로 강제 통합</a:t>
            </a:r>
          </a:p>
        </p:txBody>
      </p:sp>
      <p:sp>
        <p:nvSpPr>
          <p:cNvPr id="21" name="Rounded Rectangle 20"/>
          <p:cNvSpPr/>
          <p:nvPr/>
        </p:nvSpPr>
        <p:spPr>
          <a:xfrm>
            <a:off x="6263640" y="301752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15468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23" name="TextBox 22"/>
          <p:cNvSpPr txBox="1"/>
          <p:nvPr/>
        </p:nvSpPr>
        <p:spPr>
          <a:xfrm>
            <a:off x="6903720" y="324612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이황화 파괴형(C184/C422)을 amenability EXCLUDE와 충돌 없이 치료 후보로 포장</a:t>
            </a:r>
          </a:p>
        </p:txBody>
      </p:sp>
      <p:sp>
        <p:nvSpPr>
          <p:cNvPr id="24" name="Rounded Rectangle 23"/>
          <p:cNvSpPr/>
          <p:nvPr/>
        </p:nvSpPr>
        <p:spPr>
          <a:xfrm>
            <a:off x="320040" y="397764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11480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26" name="TextBox 25"/>
          <p:cNvSpPr txBox="1"/>
          <p:nvPr/>
        </p:nvSpPr>
        <p:spPr>
          <a:xfrm>
            <a:off x="960120" y="420624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열안정 보장 인자 찾기로 프로젝트 rename</a:t>
            </a:r>
          </a:p>
        </p:txBody>
      </p:sp>
      <p:sp>
        <p:nvSpPr>
          <p:cNvPr id="27" name="Rounded Rectangle 26"/>
          <p:cNvSpPr/>
          <p:nvPr/>
        </p:nvSpPr>
        <p:spPr>
          <a:xfrm>
            <a:off x="6263640" y="397764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11480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29" name="TextBox 28"/>
          <p:cNvSpPr txBox="1"/>
          <p:nvPr/>
        </p:nvSpPr>
        <p:spPr>
          <a:xfrm>
            <a:off x="6903720" y="420624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지도·윤리 없이 bioRxiv 성급한 투고</a:t>
            </a:r>
          </a:p>
        </p:txBody>
      </p:sp>
      <p:sp>
        <p:nvSpPr>
          <p:cNvPr id="30" name="Rounded Rectangle 29"/>
          <p:cNvSpPr/>
          <p:nvPr/>
        </p:nvSpPr>
        <p:spPr>
          <a:xfrm>
            <a:off x="320040" y="493776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07492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32" name="TextBox 31"/>
          <p:cNvSpPr txBox="1"/>
          <p:nvPr/>
        </p:nvSpPr>
        <p:spPr>
          <a:xfrm>
            <a:off x="960120" y="516636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신경 전달 미해결 상태에서 치료 완결 서사</a:t>
            </a:r>
          </a:p>
        </p:txBody>
      </p:sp>
      <p:sp>
        <p:nvSpPr>
          <p:cNvPr id="33" name="Rounded Rectangle 32"/>
          <p:cNvSpPr/>
          <p:nvPr/>
        </p:nvSpPr>
        <p:spPr>
          <a:xfrm>
            <a:off x="6263640" y="4937760"/>
            <a:ext cx="5760720" cy="868680"/>
          </a:xfrm>
          <a:prstGeom prst="roundRect">
            <a:avLst>
              <a:gd name="adj" fmla="val 6000"/>
            </a:avLst>
          </a:prstGeom>
          <a:solidFill>
            <a:srgbClr val="FDE8E5"/>
          </a:solidFill>
          <a:ln w="12700">
            <a:solidFill>
              <a:srgbClr val="E85D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5074920"/>
            <a:ext cx="457200" cy="548640"/>
          </a:xfrm>
          <a:prstGeom prst="rect">
            <a:avLst/>
          </a:prstGeom>
          <a:noFill/>
        </p:spPr>
        <p:txBody>
          <a:bodyPr wrap="square" anchor="t"/>
          <a:lstStyle/>
          <a:p>
            <a:pPr algn="l"/>
            <a:r>
              <a:rPr sz="1800" b="1">
                <a:solidFill>
                  <a:srgbClr val="E85D4C"/>
                </a:solidFill>
                <a:latin typeface="Apple SD Gothic Neo"/>
                <a:ea typeface="Apple SD Gothic Neo"/>
                <a:cs typeface="Apple SD Gothic Neo"/>
              </a:rPr>
              <a:t>✕</a:t>
            </a:r>
          </a:p>
        </p:txBody>
      </p:sp>
      <p:sp>
        <p:nvSpPr>
          <p:cNvPr id="35" name="TextBox 34"/>
          <p:cNvSpPr txBox="1"/>
          <p:nvPr/>
        </p:nvSpPr>
        <p:spPr>
          <a:xfrm>
            <a:off x="6903720" y="5166360"/>
            <a:ext cx="4937760" cy="50292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새 도구를 쌓기 위해 Step A–D 순서를 건너뛰기</a:t>
            </a:r>
          </a:p>
        </p:txBody>
      </p:sp>
      <p:sp>
        <p:nvSpPr>
          <p:cNvPr id="36" name="Rectangle 3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07 Don't</a:t>
            </a:r>
          </a:p>
        </p:txBody>
      </p:sp>
      <p:sp>
        <p:nvSpPr>
          <p:cNvPr id="38" name="TextBox 3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07 · 자문에게 꼭 물을 것 (오늘 세 가지 + 확장)</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‘진행해도 되나’가 아니라 ‘어디를 고칠까’</a:t>
            </a:r>
          </a:p>
        </p:txBody>
      </p:sp>
      <p:sp>
        <p:nvSpPr>
          <p:cNvPr id="6" name="Rounded Rectangle 5"/>
          <p:cNvSpPr/>
          <p:nvPr/>
        </p:nvSpPr>
        <p:spPr>
          <a:xfrm>
            <a:off x="365760" y="1143000"/>
            <a:ext cx="11430000" cy="1828800"/>
          </a:xfrm>
          <a:prstGeom prst="roundRect">
            <a:avLst>
              <a:gd name="adj" fmla="val 6000"/>
            </a:avLst>
          </a:prstGeom>
          <a:solidFill>
            <a:srgbClr val="D4F0E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80160"/>
            <a:ext cx="10972800" cy="320040"/>
          </a:xfrm>
          <a:prstGeom prst="rect">
            <a:avLst/>
          </a:prstGeom>
          <a:noFill/>
        </p:spPr>
        <p:txBody>
          <a:bodyPr wrap="square" anchor="t"/>
          <a:lstStyle/>
          <a:p>
            <a:pPr algn="l"/>
            <a:r>
              <a:rPr sz="1400" b="1">
                <a:solidFill>
                  <a:srgbClr val="0A6B62"/>
                </a:solidFill>
                <a:latin typeface="Apple SD Gothic Neo"/>
                <a:ea typeface="Apple SD Gothic Neo"/>
                <a:cs typeface="Apple SD Gothic Neo"/>
              </a:rPr>
              <a:t>오늘 꼭 듣고 싶은 세 가지</a:t>
            </a:r>
          </a:p>
        </p:txBody>
      </p:sp>
      <p:sp>
        <p:nvSpPr>
          <p:cNvPr id="8" name="TextBox 7"/>
          <p:cNvSpPr txBox="1"/>
          <p:nvPr/>
        </p:nvSpPr>
        <p:spPr>
          <a:xfrm>
            <a:off x="594360" y="1737360"/>
            <a:ext cx="10972800" cy="1051560"/>
          </a:xfrm>
          <a:prstGeom prst="rect">
            <a:avLst/>
          </a:prstGeom>
          <a:noFill/>
        </p:spPr>
        <p:txBody>
          <a:bodyPr wrap="square" anchor="t"/>
          <a:lstStyle/>
          <a:p>
            <a:pPr algn="l"/>
            <a:r>
              <a:rPr sz="1400" b="0">
                <a:solidFill>
                  <a:srgbClr val="1A2A36"/>
                </a:solidFill>
                <a:latin typeface="Apple SD Gothic Neo"/>
                <a:ea typeface="Apple SD Gothic Neo"/>
                <a:cs typeface="Apple SD Gothic Neo"/>
              </a:rPr>
              <a:t>1. 이 claim(5FQL 기반 amenability triage 맵)으로 계속 갈까, 방향을 틀까?
2. Ser152 / Asp308 프로토타입이 첫 표·얼굴 케이스로 적절한가?
3. 앞으로 90일 작업 순서 두 가지는? (E1 잔존활성 문헌 / E2 ΔΔG / E4 바인더 파일럿 / E6 랩 합류 중)</a:t>
            </a:r>
          </a:p>
        </p:txBody>
      </p:sp>
      <p:sp>
        <p:nvSpPr>
          <p:cNvPr id="9" name="Rounded Rectangle 8"/>
          <p:cNvSpPr/>
          <p:nvPr/>
        </p:nvSpPr>
        <p:spPr>
          <a:xfrm>
            <a:off x="365760" y="320040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324612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A</a:t>
            </a:r>
          </a:p>
        </p:txBody>
      </p:sp>
      <p:sp>
        <p:nvSpPr>
          <p:cNvPr id="11" name="TextBox 10"/>
          <p:cNvSpPr txBox="1"/>
          <p:nvPr/>
        </p:nvSpPr>
        <p:spPr>
          <a:xfrm>
            <a:off x="1005840" y="327355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1편 claim이 학문적으로 성립하는가? 실험 없이 구조 분류 논문의 가치는?</a:t>
            </a:r>
          </a:p>
        </p:txBody>
      </p:sp>
      <p:sp>
        <p:nvSpPr>
          <p:cNvPr id="12" name="Rounded Rectangle 11"/>
          <p:cNvSpPr/>
          <p:nvPr/>
        </p:nvSpPr>
        <p:spPr>
          <a:xfrm>
            <a:off x="365760" y="370332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74904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B</a:t>
            </a:r>
          </a:p>
        </p:txBody>
      </p:sp>
      <p:sp>
        <p:nvSpPr>
          <p:cNvPr id="14" name="TextBox 13"/>
          <p:cNvSpPr txBox="1"/>
          <p:nvPr/>
        </p:nvSpPr>
        <p:spPr>
          <a:xfrm>
            <a:off x="1005840" y="377647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6.5Å 컷오프 · 이황화 EXCLUDE · ClinVar 가중 — 과도/부족/적절?</a:t>
            </a:r>
          </a:p>
        </p:txBody>
      </p:sp>
      <p:sp>
        <p:nvSpPr>
          <p:cNvPr id="15" name="Rounded Rectangle 14"/>
          <p:cNvSpPr/>
          <p:nvPr/>
        </p:nvSpPr>
        <p:spPr>
          <a:xfrm>
            <a:off x="365760" y="420624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25196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C</a:t>
            </a:r>
          </a:p>
        </p:txBody>
      </p:sp>
      <p:sp>
        <p:nvSpPr>
          <p:cNvPr id="17" name="TextBox 16"/>
          <p:cNvSpPr txBox="1"/>
          <p:nvPr/>
        </p:nvSpPr>
        <p:spPr>
          <a:xfrm>
            <a:off x="1005840" y="427939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매장 hotspot + 인접 에피토프 프레임이 리뷰어에게 설득력 있는가?</a:t>
            </a:r>
          </a:p>
        </p:txBody>
      </p:sp>
      <p:sp>
        <p:nvSpPr>
          <p:cNvPr id="18" name="Rounded Rectangle 17"/>
          <p:cNvSpPr/>
          <p:nvPr/>
        </p:nvSpPr>
        <p:spPr>
          <a:xfrm>
            <a:off x="365760" y="470916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75488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D</a:t>
            </a:r>
          </a:p>
        </p:txBody>
      </p:sp>
      <p:sp>
        <p:nvSpPr>
          <p:cNvPr id="20" name="TextBox 19"/>
          <p:cNvSpPr txBox="1"/>
          <p:nvPr/>
        </p:nvSpPr>
        <p:spPr>
          <a:xfrm>
            <a:off x="1005840" y="478231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GCase–ambroxol을 조건 표로만 쓰는 구성 · IDS PC 문헌 비중은?</a:t>
            </a:r>
          </a:p>
        </p:txBody>
      </p:sp>
      <p:sp>
        <p:nvSpPr>
          <p:cNvPr id="21" name="Rounded Rectangle 20"/>
          <p:cNvSpPr/>
          <p:nvPr/>
        </p:nvSpPr>
        <p:spPr>
          <a:xfrm>
            <a:off x="365760" y="521208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525780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E</a:t>
            </a:r>
          </a:p>
        </p:txBody>
      </p:sp>
      <p:sp>
        <p:nvSpPr>
          <p:cNvPr id="23" name="TextBox 22"/>
          <p:cNvSpPr txBox="1"/>
          <p:nvPr/>
        </p:nvSpPr>
        <p:spPr>
          <a:xfrm>
            <a:off x="1005840" y="528523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Track B(C422 neo-pocket)를 병행할지, amenability 규칙과 어떻게 화해할지?</a:t>
            </a:r>
          </a:p>
        </p:txBody>
      </p:sp>
      <p:sp>
        <p:nvSpPr>
          <p:cNvPr id="24" name="Rounded Rectangle 23"/>
          <p:cNvSpPr/>
          <p:nvPr/>
        </p:nvSpPr>
        <p:spPr>
          <a:xfrm>
            <a:off x="365760" y="5715000"/>
            <a:ext cx="502920" cy="411480"/>
          </a:xfrm>
          <a:prstGeom prst="roundRect">
            <a:avLst>
              <a:gd name="adj" fmla="val 6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5760720"/>
            <a:ext cx="502920" cy="320040"/>
          </a:xfrm>
          <a:prstGeom prst="rect">
            <a:avLst/>
          </a:prstGeom>
          <a:noFill/>
        </p:spPr>
        <p:txBody>
          <a:bodyPr wrap="square" anchor="t"/>
          <a:lstStyle/>
          <a:p>
            <a:pPr algn="ctr"/>
            <a:r>
              <a:rPr sz="1400" b="1">
                <a:solidFill>
                  <a:srgbClr val="5EE0C5"/>
                </a:solidFill>
                <a:latin typeface="Apple SD Gothic Neo"/>
                <a:ea typeface="Apple SD Gothic Neo"/>
                <a:cs typeface="Apple SD Gothic Neo"/>
              </a:rPr>
              <a:t>F</a:t>
            </a:r>
          </a:p>
        </p:txBody>
      </p:sp>
      <p:sp>
        <p:nvSpPr>
          <p:cNvPr id="26" name="TextBox 25"/>
          <p:cNvSpPr txBox="1"/>
          <p:nvPr/>
        </p:nvSpPr>
        <p:spPr>
          <a:xfrm>
            <a:off x="1005840" y="5788152"/>
            <a:ext cx="10515600" cy="36576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학부 단독 범위 · 붙을 랩 유형 · bioRxiv 시기 · 한 줄 숙제</a:t>
            </a:r>
          </a:p>
        </p:txBody>
      </p:sp>
      <p:sp>
        <p:nvSpPr>
          <p:cNvPr id="27" name="Rectangle 26"/>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07 Ask</a:t>
            </a:r>
          </a:p>
        </p:txBody>
      </p:sp>
      <p:sp>
        <p:nvSpPr>
          <p:cNvPr id="29" name="TextBox 28"/>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08 · 누구에게나 전달할 고정 스크립트</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자문·노트·발표 오프닝에 그대로</a:t>
            </a:r>
          </a:p>
        </p:txBody>
      </p:sp>
      <p:sp>
        <p:nvSpPr>
          <p:cNvPr id="6" name="Rounded Rectangle 5"/>
          <p:cNvSpPr/>
          <p:nvPr/>
        </p:nvSpPr>
        <p:spPr>
          <a:xfrm>
            <a:off x="365760" y="1143000"/>
            <a:ext cx="11430000" cy="2194560"/>
          </a:xfrm>
          <a:prstGeom prst="roundRect">
            <a:avLst>
              <a:gd name="adj" fmla="val 6000"/>
            </a:avLst>
          </a:prstGeom>
          <a:solidFill>
            <a:srgbClr val="0B1F33"/>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25880"/>
            <a:ext cx="10972800" cy="320040"/>
          </a:xfrm>
          <a:prstGeom prst="rect">
            <a:avLst/>
          </a:prstGeom>
          <a:noFill/>
        </p:spPr>
        <p:txBody>
          <a:bodyPr wrap="square" anchor="t"/>
          <a:lstStyle/>
          <a:p>
            <a:pPr algn="l"/>
            <a:r>
              <a:rPr sz="1400" b="1">
                <a:solidFill>
                  <a:srgbClr val="5EE0C5"/>
                </a:solidFill>
                <a:latin typeface="Apple SD Gothic Neo"/>
                <a:ea typeface="Apple SD Gothic Neo"/>
                <a:cs typeface="Apple SD Gothic Neo"/>
              </a:rPr>
              <a:t>세 문장 (복붙용)</a:t>
            </a:r>
          </a:p>
        </p:txBody>
      </p:sp>
      <p:sp>
        <p:nvSpPr>
          <p:cNvPr id="8" name="TextBox 7"/>
          <p:cNvSpPr txBox="1"/>
          <p:nvPr/>
        </p:nvSpPr>
        <p:spPr>
          <a:xfrm>
            <a:off x="594360" y="1783080"/>
            <a:ext cx="10972800" cy="1371600"/>
          </a:xfrm>
          <a:prstGeom prst="rect">
            <a:avLst/>
          </a:prstGeom>
          <a:noFill/>
        </p:spPr>
        <p:txBody>
          <a:bodyPr wrap="square" anchor="t"/>
          <a:lstStyle/>
          <a:p>
            <a:pPr algn="l"/>
            <a:r>
              <a:rPr sz="1400" b="0">
                <a:solidFill>
                  <a:srgbClr val="FFFFFF"/>
                </a:solidFill>
                <a:latin typeface="Apple SD Gothic Neo"/>
                <a:ea typeface="Apple SD Gothic Neo"/>
                <a:cs typeface="Apple SD Gothic Neo"/>
              </a:rPr>
              <a:t>1. 우리는 IDS 미스센스를 독립 라벨이 아니라 기능 구조를 떠받치는 네트워크의 교란으로 읽는다.
2. Ser152 계열은 촉매 자리가 아니라 코어 모듈 사례이며, 개입은 변이 원자가 아니라 인접 표면 패치를 향한다.
3. 성공은 결합이 아니라 catalytic competence이며, 현재 구조·계산은 우선순위를 주지만 구제 증명 전이다.</a:t>
            </a:r>
          </a:p>
        </p:txBody>
      </p:sp>
      <p:sp>
        <p:nvSpPr>
          <p:cNvPr id="9" name="Rounded Rectangle 8"/>
          <p:cNvSpPr/>
          <p:nvPr/>
        </p:nvSpPr>
        <p:spPr>
          <a:xfrm>
            <a:off x="365760" y="3566160"/>
            <a:ext cx="11430000" cy="26517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703320"/>
            <a:ext cx="10972800" cy="320040"/>
          </a:xfrm>
          <a:prstGeom prst="rect">
            <a:avLst/>
          </a:prstGeom>
          <a:noFill/>
        </p:spPr>
        <p:txBody>
          <a:bodyPr wrap="square" anchor="t"/>
          <a:lstStyle/>
          <a:p>
            <a:pPr algn="l"/>
            <a:r>
              <a:rPr sz="1400" b="1">
                <a:solidFill>
                  <a:srgbClr val="0D9488"/>
                </a:solidFill>
                <a:latin typeface="Apple SD Gothic Neo"/>
                <a:ea typeface="Apple SD Gothic Neo"/>
                <a:cs typeface="Apple SD Gothic Neo"/>
              </a:rPr>
              <a:t>60초 엘리베이터 (화학공학 버전)</a:t>
            </a:r>
          </a:p>
        </p:txBody>
      </p:sp>
      <p:sp>
        <p:nvSpPr>
          <p:cNvPr id="11" name="TextBox 10"/>
          <p:cNvSpPr txBox="1"/>
          <p:nvPr/>
        </p:nvSpPr>
        <p:spPr>
          <a:xfrm>
            <a:off x="594360" y="4114800"/>
            <a:ext cx="10972800" cy="19202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헌터 증후군은 리소좀이라는 반응기에서 IDS 효소가 부족해 GAG가 쌓이는 병입니다. 저는 일부 미스센스가
‘반응기 칼날 파괴’가 아니라 ‘조립 공장(ER) 수율·품질관리 실패’일 수 있다고 보고, 결정구조 5FQL에 797개 변이를
올려 샤페론 적합성 triage 지도를 만들고 있습니다. Ser152처럼 완전히 묻힌 자리는 직접 약이 닿을 수 없어
인접 표면을 붙잡는 논리로 설계하고, 성공 지표는 docking이 아니라 기능 구조 회복입니다. 지금은 치료 주장이
아니라 의사결정 층을 고정하는 단계이며, ΔΔG와 잔존활성 문헌으로 다음 게이트를 넘으려 합니다.</a:t>
            </a:r>
          </a:p>
        </p:txBody>
      </p:sp>
      <p:sp>
        <p:nvSpPr>
          <p:cNvPr id="12" name="Rectangle 1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08 Script</a:t>
            </a:r>
          </a:p>
        </p:txBody>
      </p:sp>
      <p:sp>
        <p:nvSpPr>
          <p:cNvPr id="14" name="TextBox 13"/>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08 · 나만의 사고 렌즈 — 화학공학이 상징적으로 기여하는 지점</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이 슬라이드가 ‘남의 프로젝트 요약’이 아니라 ‘내 연구’가 되게 한다</a:t>
            </a:r>
          </a:p>
        </p:txBody>
      </p:sp>
      <p:sp>
        <p:nvSpPr>
          <p:cNvPr id="6" name="Rounded Rectangle 5"/>
          <p:cNvSpPr/>
          <p:nvPr/>
        </p:nvSpPr>
        <p:spPr>
          <a:xfrm>
            <a:off x="320040"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물질수지</a:t>
            </a:r>
          </a:p>
        </p:txBody>
      </p:sp>
      <p:sp>
        <p:nvSpPr>
          <p:cNvPr id="9" name="TextBox 8"/>
          <p:cNvSpPr txBox="1"/>
          <p:nvPr/>
        </p:nvSpPr>
        <p:spPr>
          <a:xfrm>
            <a:off x="502920" y="1783080"/>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기능 IDS 분자 수지
생성 − 폐기(ERAD) − 미배달
= 리소좀 재고</a:t>
            </a:r>
          </a:p>
        </p:txBody>
      </p:sp>
      <p:sp>
        <p:nvSpPr>
          <p:cNvPr id="10" name="TextBox 9"/>
          <p:cNvSpPr txBox="1"/>
          <p:nvPr/>
        </p:nvSpPr>
        <p:spPr>
          <a:xfrm>
            <a:off x="502920" y="2880360"/>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활성 assay를
‘유량 KPI’로 재해석</a:t>
            </a:r>
          </a:p>
        </p:txBody>
      </p:sp>
      <p:sp>
        <p:nvSpPr>
          <p:cNvPr id="11" name="Rounded Rectangle 10"/>
          <p:cNvSpPr/>
          <p:nvPr/>
        </p:nvSpPr>
        <p:spPr>
          <a:xfrm>
            <a:off x="4251959"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59" y="1143000"/>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39" y="1234440"/>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단위공정</a:t>
            </a:r>
          </a:p>
        </p:txBody>
      </p:sp>
      <p:sp>
        <p:nvSpPr>
          <p:cNvPr id="14" name="TextBox 13"/>
          <p:cNvSpPr txBox="1"/>
          <p:nvPr/>
        </p:nvSpPr>
        <p:spPr>
          <a:xfrm>
            <a:off x="4434839" y="1783080"/>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ER / QC / 골지 / 리소좀을
직렬 공정으로 모델링</a:t>
            </a:r>
          </a:p>
        </p:txBody>
      </p:sp>
      <p:sp>
        <p:nvSpPr>
          <p:cNvPr id="15" name="TextBox 14"/>
          <p:cNvSpPr txBox="1"/>
          <p:nvPr/>
        </p:nvSpPr>
        <p:spPr>
          <a:xfrm>
            <a:off x="4434839" y="2880360"/>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개입 지점 = 어느 유닛을
건드릴지 선택</a:t>
            </a:r>
          </a:p>
        </p:txBody>
      </p:sp>
      <p:sp>
        <p:nvSpPr>
          <p:cNvPr id="16" name="Rounded Rectangle 15"/>
          <p:cNvSpPr/>
          <p:nvPr/>
        </p:nvSpPr>
        <p:spPr>
          <a:xfrm>
            <a:off x="8183879" y="1143000"/>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143000"/>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1234440"/>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열역학</a:t>
            </a:r>
          </a:p>
        </p:txBody>
      </p:sp>
      <p:sp>
        <p:nvSpPr>
          <p:cNvPr id="19" name="TextBox 18"/>
          <p:cNvSpPr txBox="1"/>
          <p:nvPr/>
        </p:nvSpPr>
        <p:spPr>
          <a:xfrm>
            <a:off x="8366759" y="1783080"/>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ΔΔG = 공정 에너지 수지
AF 그림 ≠ 에너지 상태</a:t>
            </a:r>
          </a:p>
        </p:txBody>
      </p:sp>
      <p:sp>
        <p:nvSpPr>
          <p:cNvPr id="20" name="TextBox 19"/>
          <p:cNvSpPr txBox="1"/>
          <p:nvPr/>
        </p:nvSpPr>
        <p:spPr>
          <a:xfrm>
            <a:off x="8366759" y="2880360"/>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착시를 끊는
정량 언어</a:t>
            </a:r>
          </a:p>
        </p:txBody>
      </p:sp>
      <p:sp>
        <p:nvSpPr>
          <p:cNvPr id="21" name="Rounded Rectangle 20"/>
          <p:cNvSpPr/>
          <p:nvPr/>
        </p:nvSpPr>
        <p:spPr>
          <a:xfrm>
            <a:off x="320040"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 y="3749039"/>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840479"/>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Fault mode</a:t>
            </a:r>
          </a:p>
        </p:txBody>
      </p:sp>
      <p:sp>
        <p:nvSpPr>
          <p:cNvPr id="24" name="TextBox 23"/>
          <p:cNvSpPr txBox="1"/>
          <p:nvPr/>
        </p:nvSpPr>
        <p:spPr>
          <a:xfrm>
            <a:off x="502920" y="4389119"/>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촉매 kill / 코어 불안정 /
포켓 인접 / PTM 결함</a:t>
            </a:r>
          </a:p>
        </p:txBody>
      </p:sp>
      <p:sp>
        <p:nvSpPr>
          <p:cNvPr id="25" name="TextBox 24"/>
          <p:cNvSpPr txBox="1"/>
          <p:nvPr/>
        </p:nvSpPr>
        <p:spPr>
          <a:xfrm>
            <a:off x="502920" y="5486399"/>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같은 증상(활성↓)의
다른 처방전</a:t>
            </a:r>
          </a:p>
        </p:txBody>
      </p:sp>
      <p:sp>
        <p:nvSpPr>
          <p:cNvPr id="26" name="Rounded Rectangle 25"/>
          <p:cNvSpPr/>
          <p:nvPr/>
        </p:nvSpPr>
        <p:spPr>
          <a:xfrm>
            <a:off x="4251959"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51959" y="3749039"/>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39" y="3840479"/>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Spec vs 운전</a:t>
            </a:r>
          </a:p>
        </p:txBody>
      </p:sp>
      <p:sp>
        <p:nvSpPr>
          <p:cNvPr id="29" name="TextBox 28"/>
          <p:cNvSpPr txBox="1"/>
          <p:nvPr/>
        </p:nvSpPr>
        <p:spPr>
          <a:xfrm>
            <a:off x="4434839" y="4389119"/>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서열 스펙 vs 접힘 운전창
(ER pH·샤페론 점유)</a:t>
            </a:r>
          </a:p>
        </p:txBody>
      </p:sp>
      <p:sp>
        <p:nvSpPr>
          <p:cNvPr id="30" name="TextBox 29"/>
          <p:cNvSpPr txBox="1"/>
          <p:nvPr/>
        </p:nvSpPr>
        <p:spPr>
          <a:xfrm>
            <a:off x="4434839" y="5486399"/>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PC = 운전창을
밀어 주는 보조제</a:t>
            </a:r>
          </a:p>
        </p:txBody>
      </p:sp>
      <p:sp>
        <p:nvSpPr>
          <p:cNvPr id="31" name="Rounded Rectangle 30"/>
          <p:cNvSpPr/>
          <p:nvPr/>
        </p:nvSpPr>
        <p:spPr>
          <a:xfrm>
            <a:off x="8183879" y="3749039"/>
            <a:ext cx="3749039" cy="242316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83879" y="3749039"/>
            <a:ext cx="3749039"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66759" y="3840479"/>
            <a:ext cx="3383280" cy="320040"/>
          </a:xfrm>
          <a:prstGeom prst="rect">
            <a:avLst/>
          </a:prstGeom>
          <a:noFill/>
        </p:spPr>
        <p:txBody>
          <a:bodyPr wrap="square" anchor="t"/>
          <a:lstStyle/>
          <a:p>
            <a:pPr algn="l"/>
            <a:r>
              <a:rPr sz="1400" b="1">
                <a:solidFill>
                  <a:srgbClr val="FFFFFF"/>
                </a:solidFill>
                <a:latin typeface="Apple SD Gothic Neo"/>
                <a:ea typeface="Apple SD Gothic Neo"/>
                <a:cs typeface="Apple SD Gothic Neo"/>
              </a:rPr>
              <a:t>Scale-up 윤리</a:t>
            </a:r>
          </a:p>
        </p:txBody>
      </p:sp>
      <p:sp>
        <p:nvSpPr>
          <p:cNvPr id="34" name="TextBox 33"/>
          <p:cNvSpPr txBox="1"/>
          <p:nvPr/>
        </p:nvSpPr>
        <p:spPr>
          <a:xfrm>
            <a:off x="8366759" y="4389119"/>
            <a:ext cx="3383280" cy="1005840"/>
          </a:xfrm>
          <a:prstGeom prst="rect">
            <a:avLst/>
          </a:prstGeom>
          <a:noFill/>
        </p:spPr>
        <p:txBody>
          <a:bodyPr wrap="square" anchor="t"/>
          <a:lstStyle/>
          <a:p>
            <a:pPr algn="l"/>
            <a:r>
              <a:rPr sz="1300" b="0">
                <a:solidFill>
                  <a:srgbClr val="1A2A36"/>
                </a:solidFill>
                <a:latin typeface="Apple SD Gothic Neo"/>
                <a:ea typeface="Apple SD Gothic Neo"/>
                <a:cs typeface="Apple SD Gothic Neo"/>
              </a:rPr>
              <a:t>계산 → 파일럿 → 검증
게이트 없이 스케일업 금지</a:t>
            </a:r>
          </a:p>
        </p:txBody>
      </p:sp>
      <p:sp>
        <p:nvSpPr>
          <p:cNvPr id="35" name="TextBox 34"/>
          <p:cNvSpPr txBox="1"/>
          <p:nvPr/>
        </p:nvSpPr>
        <p:spPr>
          <a:xfrm>
            <a:off x="8366759" y="5486399"/>
            <a:ext cx="3383280" cy="502920"/>
          </a:xfrm>
          <a:prstGeom prst="rect">
            <a:avLst/>
          </a:prstGeom>
          <a:noFill/>
        </p:spPr>
        <p:txBody>
          <a:bodyPr wrap="square" anchor="t"/>
          <a:lstStyle/>
          <a:p>
            <a:pPr algn="l"/>
            <a:r>
              <a:rPr sz="1200" b="1">
                <a:solidFill>
                  <a:srgbClr val="0A6B62"/>
                </a:solidFill>
                <a:latin typeface="Apple SD Gothic Neo"/>
                <a:ea typeface="Apple SD Gothic Neo"/>
                <a:cs typeface="Apple SD Gothic Neo"/>
              </a:rPr>
              <a:t>RFdiffusion 대량 =
파일럿 없는 플랜트</a:t>
            </a:r>
          </a:p>
        </p:txBody>
      </p:sp>
      <p:sp>
        <p:nvSpPr>
          <p:cNvPr id="36" name="Rectangle 35"/>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08 Lens</a:t>
            </a:r>
          </a:p>
        </p:txBody>
      </p:sp>
      <p:sp>
        <p:nvSpPr>
          <p:cNvPr id="38" name="TextBox 37"/>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0972800" cy="365760"/>
          </a:xfrm>
          <a:prstGeom prst="rect">
            <a:avLst/>
          </a:prstGeom>
          <a:noFill/>
        </p:spPr>
        <p:txBody>
          <a:bodyPr wrap="square" anchor="t"/>
          <a:lstStyle/>
          <a:p>
            <a:pPr algn="l"/>
            <a:r>
              <a:rPr sz="2200" b="1">
                <a:solidFill>
                  <a:srgbClr val="FFFFFF"/>
                </a:solidFill>
                <a:latin typeface="Apple SD Gothic Neo"/>
                <a:ea typeface="Apple SD Gothic Neo"/>
                <a:cs typeface="Apple SD Gothic Neo"/>
              </a:rPr>
              <a:t>부록 · 파일 지도 (더 깊게 파고들 때)</a:t>
            </a:r>
          </a:p>
        </p:txBody>
      </p:sp>
      <p:sp>
        <p:nvSpPr>
          <p:cNvPr id="5" name="TextBox 4"/>
          <p:cNvSpPr txBox="1"/>
          <p:nvPr/>
        </p:nvSpPr>
        <p:spPr>
          <a:xfrm>
            <a:off x="365760" y="502920"/>
            <a:ext cx="10972800" cy="274320"/>
          </a:xfrm>
          <a:prstGeom prst="rect">
            <a:avLst/>
          </a:prstGeom>
          <a:noFill/>
        </p:spPr>
        <p:txBody>
          <a:bodyPr wrap="square" anchor="t"/>
          <a:lstStyle/>
          <a:p>
            <a:pPr algn="l"/>
            <a:r>
              <a:rPr sz="1200" b="0">
                <a:solidFill>
                  <a:srgbClr val="5EE0C5"/>
                </a:solidFill>
                <a:latin typeface="Apple SD Gothic Neo"/>
                <a:ea typeface="Apple SD Gothic Neo"/>
                <a:cs typeface="Apple SD Gothic Neo"/>
              </a:rPr>
              <a:t>새 도구를 쌓지 말고 한 파일만 더 연다</a:t>
            </a:r>
          </a:p>
        </p:txBody>
      </p:sp>
      <p:sp>
        <p:nvSpPr>
          <p:cNvPr id="6" name="Rounded Rectangle 5"/>
          <p:cNvSpPr/>
          <p:nvPr/>
        </p:nvSpPr>
        <p:spPr>
          <a:xfrm>
            <a:off x="320040" y="109728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나침반</a:t>
            </a:r>
          </a:p>
        </p:txBody>
      </p:sp>
      <p:sp>
        <p:nvSpPr>
          <p:cNvPr id="8" name="TextBox 7"/>
          <p:cNvSpPr txBox="1"/>
          <p:nvPr/>
        </p:nvSpPr>
        <p:spPr>
          <a:xfrm>
            <a:off x="2057400" y="128016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IDSX_한눈에_로직맵_다음스텝.md</a:t>
            </a:r>
          </a:p>
        </p:txBody>
      </p:sp>
      <p:sp>
        <p:nvSpPr>
          <p:cNvPr id="9" name="Rounded Rectangle 8"/>
          <p:cNvSpPr/>
          <p:nvPr/>
        </p:nvSpPr>
        <p:spPr>
          <a:xfrm>
            <a:off x="6263640" y="109728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28016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규칙·claim</a:t>
            </a:r>
          </a:p>
        </p:txBody>
      </p:sp>
      <p:sp>
        <p:nvSpPr>
          <p:cNvPr id="11" name="TextBox 10"/>
          <p:cNvSpPr txBox="1"/>
          <p:nvPr/>
        </p:nvSpPr>
        <p:spPr>
          <a:xfrm>
            <a:off x="8001000" y="128016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IDS_Chaperone_Amenability_Rules_Claim_Ambroxol_v1.md</a:t>
            </a:r>
          </a:p>
        </p:txBody>
      </p:sp>
      <p:sp>
        <p:nvSpPr>
          <p:cNvPr id="12" name="Rounded Rectangle 11"/>
          <p:cNvSpPr/>
          <p:nvPr/>
        </p:nvSpPr>
        <p:spPr>
          <a:xfrm>
            <a:off x="320040" y="192024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10312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사고 궤적</a:t>
            </a:r>
          </a:p>
        </p:txBody>
      </p:sp>
      <p:sp>
        <p:nvSpPr>
          <p:cNvPr id="14" name="TextBox 13"/>
          <p:cNvSpPr txBox="1"/>
          <p:nvPr/>
        </p:nvSpPr>
        <p:spPr>
          <a:xfrm>
            <a:off x="2057400" y="210312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Advisor_Briefing_Package/02_고민의_궤적_논리메모.md</a:t>
            </a:r>
          </a:p>
        </p:txBody>
      </p:sp>
      <p:sp>
        <p:nvSpPr>
          <p:cNvPr id="15" name="Rounded Rectangle 14"/>
          <p:cNvSpPr/>
          <p:nvPr/>
        </p:nvSpPr>
        <p:spPr>
          <a:xfrm>
            <a:off x="6263640" y="192024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10312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질문지</a:t>
            </a:r>
          </a:p>
        </p:txBody>
      </p:sp>
      <p:sp>
        <p:nvSpPr>
          <p:cNvPr id="17" name="TextBox 16"/>
          <p:cNvSpPr txBox="1"/>
          <p:nvPr/>
        </p:nvSpPr>
        <p:spPr>
          <a:xfrm>
            <a:off x="8001000" y="210312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Advisor_Briefing_Package/03_교수_학자_질문지.md</a:t>
            </a:r>
          </a:p>
        </p:txBody>
      </p:sp>
      <p:sp>
        <p:nvSpPr>
          <p:cNvPr id="18" name="Rounded Rectangle 17"/>
          <p:cNvSpPr/>
          <p:nvPr/>
        </p:nvSpPr>
        <p:spPr>
          <a:xfrm>
            <a:off x="320040" y="274320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92608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Ser152 전수</a:t>
            </a:r>
          </a:p>
        </p:txBody>
      </p:sp>
      <p:sp>
        <p:nvSpPr>
          <p:cNvPr id="20" name="TextBox 19"/>
          <p:cNvSpPr txBox="1"/>
          <p:nvPr/>
        </p:nvSpPr>
        <p:spPr>
          <a:xfrm>
            <a:off x="2057400" y="292608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Ser152Ile_Mechanism_Review/00_…전수검토.md</a:t>
            </a:r>
          </a:p>
        </p:txBody>
      </p:sp>
      <p:sp>
        <p:nvSpPr>
          <p:cNvPr id="21" name="Rounded Rectangle 20"/>
          <p:cNvSpPr/>
          <p:nvPr/>
        </p:nvSpPr>
        <p:spPr>
          <a:xfrm>
            <a:off x="6263640" y="274320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92608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AF 보고서</a:t>
            </a:r>
          </a:p>
        </p:txBody>
      </p:sp>
      <p:sp>
        <p:nvSpPr>
          <p:cNvPr id="23" name="TextBox 22"/>
          <p:cNvSpPr txBox="1"/>
          <p:nvPr/>
        </p:nvSpPr>
        <p:spPr>
          <a:xfrm>
            <a:off x="8001000" y="292608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AF2_runs/AF3_analysis/00_AF3_WT_vs_S152I_분석보고서.md</a:t>
            </a:r>
          </a:p>
        </p:txBody>
      </p:sp>
      <p:sp>
        <p:nvSpPr>
          <p:cNvPr id="24" name="Rounded Rectangle 23"/>
          <p:cNvSpPr/>
          <p:nvPr/>
        </p:nvSpPr>
        <p:spPr>
          <a:xfrm>
            <a:off x="320040" y="356616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74904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로드맵</a:t>
            </a:r>
          </a:p>
        </p:txBody>
      </p:sp>
      <p:sp>
        <p:nvSpPr>
          <p:cNvPr id="26" name="TextBox 25"/>
          <p:cNvSpPr txBox="1"/>
          <p:nvPr/>
        </p:nvSpPr>
        <p:spPr>
          <a:xfrm>
            <a:off x="2057400" y="374904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IDS_Chaperone_Binder_RD_Roadmap.md</a:t>
            </a:r>
          </a:p>
        </p:txBody>
      </p:sp>
      <p:sp>
        <p:nvSpPr>
          <p:cNvPr id="27" name="Rounded Rectangle 26"/>
          <p:cNvSpPr/>
          <p:nvPr/>
        </p:nvSpPr>
        <p:spPr>
          <a:xfrm>
            <a:off x="6263640" y="356616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374904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대화 정리</a:t>
            </a:r>
          </a:p>
        </p:txBody>
      </p:sp>
      <p:sp>
        <p:nvSpPr>
          <p:cNvPr id="29" name="TextBox 28"/>
          <p:cNvSpPr txBox="1"/>
          <p:nvPr/>
        </p:nvSpPr>
        <p:spPr>
          <a:xfrm>
            <a:off x="8001000" y="374904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IDSX_대화정리_안정성_ER_암브록솔_2026-07-11.md</a:t>
            </a:r>
          </a:p>
        </p:txBody>
      </p:sp>
      <p:sp>
        <p:nvSpPr>
          <p:cNvPr id="30" name="Rounded Rectangle 29"/>
          <p:cNvSpPr/>
          <p:nvPr/>
        </p:nvSpPr>
        <p:spPr>
          <a:xfrm>
            <a:off x="320040" y="438912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457200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AF 한계</a:t>
            </a:r>
          </a:p>
        </p:txBody>
      </p:sp>
      <p:sp>
        <p:nvSpPr>
          <p:cNvPr id="32" name="TextBox 31"/>
          <p:cNvSpPr txBox="1"/>
          <p:nvPr/>
        </p:nvSpPr>
        <p:spPr>
          <a:xfrm>
            <a:off x="2057400" y="457200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Advisor…/07_AlphaFold_한계점과_패러다임_전환.md</a:t>
            </a:r>
          </a:p>
        </p:txBody>
      </p:sp>
      <p:sp>
        <p:nvSpPr>
          <p:cNvPr id="33" name="Rounded Rectangle 32"/>
          <p:cNvSpPr/>
          <p:nvPr/>
        </p:nvSpPr>
        <p:spPr>
          <a:xfrm>
            <a:off x="6263640" y="438912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57200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공개 포털</a:t>
            </a:r>
          </a:p>
        </p:txBody>
      </p:sp>
      <p:sp>
        <p:nvSpPr>
          <p:cNvPr id="35" name="TextBox 34"/>
          <p:cNvSpPr txBox="1"/>
          <p:nvPr/>
        </p:nvSpPr>
        <p:spPr>
          <a:xfrm>
            <a:off x="8001000" y="457200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https://thilo-yoo.github.io/idsx-lab/</a:t>
            </a:r>
          </a:p>
        </p:txBody>
      </p:sp>
      <p:sp>
        <p:nvSpPr>
          <p:cNvPr id="36" name="Rounded Rectangle 35"/>
          <p:cNvSpPr/>
          <p:nvPr/>
        </p:nvSpPr>
        <p:spPr>
          <a:xfrm>
            <a:off x="320040" y="521208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539496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본 패키지</a:t>
            </a:r>
          </a:p>
        </p:txBody>
      </p:sp>
      <p:sp>
        <p:nvSpPr>
          <p:cNvPr id="38" name="TextBox 37"/>
          <p:cNvSpPr txBox="1"/>
          <p:nvPr/>
        </p:nvSpPr>
        <p:spPr>
          <a:xfrm>
            <a:off x="2057400" y="539496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Desktop/IDSX_Master_Package_2026/</a:t>
            </a:r>
          </a:p>
        </p:txBody>
      </p:sp>
      <p:sp>
        <p:nvSpPr>
          <p:cNvPr id="39" name="Rounded Rectangle 38"/>
          <p:cNvSpPr/>
          <p:nvPr/>
        </p:nvSpPr>
        <p:spPr>
          <a:xfrm>
            <a:off x="6263640" y="5212080"/>
            <a:ext cx="5760720" cy="731520"/>
          </a:xfrm>
          <a:prstGeom prst="roundRect">
            <a:avLst>
              <a:gd name="adj" fmla="val 6000"/>
            </a:avLst>
          </a:prstGeom>
          <a:solidFill>
            <a:srgbClr val="FFFFFF"/>
          </a:solidFill>
          <a:ln w="12700">
            <a:solidFill>
              <a:srgbClr val="D0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5394960"/>
            <a:ext cx="1463040" cy="365760"/>
          </a:xfrm>
          <a:prstGeom prst="rect">
            <a:avLst/>
          </a:prstGeom>
          <a:noFill/>
        </p:spPr>
        <p:txBody>
          <a:bodyPr wrap="square" anchor="t"/>
          <a:lstStyle/>
          <a:p>
            <a:pPr algn="l"/>
            <a:r>
              <a:rPr sz="1300" b="1">
                <a:solidFill>
                  <a:srgbClr val="0D9488"/>
                </a:solidFill>
                <a:latin typeface="Apple SD Gothic Neo"/>
                <a:ea typeface="Apple SD Gothic Neo"/>
                <a:cs typeface="Apple SD Gothic Neo"/>
              </a:rPr>
              <a:t>원천 폴더</a:t>
            </a:r>
          </a:p>
        </p:txBody>
      </p:sp>
      <p:sp>
        <p:nvSpPr>
          <p:cNvPr id="41" name="TextBox 40"/>
          <p:cNvSpPr txBox="1"/>
          <p:nvPr/>
        </p:nvSpPr>
        <p:spPr>
          <a:xfrm>
            <a:off x="8001000" y="5394960"/>
            <a:ext cx="3840480" cy="365760"/>
          </a:xfrm>
          <a:prstGeom prst="rect">
            <a:avLst/>
          </a:prstGeom>
          <a:noFill/>
        </p:spPr>
        <p:txBody>
          <a:bodyPr wrap="square" anchor="t"/>
          <a:lstStyle/>
          <a:p>
            <a:pPr algn="l"/>
            <a:r>
              <a:rPr sz="1200" b="0">
                <a:solidFill>
                  <a:srgbClr val="1A2A36"/>
                </a:solidFill>
                <a:latin typeface="Apple SD Gothic Neo"/>
                <a:ea typeface="Apple SD Gothic Neo"/>
                <a:cs typeface="Apple SD Gothic Neo"/>
              </a:rPr>
              <a:t>Desktop/IDSX/</a:t>
            </a:r>
          </a:p>
        </p:txBody>
      </p:sp>
      <p:sp>
        <p:nvSpPr>
          <p:cNvPr id="42" name="Rectangle 41"/>
          <p:cNvSpPr/>
          <p:nvPr/>
        </p:nvSpPr>
        <p:spPr>
          <a:xfrm>
            <a:off x="0" y="6601968"/>
            <a:ext cx="12191695" cy="256032"/>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620256"/>
            <a:ext cx="9144000" cy="219456"/>
          </a:xfrm>
          <a:prstGeom prst="rect">
            <a:avLst/>
          </a:prstGeom>
          <a:noFill/>
        </p:spPr>
        <p:txBody>
          <a:bodyPr wrap="square" anchor="t"/>
          <a:lstStyle/>
          <a:p>
            <a:pPr algn="l"/>
            <a:r>
              <a:rPr sz="900" b="0">
                <a:solidFill>
                  <a:srgbClr val="5EE0C5"/>
                </a:solidFill>
                <a:latin typeface="Apple SD Gothic Neo"/>
                <a:ea typeface="Apple SD Gothic Neo"/>
                <a:cs typeface="Apple SD Gothic Neo"/>
              </a:rPr>
              <a:t>IDSX · Structure-guided triage for IDS (P22304 / 5FQL)  ·  Appendix</a:t>
            </a:r>
          </a:p>
        </p:txBody>
      </p:sp>
      <p:sp>
        <p:nvSpPr>
          <p:cNvPr id="44" name="TextBox 43"/>
          <p:cNvSpPr txBox="1"/>
          <p:nvPr/>
        </p:nvSpPr>
        <p:spPr>
          <a:xfrm>
            <a:off x="10515600" y="6620256"/>
            <a:ext cx="1371600" cy="219456"/>
          </a:xfrm>
          <a:prstGeom prst="rect">
            <a:avLst/>
          </a:prstGeom>
          <a:noFill/>
        </p:spPr>
        <p:txBody>
          <a:bodyPr wrap="square" anchor="t"/>
          <a:lstStyle/>
          <a:p>
            <a:pPr algn="r"/>
            <a:r>
              <a:rPr sz="900" b="0">
                <a:solidFill>
                  <a:srgbClr val="FFFFFF"/>
                </a:solidFill>
                <a:latin typeface="Apple SD Gothic Neo"/>
                <a:ea typeface="Apple SD Gothic Neo"/>
                <a:cs typeface="Apple SD Gothic Neo"/>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457200"/>
          </a:xfrm>
          <a:prstGeom prst="rect">
            <a:avLst/>
          </a:prstGeom>
          <a:noFill/>
        </p:spPr>
        <p:txBody>
          <a:bodyPr wrap="square" anchor="t"/>
          <a:lstStyle/>
          <a:p>
            <a:pPr algn="l"/>
            <a:r>
              <a:rPr sz="1600" b="1">
                <a:solidFill>
                  <a:srgbClr val="5EE0C5"/>
                </a:solidFill>
                <a:latin typeface="Apple SD Gothic Neo"/>
                <a:ea typeface="Apple SD Gothic Neo"/>
                <a:cs typeface="Apple SD Gothic Neo"/>
              </a:rPr>
              <a:t>닫는 한 줄</a:t>
            </a:r>
          </a:p>
        </p:txBody>
      </p:sp>
      <p:sp>
        <p:nvSpPr>
          <p:cNvPr id="4" name="TextBox 3"/>
          <p:cNvSpPr txBox="1"/>
          <p:nvPr/>
        </p:nvSpPr>
        <p:spPr>
          <a:xfrm>
            <a:off x="548640" y="2468880"/>
            <a:ext cx="10972800" cy="1371600"/>
          </a:xfrm>
          <a:prstGeom prst="rect">
            <a:avLst/>
          </a:prstGeom>
          <a:noFill/>
        </p:spPr>
        <p:txBody>
          <a:bodyPr wrap="square" anchor="t"/>
          <a:lstStyle/>
          <a:p>
            <a:pPr algn="l"/>
            <a:r>
              <a:rPr sz="2400" b="1">
                <a:solidFill>
                  <a:srgbClr val="FFFFFF"/>
                </a:solidFill>
                <a:latin typeface="Apple SD Gothic Neo"/>
                <a:ea typeface="Apple SD Gothic Neo"/>
                <a:cs typeface="Apple SD Gothic Neo"/>
              </a:rPr>
              <a:t>치료 성공을 주장하기 전에,
‘누구에게 어떤 논리로 시도할 가치가 있는가’를
구조적으로 가르는 지도를 먼저 고정한다.</a:t>
            </a:r>
          </a:p>
        </p:txBody>
      </p:sp>
      <p:sp>
        <p:nvSpPr>
          <p:cNvPr id="5" name="TextBox 4"/>
          <p:cNvSpPr txBox="1"/>
          <p:nvPr/>
        </p:nvSpPr>
        <p:spPr>
          <a:xfrm>
            <a:off x="548640" y="4389120"/>
            <a:ext cx="10972800" cy="1097280"/>
          </a:xfrm>
          <a:prstGeom prst="rect">
            <a:avLst/>
          </a:prstGeom>
          <a:noFill/>
        </p:spPr>
        <p:txBody>
          <a:bodyPr wrap="square" anchor="t"/>
          <a:lstStyle/>
          <a:p>
            <a:pPr algn="l"/>
            <a:r>
              <a:rPr sz="1400" b="0">
                <a:solidFill>
                  <a:srgbClr val="D4F0EB"/>
                </a:solidFill>
                <a:latin typeface="Apple SD Gothic Neo"/>
                <a:ea typeface="Apple SD Gothic Neo"/>
                <a:cs typeface="Apple SD Gothic Neo"/>
              </a:rPr>
              <a:t>IDSX = Structure-guided decision layer for IDS missense disease
P22304 · 5FQL · competence over binding · network over residue worship
기록 · 자문 · 협업을 위한 마스터 덱 v2.0 · 2026-07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