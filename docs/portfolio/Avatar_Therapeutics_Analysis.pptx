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기업 심층 분석: (주)아바타테라퓨틱스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AAVATAR Therapeutics 상세 파이프라인 및 학술 동향</a:t>
            </a:r>
          </a:p>
          <a:p/>
          <a:p>
            <a:r>
              <a:t>AI 첨단의약품 제조 트랙 사전 분석 자료 (심화)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기업 개요 및 리더십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/>
            </a:pPr>
            <a:r>
              <a:t>설립: 2020년 9월 (AI 기반 차세대 유전자 치료제 스타트업)</a:t>
            </a:r>
          </a:p>
          <a:p>
            <a:pPr>
              <a:defRPr sz="2000" b="1"/>
            </a:pPr>
            <a:r>
              <a:t>대표이사: 조승우</a:t>
            </a:r>
          </a:p>
          <a:p>
            <a:pPr lvl="1">
              <a:defRPr sz="1600"/>
            </a:pPr>
            <a:r>
              <a:t>전문 분야: 성균관대 의과대학 전공, 워싱턴대/미네소타대 거대분자 구조 역학 및 바이오 소재 공정 연구</a:t>
            </a:r>
          </a:p>
          <a:p>
            <a:pPr>
              <a:defRPr sz="2000" b="1"/>
            </a:pPr>
            <a:r>
              <a:t>학문적 교집합:</a:t>
            </a:r>
          </a:p>
          <a:p>
            <a:pPr lvl="1">
              <a:defRPr sz="1600"/>
            </a:pPr>
            <a:r>
              <a:t>대표이사가 구조 역학(Structural Dynamics) 전문가라는 점은, 당사의 IDSX 프로젝트(MD 시뮬레이션 기반 타겟 붕괴 분석)와 기술적 철학이 완벽히 일치함을 시사함.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핵심 기술: AI 기반 AAV 플랫폼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 b="1"/>
            </a:pPr>
            <a:r>
              <a:t>머신러닝(ML) 기반 AAV 캡시드 엔지니어링</a:t>
            </a:r>
          </a:p>
          <a:p>
            <a:pPr lvl="1">
              <a:defRPr sz="1800"/>
            </a:pPr>
            <a:r>
              <a:t>기존 야생형 AAV의 면역원성 한계를 극복하기 위해, 인공지능으로 수십만 개의 캡시드 후보군을 스크리닝하여 특정 조직에 표적 전달되는 재조합 AAV 설계</a:t>
            </a:r>
          </a:p>
          <a:p>
            <a:pPr>
              <a:defRPr sz="2200" b="1"/>
            </a:pPr>
            <a:r>
              <a:t>CMC (Chemistry, Manufacturing, and Controls) 내재화</a:t>
            </a:r>
          </a:p>
          <a:p>
            <a:pPr lvl="1">
              <a:defRPr sz="1800"/>
            </a:pPr>
            <a:r>
              <a:t>AAV 유전자 치료제의 핵심 병목인 고수율/고품질 대량 생산 공정 기술 특허 보유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핵심 타겟 질환 및 세부 연구 과제 (중요)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 b="1"/>
            </a:pPr>
            <a:r>
              <a:t>메인 타겟: 리소좀 축적 질환 (LSD, Lysosomal Storage Diseases)</a:t>
            </a:r>
          </a:p>
          <a:p>
            <a:pPr lvl="1">
              <a:defRPr sz="1800" b="1"/>
            </a:pPr>
            <a:r>
              <a:t>세부 파이프라인: 크라베병 (Krabbe Disease) 치료 후보물질 도출</a:t>
            </a:r>
          </a:p>
          <a:p>
            <a:pPr lvl="2">
              <a:defRPr sz="1600"/>
            </a:pPr>
            <a:r>
              <a:t>중소벤처기업부 지원 R&amp;D: 기계학습 기반의 합성 AAV 운반체 개발과 유전자 증폭 전략을 활용</a:t>
            </a:r>
          </a:p>
          <a:p>
            <a:pPr lvl="1">
              <a:defRPr sz="1800" b="1"/>
            </a:pPr>
            <a:r>
              <a:t>IDSX 프로젝트 연계성:</a:t>
            </a:r>
          </a:p>
          <a:p>
            <a:pPr lvl="2">
              <a:defRPr sz="1600" b="1"/>
            </a:pPr>
            <a:r>
              <a:t>크라베병과 헌터 증후군 모두 중추신경계 퇴행을 동반하는 치명적인 LSD 질환임. 즉, 회사의 메인 R&amp;D 타겟과 사용자님의 설계 타겟이 본질적으로 동일함.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학술/컨퍼런스 발표 및 특허/논문 실적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 b="1"/>
            </a:pPr>
            <a:r>
              <a:t>주요 학술 및 컨퍼런스 활동</a:t>
            </a:r>
          </a:p>
          <a:p>
            <a:pPr lvl="1">
              <a:defRPr sz="1800"/>
            </a:pPr>
            <a:r>
              <a:t>바이오플러스 인터펙스 코리아 2025 (COEX): 맞춤형 유전자 치료제 플랫폼 기술 및 AAV 캡시드 엔지니어링 공식 소개</a:t>
            </a:r>
          </a:p>
          <a:p>
            <a:pPr>
              <a:defRPr sz="2200" b="1"/>
            </a:pPr>
            <a:r>
              <a:t>연구 및 특허 실적</a:t>
            </a:r>
          </a:p>
          <a:p>
            <a:pPr lvl="1">
              <a:defRPr sz="1800"/>
            </a:pPr>
            <a:r>
              <a:t>논문 2편 출판 완료 (스타트업 특성상 논문보다 특허와 기술이전에 집중)</a:t>
            </a:r>
          </a:p>
          <a:p>
            <a:pPr lvl="1">
              <a:defRPr sz="1800"/>
            </a:pPr>
            <a:r>
              <a:t>AAV 캡시드 및 고수율 생산 방법 관련 다수 특허 등록 완료</a:t>
            </a:r>
          </a:p>
          <a:p>
            <a:pPr>
              <a:defRPr sz="2200" b="1"/>
            </a:pPr>
            <a:r>
              <a:t>글로벌 빅파마 오픈이노베이션</a:t>
            </a:r>
          </a:p>
          <a:p>
            <a:pPr lvl="1">
              <a:defRPr sz="1800"/>
            </a:pPr>
            <a:r>
              <a:t>아스트라제네카(AstraZeneca), 아스텔라스(Astellas) 파트너링 미팅 등 실용적 비즈니스 중심 활동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인턴십/채용 동향 및 전략적 진입로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 b="1"/>
            </a:pPr>
            <a:r>
              <a:t>채용 시장(사람인/잡코리아) 동향</a:t>
            </a:r>
          </a:p>
          <a:p>
            <a:pPr lvl="1">
              <a:defRPr sz="1800"/>
            </a:pPr>
            <a:r>
              <a:t>현재 공개된 대규모 학부생 인턴십 공고는 없음 (스타트업 특성상 즉시 전력감인 석/박사급 R&amp;D 경력직 수시 채용 위주)</a:t>
            </a:r>
          </a:p>
          <a:p>
            <a:pPr>
              <a:defRPr sz="2200" b="1"/>
            </a:pPr>
            <a:r>
              <a:t>전략적 돌파구 (왜 이 트랙이 중요한가?)</a:t>
            </a:r>
          </a:p>
          <a:p>
            <a:pPr lvl="1">
              <a:defRPr sz="1800" b="1"/>
            </a:pPr>
            <a:r>
              <a:t>공개 채용의 문이 좁은 바이오 벤처의 특성상, 이번 집중학기제에서 멘토링을 담당하는 실무진에게 직접 능력을 증명하는 것이 인턴십으로 향하는 가장 확실하고 유일한 진입로임.</a:t>
            </a:r>
          </a:p>
          <a:p>
            <a:pPr lvl="1">
              <a:defRPr sz="1800" b="1"/>
            </a:pPr>
            <a:r>
              <a:t>"기계학습으로 크라베병(LSD) AAV를 설계하시듯, 저도 Vina로 헌터 증후군(LSD) 샤페론을 설계했습니다"라는 어필이 핵심 킥이 될 것.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