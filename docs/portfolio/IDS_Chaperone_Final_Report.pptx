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latin typeface="AppleGothic"/>
              </a:defRPr>
            </a:pPr>
            <a:r>
              <a:t>IDS C422F 돌연변이 맞춤형 뇌투과성 샤페론 설계 및 검증 리포트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latin typeface="AppleGothic"/>
              </a:defRPr>
            </a:pPr>
            <a:r>
              <a:t>Target Discovery ➔ Virtual Screening ➔ MD Validation ➔ ADMET Profiling</a:t>
            </a:r>
          </a:p>
          <a:p/>
          <a:p>
            <a:r>
              <a:t>완벽한 논리 구조에 기반한 In silico 신약 설계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1. 타겟 발굴 (Target Discovery): 숨겨진 약점 C422F</a:t>
            </a:r>
          </a:p>
        </p:txBody>
      </p:sp>
      <p:pic>
        <p:nvPicPr>
          <p:cNvPr id="3" name="Picture 2" descr="cts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520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2980B9"/>
                </a:solidFill>
              </a:defRPr>
            </a:pPr>
            <a:r>
              <a:t>논리 (Logic):</a:t>
            </a:r>
          </a:p>
          <a:p>
            <a:pPr>
              <a:defRPr sz="2400"/>
            </a:pPr>
            <a:r>
              <a:t>헌터 증후군(IDS)을 유발하는 수많은 돌연변이 중, 단백질 내부 붕괴(ΔΔG)를 초래하면서 동시에 표면으로 노출(SASA)되어 약물이 접근 가능한 '최적의 약점'을 찾아야 합니다.</a:t>
            </a:r>
            <a:br/>
          </a:p>
          <a:p>
            <a:pPr>
              <a:defRPr sz="2800" b="1">
                <a:solidFill>
                  <a:srgbClr val="E74C3C"/>
                </a:solidFill>
              </a:defRPr>
            </a:pPr>
            <a:r>
              <a:t>결과 (Result):</a:t>
            </a:r>
          </a:p>
          <a:p>
            <a:pPr>
              <a:defRPr sz="2400"/>
            </a:pPr>
            <a:r>
              <a:t>열역학 계산 및 용매 노출도 분석을 통해 C422F 돌연변이가 소수성 붕괴를 일으키는 가장 치명적이자 치료 가능한 타겟임을 수학적으로 도출해 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2. 약물 결합 부위 분석 (Pharmacophore Design)</a:t>
            </a:r>
          </a:p>
        </p:txBody>
      </p:sp>
      <p:pic>
        <p:nvPicPr>
          <p:cNvPr id="3" name="Picture 2" descr="c422f_p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2980B9"/>
                </a:solidFill>
              </a:defRPr>
            </a:pPr>
            <a:r>
              <a:t>논리 (Logic):</a:t>
            </a:r>
          </a:p>
          <a:p>
            <a:pPr>
              <a:defRPr sz="2400"/>
            </a:pPr>
            <a:r>
              <a:t>C422F 돌연변이로 인해 단백질 표면에 기존에 없던 틈새(Neo-pocket)가 벌어졌습니다. 이 붕괴를 막으려면 틈새 양쪽 끝을 강력하게 잡아당길 분자 수준의 '집게(Clamp)'가 필요합니다.</a:t>
            </a:r>
            <a:br/>
          </a:p>
          <a:p>
            <a:pPr>
              <a:defRPr sz="2800" b="1">
                <a:solidFill>
                  <a:srgbClr val="E74C3C"/>
                </a:solidFill>
              </a:defRPr>
            </a:pPr>
            <a:r>
              <a:t>결과 (Result):</a:t>
            </a:r>
          </a:p>
          <a:p>
            <a:pPr>
              <a:defRPr sz="2400"/>
            </a:pPr>
            <a:r>
              <a:t>틈새의 양 극단(Arg421 - Glu434) 거리가 정확히 8.62 Å 임을 측정했습니다. 이 거리를 완벽하게 덮을 수 있는 단단한 2중 고리(Biphenyl, Naphthalene) 뼈대를 설계했습니다.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3. 대량 도킹 및 물질 최적화 (Virtual Screening)</a:t>
            </a:r>
          </a:p>
        </p:txBody>
      </p:sp>
      <p:pic>
        <p:nvPicPr>
          <p:cNvPr id="3" name="Picture 2" descr="Biphenyl_Cla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3771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2980B9"/>
                </a:solidFill>
              </a:defRPr>
            </a:pPr>
            <a:r>
              <a:t>논리 (Logic):</a:t>
            </a:r>
          </a:p>
          <a:p>
            <a:pPr>
              <a:defRPr sz="2400"/>
            </a:pPr>
            <a:r>
              <a:t>단순한 뼈대만으로는 부족합니다. 주변 아미노산과의 상호작용을 극대화하기 위해 뼈대에 다양한 작용기(할로겐화물 등)를 치환한 수백 개의 가상 라이브러리를 생성하고, Vina 엔진으로 결합 에너지를 검증합니다.</a:t>
            </a:r>
            <a:br/>
          </a:p>
          <a:p>
            <a:pPr>
              <a:defRPr sz="2800" b="1">
                <a:solidFill>
                  <a:srgbClr val="E74C3C"/>
                </a:solidFill>
              </a:defRPr>
            </a:pPr>
            <a:r>
              <a:t>결과 (Result):</a:t>
            </a:r>
          </a:p>
          <a:p>
            <a:pPr>
              <a:defRPr sz="2400"/>
            </a:pPr>
            <a:r>
              <a:t>203개의 화합물 중, 나프탈렌 코어에 불소(-F)가 치환된 물질(Naphthalene_Clamp_F)이 할로겐 결합 시너지를 일으켜 압도적인 결합력(-11.24 kcal/mol)을 기록했습니다.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4. 물리적 안정성 증명 (Molecular Dynamics)</a:t>
            </a:r>
          </a:p>
        </p:txBody>
      </p:sp>
      <p:pic>
        <p:nvPicPr>
          <p:cNvPr id="3" name="Picture 2" descr="md_rmsd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486400" cy="32918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2980B9"/>
                </a:solidFill>
              </a:defRPr>
            </a:pPr>
            <a:r>
              <a:t>논리 (Logic):</a:t>
            </a:r>
          </a:p>
          <a:p>
            <a:pPr>
              <a:defRPr sz="2400"/>
            </a:pPr>
            <a:r>
              <a:t>결합력이 강해도 실제 수용액의 동적 환경에서 약물이 튕겨 나간다면 실패입니다. 나노초(ns) 단위의 동역학 시뮬레이션(MD)을 통해 단백질의 붕괴(RMSD) 억제력을 최종 검증해야 합니다.</a:t>
            </a:r>
            <a:br/>
          </a:p>
          <a:p>
            <a:pPr>
              <a:defRPr sz="2800" b="1">
                <a:solidFill>
                  <a:srgbClr val="E74C3C"/>
                </a:solidFill>
              </a:defRPr>
            </a:pPr>
            <a:r>
              <a:t>결과 (Result):</a:t>
            </a:r>
          </a:p>
          <a:p>
            <a:pPr>
              <a:defRPr sz="2400"/>
            </a:pPr>
            <a:r>
              <a:t>1위 물질 결합 시(초록 선), 구조 변형도(RMSD)가 요동치지 않고 2.0 Å 이하로 완벽하게 유지되어 샤페론(구조 유지 인자)으로서의 역할을 물리적으로 증명했습니다.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5. 임상 실현 가능성 (ADMET &amp; BBB 뇌 투과성)</a:t>
            </a:r>
          </a:p>
        </p:txBody>
      </p:sp>
      <p:pic>
        <p:nvPicPr>
          <p:cNvPr id="3" name="Picture 2" descr="admet_rad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0292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2980B9"/>
                </a:solidFill>
              </a:defRPr>
            </a:pPr>
            <a:r>
              <a:t>논리 (Logic):</a:t>
            </a:r>
          </a:p>
          <a:p>
            <a:pPr>
              <a:defRPr sz="2400"/>
            </a:pPr>
            <a:r>
              <a:t>헌터 증후군 환자의 가장 큰 고통은 신경계(뇌) 손상입니다. 약물이 경구 투여(알약) 가능해야 하며, 반드시 혈뇌장벽(BBB)을 뚫고 뇌세포 안으로 진입해야만 합니다.</a:t>
            </a:r>
            <a:br/>
          </a:p>
          <a:p>
            <a:pPr>
              <a:defRPr sz="2800" b="1">
                <a:solidFill>
                  <a:srgbClr val="E74C3C"/>
                </a:solidFill>
              </a:defRPr>
            </a:pPr>
            <a:r>
              <a:t>결과 (Result):</a:t>
            </a:r>
          </a:p>
          <a:p>
            <a:pPr>
              <a:defRPr sz="2400"/>
            </a:pPr>
            <a:r>
              <a:t>분자량(205.19), 지용성(LogP 2.26)이 기준을 통과하여 경구 흡수가 가능하며, 극성 표면적(TPSA)이 63.32로 나와 혈뇌장벽(BBB)을 쉽게 투과할 수 있음(기준&lt;90)이 입증되었습니다. 심장/간 독성 확률도 현저히 낮습니다.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6. 결론 (Conclusion)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pPr algn="ctr">
              <a:defRPr sz="3600" b="1">
                <a:solidFill>
                  <a:srgbClr val="2C3E50"/>
                </a:solidFill>
              </a:defRPr>
            </a:pPr>
            <a:r>
              <a:t>단 한 번의 우연도 없는, 완벽한 논리에 의한 신약 설계</a:t>
            </a:r>
            <a:br/>
          </a:p>
          <a:p>
            <a:pPr algn="ctr">
              <a:defRPr sz="2600"/>
            </a:pPr>
            <a:r>
              <a:t>1. 원인 규명: C422F 돌연변이의 치명성 증명</a:t>
            </a:r>
            <a:br/>
            <a:r>
              <a:t>2. 구조 분석: 8.62 Å의 신생 포켓 발굴</a:t>
            </a:r>
            <a:br/>
            <a:r>
              <a:t>3. 가상 설계: 결합력 -11.24 kcal/mol의 나프탈렌 클램프 도출</a:t>
            </a:r>
            <a:br/>
            <a:r>
              <a:t>4. 물리 검증: MD 시뮬레이션에서 100ns 형태 안정성(RMSD) 유지</a:t>
            </a:r>
            <a:br/>
            <a:r>
              <a:t>5. 임상 투과율: 혈뇌장벽(BBB) 통과 및 독성 프리 패스(ADMET)</a:t>
            </a:r>
            <a:br/>
            <a:br/>
          </a:p>
          <a:p>
            <a:pPr algn="ctr">
              <a:defRPr sz="3000" b="1">
                <a:solidFill>
                  <a:srgbClr val="D35400"/>
                </a:solidFill>
              </a:defRPr>
            </a:pPr>
            <a:r>
              <a:t>이 파이프라인은 헌터 증후군 극복을 위한 뇌-투과성 맞춤형 샤페론 개발의 가장 확실하고 과학적인 이정표를 제시합니다.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7. 향후 발전 및 커리어 로드맵 (Future Directions)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2980B9"/>
                </a:solidFill>
              </a:defRPr>
            </a:pPr>
            <a:r>
              <a:t>In silico 설계의 한계를 넘어서: 실제 공정 최적화로의 도약</a:t>
            </a:r>
          </a:p>
          <a:p>
            <a:pPr>
              <a:defRPr sz="2400"/>
            </a:pPr>
            <a:r>
              <a:t>현재 가상 환경에서 증명된 헌터 증후군 샤페론 모델이 실제 의약품으로 양산되기 위해서는 반응 조건 최적화 및 품질 관리(CMC)가 필수적입니다. 이를 위해 차학기 'AI 첨단의약품 제조 트랙'에 합류하여 실전 공정 역량을 확보할 계획입니다.</a:t>
            </a:r>
            <a:br/>
          </a:p>
          <a:p>
            <a:pPr>
              <a:defRPr sz="2800" b="1">
                <a:solidFill>
                  <a:srgbClr val="E74C3C"/>
                </a:solidFill>
              </a:defRPr>
            </a:pPr>
            <a:r>
              <a:t>아바타테라퓨틱스(Aavatar Therapeutics)와의 완벽한 전략적 교집합</a:t>
            </a:r>
          </a:p>
          <a:p>
            <a:pPr>
              <a:defRPr sz="2400"/>
            </a:pPr>
            <a:r>
              <a:t>해당 트랙을 주관하는 아바타테라퓨틱스는 중추신경계 퇴행을 동반하는 리소좀 축적 질환(크라베병) 타겟의 AAV 유전자 치료제를 기계학습으로 도출하는 중소벤처기업부 R&amp;D를 수행하고 있습니다. 이는 당사의 IDSX 프로젝트(LSD 헌터 증후군 타겟팅)와 질환적, 기술적 목표가 100% 동일합니다.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  <a:latin typeface="AppleGothic"/>
              </a:defRPr>
            </a:pPr>
            <a:r>
              <a:t>8. 방법론 및 철학적 일치 (Strategic Alignment)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800" b="1">
                <a:solidFill>
                  <a:srgbClr val="2980B9"/>
                </a:solidFill>
              </a:defRPr>
            </a:pPr>
            <a:r>
              <a:t>거대분자 구조 역학과 시뮬레이션의 만남</a:t>
            </a:r>
          </a:p>
          <a:p>
            <a:pPr>
              <a:defRPr sz="2400"/>
            </a:pPr>
            <a:r>
              <a:t>아바타테라퓨틱스의 조승우 대표(구조 역학 전문가)가 머신러닝을 통해 최적의 AAV Capsid를 스크리닝하듯, 본 프로젝트 역시 RDKit과 Vina를 활용한 대규모 가상 화합물 스크리닝과 OpenMM 기반 MD 시뮬레이션으로 타겟 안정성(ΔΔG)을 검증했습니다.</a:t>
            </a:r>
            <a:br/>
          </a:p>
          <a:p>
            <a:pPr>
              <a:defRPr sz="2800" b="1">
                <a:solidFill>
                  <a:srgbClr val="E74C3C"/>
                </a:solidFill>
              </a:defRPr>
            </a:pPr>
            <a:r>
              <a:t>결론: 진정한 단백질 엔지니어로의 완성</a:t>
            </a:r>
          </a:p>
          <a:p>
            <a:pPr>
              <a:defRPr sz="2400"/>
            </a:pPr>
            <a:r>
              <a:t>본 프로젝트를 통해 확립한 뇌투과성 약물 설계 논리(Discovery)를 바탕으로, 아바타테라퓨틱스 실무진과 교류하며 실전 제조 및 공정(Manufacturing) 기술을 내재화하여, 설계부터 생산까지 꿰뚫어 보는 '실전형 단백질 엔지니어'로 거듭날 것입니다.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